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7"/>
  </p:notesMasterIdLst>
  <p:sldIdLst>
    <p:sldId id="2443" r:id="rId2"/>
    <p:sldId id="2477" r:id="rId3"/>
    <p:sldId id="2454" r:id="rId4"/>
    <p:sldId id="2455" r:id="rId5"/>
    <p:sldId id="2453" r:id="rId6"/>
    <p:sldId id="2447" r:id="rId7"/>
    <p:sldId id="2474" r:id="rId8"/>
    <p:sldId id="2464" r:id="rId9"/>
    <p:sldId id="2463" r:id="rId10"/>
    <p:sldId id="2466" r:id="rId11"/>
    <p:sldId id="2448" r:id="rId12"/>
    <p:sldId id="2462" r:id="rId13"/>
    <p:sldId id="2449" r:id="rId14"/>
    <p:sldId id="2450" r:id="rId15"/>
    <p:sldId id="2465" r:id="rId16"/>
    <p:sldId id="2457" r:id="rId17"/>
    <p:sldId id="2458" r:id="rId18"/>
    <p:sldId id="2496" r:id="rId19"/>
    <p:sldId id="2459" r:id="rId20"/>
    <p:sldId id="2467" r:id="rId21"/>
    <p:sldId id="2475" r:id="rId22"/>
    <p:sldId id="2468" r:id="rId23"/>
    <p:sldId id="2470" r:id="rId24"/>
    <p:sldId id="2473" r:id="rId25"/>
    <p:sldId id="2471" r:id="rId26"/>
    <p:sldId id="2472" r:id="rId27"/>
    <p:sldId id="2497" r:id="rId28"/>
    <p:sldId id="2478" r:id="rId29"/>
    <p:sldId id="2484" r:id="rId30"/>
    <p:sldId id="2482" r:id="rId31"/>
    <p:sldId id="2483" r:id="rId32"/>
    <p:sldId id="2488" r:id="rId33"/>
    <p:sldId id="2485" r:id="rId34"/>
    <p:sldId id="2486" r:id="rId35"/>
    <p:sldId id="2487" r:id="rId36"/>
    <p:sldId id="2489" r:id="rId37"/>
    <p:sldId id="2490" r:id="rId38"/>
    <p:sldId id="2491" r:id="rId39"/>
    <p:sldId id="2492" r:id="rId40"/>
    <p:sldId id="2494" r:id="rId41"/>
    <p:sldId id="2476" r:id="rId42"/>
    <p:sldId id="2479" r:id="rId43"/>
    <p:sldId id="2480" r:id="rId44"/>
    <p:sldId id="2481" r:id="rId45"/>
    <p:sldId id="2495" r:id="rId46"/>
  </p:sldIdLst>
  <p:sldSz cx="12192000" cy="6858000"/>
  <p:notesSz cx="6886575" cy="100187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DDA145-54BC-40F3-89B4-BD7E9BB54EBE}">
          <p14:sldIdLst>
            <p14:sldId id="2443"/>
            <p14:sldId id="2477"/>
            <p14:sldId id="2454"/>
            <p14:sldId id="2455"/>
            <p14:sldId id="2453"/>
            <p14:sldId id="2447"/>
            <p14:sldId id="2474"/>
            <p14:sldId id="2464"/>
            <p14:sldId id="2463"/>
            <p14:sldId id="2466"/>
            <p14:sldId id="2448"/>
            <p14:sldId id="2462"/>
            <p14:sldId id="2449"/>
            <p14:sldId id="2450"/>
            <p14:sldId id="2465"/>
            <p14:sldId id="2457"/>
            <p14:sldId id="2458"/>
            <p14:sldId id="2496"/>
            <p14:sldId id="2459"/>
            <p14:sldId id="2467"/>
            <p14:sldId id="2475"/>
            <p14:sldId id="2468"/>
            <p14:sldId id="2470"/>
            <p14:sldId id="2473"/>
            <p14:sldId id="2471"/>
            <p14:sldId id="2472"/>
            <p14:sldId id="2497"/>
            <p14:sldId id="2478"/>
            <p14:sldId id="2484"/>
            <p14:sldId id="2482"/>
            <p14:sldId id="2483"/>
            <p14:sldId id="2488"/>
            <p14:sldId id="2485"/>
            <p14:sldId id="2486"/>
            <p14:sldId id="2487"/>
            <p14:sldId id="2489"/>
            <p14:sldId id="2490"/>
            <p14:sldId id="2491"/>
            <p14:sldId id="2492"/>
            <p14:sldId id="2494"/>
            <p14:sldId id="2476"/>
            <p14:sldId id="2479"/>
            <p14:sldId id="2480"/>
            <p14:sldId id="2481"/>
            <p14:sldId id="24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F9F8D5"/>
    <a:srgbClr val="00602B"/>
    <a:srgbClr val="E6E6E6"/>
    <a:srgbClr val="AEFCC2"/>
    <a:srgbClr val="AD4035"/>
    <a:srgbClr val="FBBBF9"/>
    <a:srgbClr val="0070C0"/>
    <a:srgbClr val="E8E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9" autoAdjust="0"/>
    <p:restoredTop sz="75801" autoAdjust="0"/>
  </p:normalViewPr>
  <p:slideViewPr>
    <p:cSldViewPr snapToGrid="0">
      <p:cViewPr>
        <p:scale>
          <a:sx n="112" d="100"/>
          <a:sy n="112" d="100"/>
        </p:scale>
        <p:origin x="568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8E273-BE0A-FD4F-9B1D-4C54475232D8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503B4477-D93A-7F42-B86C-408C33E9BC99}">
      <dgm:prSet phldrT="[文字]" custT="1"/>
      <dgm:spPr/>
      <dgm:t>
        <a:bodyPr/>
        <a:lstStyle/>
        <a:p>
          <a:r>
            <a:rPr lang="en-US" altLang="zh-TW" sz="2000" dirty="0"/>
            <a:t>strategies</a:t>
          </a:r>
          <a:endParaRPr lang="zh-TW" altLang="en-US" sz="2000" dirty="0"/>
        </a:p>
      </dgm:t>
    </dgm:pt>
    <dgm:pt modelId="{C5F21494-1484-AE41-9243-70D8CBCDE119}" type="parTrans" cxnId="{0EC3C3E9-5B00-CC41-9D3E-8CC76E3AF69F}">
      <dgm:prSet/>
      <dgm:spPr/>
      <dgm:t>
        <a:bodyPr/>
        <a:lstStyle/>
        <a:p>
          <a:endParaRPr lang="zh-TW" altLang="en-US" sz="2000"/>
        </a:p>
      </dgm:t>
    </dgm:pt>
    <dgm:pt modelId="{135841DE-BE15-054D-86C2-3884DE7529EE}" type="sibTrans" cxnId="{0EC3C3E9-5B00-CC41-9D3E-8CC76E3AF69F}">
      <dgm:prSet/>
      <dgm:spPr/>
      <dgm:t>
        <a:bodyPr/>
        <a:lstStyle/>
        <a:p>
          <a:endParaRPr lang="zh-TW" altLang="en-US" sz="2000"/>
        </a:p>
      </dgm:t>
    </dgm:pt>
    <dgm:pt modelId="{12D42341-7B7F-2C4E-B66C-C810EDD4A53A}">
      <dgm:prSet phldrT="[文字]" custT="1"/>
      <dgm:spPr/>
      <dgm:t>
        <a:bodyPr/>
        <a:lstStyle/>
        <a:p>
          <a:r>
            <a:rPr lang="en-US" altLang="zh-TW" sz="2000" dirty="0"/>
            <a:t>Surface</a:t>
          </a:r>
          <a:r>
            <a:rPr lang="zh-TW" altLang="en-US" sz="2000" dirty="0"/>
            <a:t> </a:t>
          </a:r>
          <a:r>
            <a:rPr lang="en-US" altLang="zh-TW" sz="2000" dirty="0"/>
            <a:t>coating</a:t>
          </a:r>
        </a:p>
      </dgm:t>
    </dgm:pt>
    <dgm:pt modelId="{7E9407E5-6327-6E4A-BE82-4738EDAE5F2F}" type="parTrans" cxnId="{D76EEA80-B867-BE40-BF68-CF54B58A62FE}">
      <dgm:prSet custT="1"/>
      <dgm:spPr/>
      <dgm:t>
        <a:bodyPr/>
        <a:lstStyle/>
        <a:p>
          <a:endParaRPr lang="zh-TW" altLang="en-US" sz="2000"/>
        </a:p>
      </dgm:t>
    </dgm:pt>
    <dgm:pt modelId="{D11B5F58-1001-DA47-9CBA-EC1E1FD6579A}" type="sibTrans" cxnId="{D76EEA80-B867-BE40-BF68-CF54B58A62FE}">
      <dgm:prSet/>
      <dgm:spPr/>
      <dgm:t>
        <a:bodyPr/>
        <a:lstStyle/>
        <a:p>
          <a:endParaRPr lang="zh-TW" altLang="en-US" sz="2000"/>
        </a:p>
      </dgm:t>
    </dgm:pt>
    <dgm:pt modelId="{9979D1B2-C056-8B42-9974-512FA9AD7424}">
      <dgm:prSet phldrT="[文字]" custT="1"/>
      <dgm:spPr/>
      <dgm:t>
        <a:bodyPr/>
        <a:lstStyle/>
        <a:p>
          <a:r>
            <a:rPr lang="en-US" altLang="zh-TW" sz="2000" dirty="0"/>
            <a:t>element</a:t>
          </a:r>
          <a:r>
            <a:rPr lang="zh-TW" altLang="en-US" sz="2000" dirty="0"/>
            <a:t> </a:t>
          </a:r>
          <a:r>
            <a:rPr lang="en-US" altLang="zh-TW" sz="2000" dirty="0"/>
            <a:t>doping</a:t>
          </a:r>
          <a:endParaRPr lang="zh-TW" altLang="en-US" sz="2000" dirty="0"/>
        </a:p>
      </dgm:t>
    </dgm:pt>
    <dgm:pt modelId="{C3275F68-56A9-5341-9D5F-CC77174468E5}" type="parTrans" cxnId="{DF95EF95-0470-684B-8A41-9CC4A3A1FA2B}">
      <dgm:prSet custT="1"/>
      <dgm:spPr/>
      <dgm:t>
        <a:bodyPr/>
        <a:lstStyle/>
        <a:p>
          <a:endParaRPr lang="zh-TW" altLang="en-US" sz="2000"/>
        </a:p>
      </dgm:t>
    </dgm:pt>
    <dgm:pt modelId="{01911601-082E-6B45-9E16-5ABC2878493E}" type="sibTrans" cxnId="{DF95EF95-0470-684B-8A41-9CC4A3A1FA2B}">
      <dgm:prSet/>
      <dgm:spPr/>
      <dgm:t>
        <a:bodyPr/>
        <a:lstStyle/>
        <a:p>
          <a:endParaRPr lang="zh-TW" altLang="en-US" sz="2000"/>
        </a:p>
      </dgm:t>
    </dgm:pt>
    <dgm:pt modelId="{AEB1E7AA-E185-F04F-9E4A-7D066338D77D}">
      <dgm:prSet custT="1"/>
      <dgm:spPr/>
      <dgm:t>
        <a:bodyPr/>
        <a:lstStyle/>
        <a:p>
          <a:r>
            <a:rPr lang="en-US" altLang="zh-TW" sz="2000" dirty="0"/>
            <a:t>nano</a:t>
          </a:r>
          <a:r>
            <a:rPr lang="zh-TW" altLang="en-US" sz="2000" dirty="0"/>
            <a:t> </a:t>
          </a:r>
          <a:r>
            <a:rPr lang="en-US" altLang="zh-TW" sz="2000" dirty="0"/>
            <a:t>crystallization</a:t>
          </a:r>
          <a:endParaRPr lang="zh-TW" altLang="en-US" sz="2000" dirty="0"/>
        </a:p>
      </dgm:t>
    </dgm:pt>
    <dgm:pt modelId="{2DB977AD-04DB-684E-8F77-25977F5F54DF}" type="parTrans" cxnId="{C25C0F50-3D10-FF4A-8DBE-AADE76D9E1CB}">
      <dgm:prSet custT="1"/>
      <dgm:spPr/>
      <dgm:t>
        <a:bodyPr/>
        <a:lstStyle/>
        <a:p>
          <a:endParaRPr lang="zh-TW" altLang="en-US" sz="2000"/>
        </a:p>
      </dgm:t>
    </dgm:pt>
    <dgm:pt modelId="{D6AC59B7-988C-B942-9B46-9D1ED3D277F5}" type="sibTrans" cxnId="{C25C0F50-3D10-FF4A-8DBE-AADE76D9E1CB}">
      <dgm:prSet/>
      <dgm:spPr/>
      <dgm:t>
        <a:bodyPr/>
        <a:lstStyle/>
        <a:p>
          <a:endParaRPr lang="zh-TW" altLang="en-US" sz="2000"/>
        </a:p>
      </dgm:t>
    </dgm:pt>
    <dgm:pt modelId="{49786C0C-8B9A-D840-9297-ACCCB096A05E}">
      <dgm:prSet custT="1"/>
      <dgm:spPr/>
      <dgm:t>
        <a:bodyPr/>
        <a:lstStyle/>
        <a:p>
          <a:r>
            <a:rPr lang="en-US" altLang="zh-TW" sz="2000" dirty="0"/>
            <a:t>morphology</a:t>
          </a:r>
          <a:r>
            <a:rPr lang="zh-TW" altLang="en-US" sz="2000" dirty="0"/>
            <a:t> </a:t>
          </a:r>
          <a:r>
            <a:rPr lang="en-US" altLang="zh-TW" sz="2000" dirty="0"/>
            <a:t>control</a:t>
          </a:r>
          <a:endParaRPr lang="zh-TW" altLang="en-US" sz="2000" dirty="0"/>
        </a:p>
      </dgm:t>
    </dgm:pt>
    <dgm:pt modelId="{5BEA35A8-2FD8-354C-B3BA-770107B5DD30}" type="parTrans" cxnId="{ED2C5F6D-D212-BD43-8F5B-12997DF6DE0A}">
      <dgm:prSet custT="1"/>
      <dgm:spPr/>
      <dgm:t>
        <a:bodyPr/>
        <a:lstStyle/>
        <a:p>
          <a:endParaRPr lang="zh-TW" altLang="en-US" sz="2000"/>
        </a:p>
      </dgm:t>
    </dgm:pt>
    <dgm:pt modelId="{F5ABD790-D5B0-6940-AA45-62768F24ABAD}" type="sibTrans" cxnId="{ED2C5F6D-D212-BD43-8F5B-12997DF6DE0A}">
      <dgm:prSet/>
      <dgm:spPr/>
      <dgm:t>
        <a:bodyPr/>
        <a:lstStyle/>
        <a:p>
          <a:endParaRPr lang="zh-TW" altLang="en-US" sz="2000"/>
        </a:p>
      </dgm:t>
    </dgm:pt>
    <dgm:pt modelId="{F4C2F887-013F-424F-9CBE-D7793270B698}">
      <dgm:prSet custT="1"/>
      <dgm:spPr/>
      <dgm:t>
        <a:bodyPr/>
        <a:lstStyle/>
        <a:p>
          <a:pPr>
            <a:buSzPct val="50000"/>
            <a:buFont typeface="Wingdings" pitchFamily="2" charset="2"/>
            <a:buChar char="l"/>
          </a:pPr>
          <a:r>
            <a:rPr lang="en-US" altLang="zh-TW" sz="2000" b="1" dirty="0"/>
            <a:t>short ion transport paths</a:t>
          </a:r>
          <a:endParaRPr lang="zh-TW" altLang="en-US" sz="2000" dirty="0"/>
        </a:p>
      </dgm:t>
    </dgm:pt>
    <dgm:pt modelId="{1CE1AC52-CF81-834D-98AA-5E33A29757FF}" type="parTrans" cxnId="{6DAFBD4F-6196-DF4E-8C45-D4EF7FBD15C3}">
      <dgm:prSet custT="1"/>
      <dgm:spPr/>
      <dgm:t>
        <a:bodyPr/>
        <a:lstStyle/>
        <a:p>
          <a:endParaRPr lang="zh-TW" altLang="en-US" sz="2000"/>
        </a:p>
      </dgm:t>
    </dgm:pt>
    <dgm:pt modelId="{01383EC6-7D49-164B-8A7E-A1900DF75F6B}" type="sibTrans" cxnId="{6DAFBD4F-6196-DF4E-8C45-D4EF7FBD15C3}">
      <dgm:prSet/>
      <dgm:spPr/>
      <dgm:t>
        <a:bodyPr/>
        <a:lstStyle/>
        <a:p>
          <a:endParaRPr lang="zh-TW" altLang="en-US" sz="2000"/>
        </a:p>
      </dgm:t>
    </dgm:pt>
    <dgm:pt modelId="{D30DE775-0304-A74C-AD68-97A757FF4187}">
      <dgm:prSet custT="1"/>
      <dgm:spPr/>
      <dgm:t>
        <a:bodyPr/>
        <a:lstStyle/>
        <a:p>
          <a:pPr>
            <a:buSzPct val="50000"/>
            <a:buFont typeface="Wingdings" pitchFamily="2" charset="2"/>
            <a:buChar char="l"/>
          </a:pPr>
          <a:r>
            <a:rPr lang="en-US" altLang="zh-TW" sz="2000" b="1"/>
            <a:t>efficient active mass–electrolyte contact </a:t>
          </a:r>
          <a:endParaRPr lang="zh-TW" altLang="en-US" sz="2000" dirty="0"/>
        </a:p>
      </dgm:t>
    </dgm:pt>
    <dgm:pt modelId="{38316076-E8A3-B348-B40E-4C46127083C4}" type="parTrans" cxnId="{5E0C6228-4E4A-0843-917A-DF0BE496080D}">
      <dgm:prSet custT="1"/>
      <dgm:spPr/>
      <dgm:t>
        <a:bodyPr/>
        <a:lstStyle/>
        <a:p>
          <a:endParaRPr lang="zh-TW" altLang="en-US" sz="2000"/>
        </a:p>
      </dgm:t>
    </dgm:pt>
    <dgm:pt modelId="{328982B1-BD9A-2243-AF07-161A35EFC368}" type="sibTrans" cxnId="{5E0C6228-4E4A-0843-917A-DF0BE496080D}">
      <dgm:prSet/>
      <dgm:spPr/>
      <dgm:t>
        <a:bodyPr/>
        <a:lstStyle/>
        <a:p>
          <a:endParaRPr lang="zh-TW" altLang="en-US" sz="2000"/>
        </a:p>
      </dgm:t>
    </dgm:pt>
    <dgm:pt modelId="{6BE8B6D5-47A7-904E-B4E8-3971E3AE94AC}">
      <dgm:prSet custT="1"/>
      <dgm:spPr/>
      <dgm:t>
        <a:bodyPr/>
        <a:lstStyle/>
        <a:p>
          <a:pPr>
            <a:buSzPct val="50000"/>
            <a:buFont typeface="Wingdings" pitchFamily="2" charset="2"/>
            <a:buChar char="l"/>
          </a:pPr>
          <a:r>
            <a:rPr lang="en-US" altLang="zh-TW" sz="2000" b="1" dirty="0"/>
            <a:t>releases the strain during charge/discharge processes. </a:t>
          </a:r>
          <a:endParaRPr lang="zh-TW" altLang="en-US" sz="2000" dirty="0"/>
        </a:p>
      </dgm:t>
    </dgm:pt>
    <dgm:pt modelId="{97C2C969-F024-F84B-B2E9-6C9AAB5E75EB}" type="parTrans" cxnId="{1249E178-D9E5-AA40-9DC1-02E76F833EE6}">
      <dgm:prSet custT="1"/>
      <dgm:spPr/>
      <dgm:t>
        <a:bodyPr/>
        <a:lstStyle/>
        <a:p>
          <a:endParaRPr lang="zh-TW" altLang="en-US" sz="2000"/>
        </a:p>
      </dgm:t>
    </dgm:pt>
    <dgm:pt modelId="{D34C9E67-D643-A648-A56E-7FF5AF35315F}" type="sibTrans" cxnId="{1249E178-D9E5-AA40-9DC1-02E76F833EE6}">
      <dgm:prSet/>
      <dgm:spPr/>
      <dgm:t>
        <a:bodyPr/>
        <a:lstStyle/>
        <a:p>
          <a:endParaRPr lang="zh-TW" altLang="en-US" sz="2000"/>
        </a:p>
      </dgm:t>
    </dgm:pt>
    <dgm:pt modelId="{36E1337B-1E68-0B4A-9EC0-4DCA87EDAB31}">
      <dgm:prSet custT="1"/>
      <dgm:spPr/>
      <dgm:t>
        <a:bodyPr/>
        <a:lstStyle/>
        <a:p>
          <a:pPr>
            <a:buSzPct val="50000"/>
            <a:buFont typeface="Wingdings" pitchFamily="2" charset="2"/>
            <a:buChar char="l"/>
          </a:pPr>
          <a:r>
            <a:rPr lang="en-US" altLang="zh-TW" sz="2000" b="1"/>
            <a:t>reduces agglomeration upon cycling </a:t>
          </a:r>
          <a:endParaRPr lang="zh-TW" altLang="en-US" sz="2000" dirty="0"/>
        </a:p>
      </dgm:t>
    </dgm:pt>
    <dgm:pt modelId="{9BD98277-15A9-E74A-8C69-6564D8A9A4C9}" type="parTrans" cxnId="{605819A2-94D3-AF42-88E4-512E66B78BEF}">
      <dgm:prSet custT="1"/>
      <dgm:spPr/>
      <dgm:t>
        <a:bodyPr/>
        <a:lstStyle/>
        <a:p>
          <a:endParaRPr lang="zh-TW" altLang="en-US" sz="2000"/>
        </a:p>
      </dgm:t>
    </dgm:pt>
    <dgm:pt modelId="{0F099655-AE27-E14F-918B-F7145D02839D}" type="sibTrans" cxnId="{605819A2-94D3-AF42-88E4-512E66B78BEF}">
      <dgm:prSet/>
      <dgm:spPr/>
      <dgm:t>
        <a:bodyPr/>
        <a:lstStyle/>
        <a:p>
          <a:endParaRPr lang="zh-TW" altLang="en-US" sz="2000"/>
        </a:p>
      </dgm:t>
    </dgm:pt>
    <dgm:pt modelId="{53891BBE-9B6E-7C40-879A-58625CB659E8}">
      <dgm:prSet custT="1"/>
      <dgm:spPr/>
      <dgm:t>
        <a:bodyPr/>
        <a:lstStyle/>
        <a:p>
          <a:pPr>
            <a:buSzPct val="50000"/>
            <a:buFont typeface="Wingdings" pitchFamily="2" charset="2"/>
            <a:buChar char="l"/>
          </a:pPr>
          <a:r>
            <a:rPr lang="en-US" altLang="zh-TW" sz="2000" b="1"/>
            <a:t>decreases interfacial contact resistance </a:t>
          </a:r>
          <a:endParaRPr lang="zh-TW" altLang="en-US" sz="2000" dirty="0"/>
        </a:p>
      </dgm:t>
    </dgm:pt>
    <dgm:pt modelId="{8EA7CC07-E0F3-C444-9320-0E8569A2A35A}" type="parTrans" cxnId="{8D13F76B-4D02-1A4E-9F68-91372CAA25D9}">
      <dgm:prSet custT="1"/>
      <dgm:spPr/>
      <dgm:t>
        <a:bodyPr/>
        <a:lstStyle/>
        <a:p>
          <a:endParaRPr lang="zh-TW" altLang="en-US" sz="2000"/>
        </a:p>
      </dgm:t>
    </dgm:pt>
    <dgm:pt modelId="{5300E5DC-4C12-C347-A14D-3B9C5737574B}" type="sibTrans" cxnId="{8D13F76B-4D02-1A4E-9F68-91372CAA25D9}">
      <dgm:prSet/>
      <dgm:spPr/>
      <dgm:t>
        <a:bodyPr/>
        <a:lstStyle/>
        <a:p>
          <a:endParaRPr lang="zh-TW" altLang="en-US" sz="2000"/>
        </a:p>
      </dgm:t>
    </dgm:pt>
    <dgm:pt modelId="{85CCB6F2-B875-544A-B96B-7CD42017176B}" type="pres">
      <dgm:prSet presAssocID="{A9F8E273-BE0A-FD4F-9B1D-4C54475232D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23E3819-EC3D-3945-9D69-11DA029F252A}" type="pres">
      <dgm:prSet presAssocID="{503B4477-D93A-7F42-B86C-408C33E9BC99}" presName="root1" presStyleCnt="0"/>
      <dgm:spPr/>
    </dgm:pt>
    <dgm:pt modelId="{3920DE24-A4F3-8243-BF59-49D2828D71AA}" type="pres">
      <dgm:prSet presAssocID="{503B4477-D93A-7F42-B86C-408C33E9BC99}" presName="LevelOneTextNode" presStyleLbl="node0" presStyleIdx="0" presStyleCnt="1" custScaleX="133274">
        <dgm:presLayoutVars>
          <dgm:chPref val="3"/>
        </dgm:presLayoutVars>
      </dgm:prSet>
      <dgm:spPr/>
    </dgm:pt>
    <dgm:pt modelId="{E0936646-0FBA-A04A-9AEA-E244E89C3391}" type="pres">
      <dgm:prSet presAssocID="{503B4477-D93A-7F42-B86C-408C33E9BC99}" presName="level2hierChild" presStyleCnt="0"/>
      <dgm:spPr/>
    </dgm:pt>
    <dgm:pt modelId="{5C8F5449-0363-D449-BF84-6589C29A88B8}" type="pres">
      <dgm:prSet presAssocID="{7E9407E5-6327-6E4A-BE82-4738EDAE5F2F}" presName="conn2-1" presStyleLbl="parChTrans1D2" presStyleIdx="0" presStyleCnt="4"/>
      <dgm:spPr/>
    </dgm:pt>
    <dgm:pt modelId="{45045404-4AAF-4548-B0D1-F5D74DFF92EE}" type="pres">
      <dgm:prSet presAssocID="{7E9407E5-6327-6E4A-BE82-4738EDAE5F2F}" presName="connTx" presStyleLbl="parChTrans1D2" presStyleIdx="0" presStyleCnt="4"/>
      <dgm:spPr/>
    </dgm:pt>
    <dgm:pt modelId="{9E74C3AF-4009-2347-8097-67E1BA6B084C}" type="pres">
      <dgm:prSet presAssocID="{12D42341-7B7F-2C4E-B66C-C810EDD4A53A}" presName="root2" presStyleCnt="0"/>
      <dgm:spPr/>
    </dgm:pt>
    <dgm:pt modelId="{606B15C7-0F51-6E47-A4E3-5C82213CB341}" type="pres">
      <dgm:prSet presAssocID="{12D42341-7B7F-2C4E-B66C-C810EDD4A53A}" presName="LevelTwoTextNode" presStyleLbl="node2" presStyleIdx="0" presStyleCnt="4" custScaleX="108058" custScaleY="129670">
        <dgm:presLayoutVars>
          <dgm:chPref val="3"/>
        </dgm:presLayoutVars>
      </dgm:prSet>
      <dgm:spPr/>
    </dgm:pt>
    <dgm:pt modelId="{818B14AF-343F-1447-A818-464A27C4ABDC}" type="pres">
      <dgm:prSet presAssocID="{12D42341-7B7F-2C4E-B66C-C810EDD4A53A}" presName="level3hierChild" presStyleCnt="0"/>
      <dgm:spPr/>
    </dgm:pt>
    <dgm:pt modelId="{19AA82E6-7116-D24B-A101-DF689C2D109B}" type="pres">
      <dgm:prSet presAssocID="{C3275F68-56A9-5341-9D5F-CC77174468E5}" presName="conn2-1" presStyleLbl="parChTrans1D2" presStyleIdx="1" presStyleCnt="4"/>
      <dgm:spPr/>
    </dgm:pt>
    <dgm:pt modelId="{8B47BD96-CC68-D54D-90D2-5ACCF860E59B}" type="pres">
      <dgm:prSet presAssocID="{C3275F68-56A9-5341-9D5F-CC77174468E5}" presName="connTx" presStyleLbl="parChTrans1D2" presStyleIdx="1" presStyleCnt="4"/>
      <dgm:spPr/>
    </dgm:pt>
    <dgm:pt modelId="{A95B37D4-48F3-4C4A-B541-DC6E7C4E4C8F}" type="pres">
      <dgm:prSet presAssocID="{9979D1B2-C056-8B42-9974-512FA9AD7424}" presName="root2" presStyleCnt="0"/>
      <dgm:spPr/>
    </dgm:pt>
    <dgm:pt modelId="{399A2B7F-27ED-6F4E-BBB8-0387C8782D7D}" type="pres">
      <dgm:prSet presAssocID="{9979D1B2-C056-8B42-9974-512FA9AD7424}" presName="LevelTwoTextNode" presStyleLbl="node2" presStyleIdx="1" presStyleCnt="4" custScaleX="106956" custScaleY="128347">
        <dgm:presLayoutVars>
          <dgm:chPref val="3"/>
        </dgm:presLayoutVars>
      </dgm:prSet>
      <dgm:spPr/>
    </dgm:pt>
    <dgm:pt modelId="{3C70055D-2491-094F-AB99-5CD2F42B1242}" type="pres">
      <dgm:prSet presAssocID="{9979D1B2-C056-8B42-9974-512FA9AD7424}" presName="level3hierChild" presStyleCnt="0"/>
      <dgm:spPr/>
    </dgm:pt>
    <dgm:pt modelId="{6D4D5166-0138-914E-B7BB-7C0DEFF12E3C}" type="pres">
      <dgm:prSet presAssocID="{2DB977AD-04DB-684E-8F77-25977F5F54DF}" presName="conn2-1" presStyleLbl="parChTrans1D2" presStyleIdx="2" presStyleCnt="4"/>
      <dgm:spPr/>
    </dgm:pt>
    <dgm:pt modelId="{1EF0D25D-5398-5949-81D3-13129B8906F6}" type="pres">
      <dgm:prSet presAssocID="{2DB977AD-04DB-684E-8F77-25977F5F54DF}" presName="connTx" presStyleLbl="parChTrans1D2" presStyleIdx="2" presStyleCnt="4"/>
      <dgm:spPr/>
    </dgm:pt>
    <dgm:pt modelId="{C3283389-AAA9-904E-838C-ED52381F0D93}" type="pres">
      <dgm:prSet presAssocID="{AEB1E7AA-E185-F04F-9E4A-7D066338D77D}" presName="root2" presStyleCnt="0"/>
      <dgm:spPr/>
    </dgm:pt>
    <dgm:pt modelId="{26FCA3D4-80A3-4146-AD0F-7DF2B97C60E1}" type="pres">
      <dgm:prSet presAssocID="{AEB1E7AA-E185-F04F-9E4A-7D066338D77D}" presName="LevelTwoTextNode" presStyleLbl="node2" presStyleIdx="2" presStyleCnt="4" custScaleX="108306" custScaleY="128347">
        <dgm:presLayoutVars>
          <dgm:chPref val="3"/>
        </dgm:presLayoutVars>
      </dgm:prSet>
      <dgm:spPr/>
    </dgm:pt>
    <dgm:pt modelId="{E337CE80-2FDE-4144-92D7-0332FE3C3196}" type="pres">
      <dgm:prSet presAssocID="{AEB1E7AA-E185-F04F-9E4A-7D066338D77D}" presName="level3hierChild" presStyleCnt="0"/>
      <dgm:spPr/>
    </dgm:pt>
    <dgm:pt modelId="{91A45641-046B-E84C-B679-71B81377956E}" type="pres">
      <dgm:prSet presAssocID="{1CE1AC52-CF81-834D-98AA-5E33A29757FF}" presName="conn2-1" presStyleLbl="parChTrans1D3" presStyleIdx="0" presStyleCnt="5"/>
      <dgm:spPr/>
    </dgm:pt>
    <dgm:pt modelId="{4BBAFFCE-0BE7-2749-B8E9-D084B1D3C21A}" type="pres">
      <dgm:prSet presAssocID="{1CE1AC52-CF81-834D-98AA-5E33A29757FF}" presName="connTx" presStyleLbl="parChTrans1D3" presStyleIdx="0" presStyleCnt="5"/>
      <dgm:spPr/>
    </dgm:pt>
    <dgm:pt modelId="{8B5F0826-5F56-B142-AF44-608577CA2B1D}" type="pres">
      <dgm:prSet presAssocID="{F4C2F887-013F-424F-9CBE-D7793270B698}" presName="root2" presStyleCnt="0"/>
      <dgm:spPr/>
    </dgm:pt>
    <dgm:pt modelId="{FB984913-0373-934C-87F5-C9529CE87DCC}" type="pres">
      <dgm:prSet presAssocID="{F4C2F887-013F-424F-9CBE-D7793270B698}" presName="LevelTwoTextNode" presStyleLbl="node3" presStyleIdx="0" presStyleCnt="5" custScaleX="319546">
        <dgm:presLayoutVars>
          <dgm:chPref val="3"/>
        </dgm:presLayoutVars>
      </dgm:prSet>
      <dgm:spPr/>
    </dgm:pt>
    <dgm:pt modelId="{9F675582-16FB-484F-A08D-6D32CDAF5B78}" type="pres">
      <dgm:prSet presAssocID="{F4C2F887-013F-424F-9CBE-D7793270B698}" presName="level3hierChild" presStyleCnt="0"/>
      <dgm:spPr/>
    </dgm:pt>
    <dgm:pt modelId="{5F22628B-43C7-654D-A2A0-6B09A9B72386}" type="pres">
      <dgm:prSet presAssocID="{38316076-E8A3-B348-B40E-4C46127083C4}" presName="conn2-1" presStyleLbl="parChTrans1D3" presStyleIdx="1" presStyleCnt="5"/>
      <dgm:spPr/>
    </dgm:pt>
    <dgm:pt modelId="{08377530-3AE5-7345-B77F-C324A397BD32}" type="pres">
      <dgm:prSet presAssocID="{38316076-E8A3-B348-B40E-4C46127083C4}" presName="connTx" presStyleLbl="parChTrans1D3" presStyleIdx="1" presStyleCnt="5"/>
      <dgm:spPr/>
    </dgm:pt>
    <dgm:pt modelId="{BD0665A6-FB64-5C4A-9B91-4599BF1CD177}" type="pres">
      <dgm:prSet presAssocID="{D30DE775-0304-A74C-AD68-97A757FF4187}" presName="root2" presStyleCnt="0"/>
      <dgm:spPr/>
    </dgm:pt>
    <dgm:pt modelId="{9E827AB8-6B96-C944-9D49-3396720DCF87}" type="pres">
      <dgm:prSet presAssocID="{D30DE775-0304-A74C-AD68-97A757FF4187}" presName="LevelTwoTextNode" presStyleLbl="node3" presStyleIdx="1" presStyleCnt="5" custScaleX="319546">
        <dgm:presLayoutVars>
          <dgm:chPref val="3"/>
        </dgm:presLayoutVars>
      </dgm:prSet>
      <dgm:spPr/>
    </dgm:pt>
    <dgm:pt modelId="{3FF83684-BB7E-1B48-B8D3-EB1308E68BE4}" type="pres">
      <dgm:prSet presAssocID="{D30DE775-0304-A74C-AD68-97A757FF4187}" presName="level3hierChild" presStyleCnt="0"/>
      <dgm:spPr/>
    </dgm:pt>
    <dgm:pt modelId="{65A9DB2E-93FA-794C-AA60-A807A468EC2C}" type="pres">
      <dgm:prSet presAssocID="{5BEA35A8-2FD8-354C-B3BA-770107B5DD30}" presName="conn2-1" presStyleLbl="parChTrans1D2" presStyleIdx="3" presStyleCnt="4"/>
      <dgm:spPr/>
    </dgm:pt>
    <dgm:pt modelId="{99B6C7D5-79B2-B141-B4EC-83D090A655E1}" type="pres">
      <dgm:prSet presAssocID="{5BEA35A8-2FD8-354C-B3BA-770107B5DD30}" presName="connTx" presStyleLbl="parChTrans1D2" presStyleIdx="3" presStyleCnt="4"/>
      <dgm:spPr/>
    </dgm:pt>
    <dgm:pt modelId="{C3A2648F-8B28-2443-82B8-6DBF24DEBFF1}" type="pres">
      <dgm:prSet presAssocID="{49786C0C-8B9A-D840-9297-ACCCB096A05E}" presName="root2" presStyleCnt="0"/>
      <dgm:spPr/>
    </dgm:pt>
    <dgm:pt modelId="{92F5E5FD-1BA5-CF46-B203-7282324AE277}" type="pres">
      <dgm:prSet presAssocID="{49786C0C-8B9A-D840-9297-ACCCB096A05E}" presName="LevelTwoTextNode" presStyleLbl="node2" presStyleIdx="3" presStyleCnt="4" custScaleX="108306" custScaleY="129968">
        <dgm:presLayoutVars>
          <dgm:chPref val="3"/>
        </dgm:presLayoutVars>
      </dgm:prSet>
      <dgm:spPr/>
    </dgm:pt>
    <dgm:pt modelId="{B0FFF429-A2BC-1B48-B058-0F20217616B6}" type="pres">
      <dgm:prSet presAssocID="{49786C0C-8B9A-D840-9297-ACCCB096A05E}" presName="level3hierChild" presStyleCnt="0"/>
      <dgm:spPr/>
    </dgm:pt>
    <dgm:pt modelId="{1A445217-D157-2A4A-BED4-428561F87325}" type="pres">
      <dgm:prSet presAssocID="{97C2C969-F024-F84B-B2E9-6C9AAB5E75EB}" presName="conn2-1" presStyleLbl="parChTrans1D3" presStyleIdx="2" presStyleCnt="5"/>
      <dgm:spPr/>
    </dgm:pt>
    <dgm:pt modelId="{9B2504E4-008B-4E40-ABA7-9D3989A053CD}" type="pres">
      <dgm:prSet presAssocID="{97C2C969-F024-F84B-B2E9-6C9AAB5E75EB}" presName="connTx" presStyleLbl="parChTrans1D3" presStyleIdx="2" presStyleCnt="5"/>
      <dgm:spPr/>
    </dgm:pt>
    <dgm:pt modelId="{3BC44585-B572-6947-A796-94336299C963}" type="pres">
      <dgm:prSet presAssocID="{6BE8B6D5-47A7-904E-B4E8-3971E3AE94AC}" presName="root2" presStyleCnt="0"/>
      <dgm:spPr/>
    </dgm:pt>
    <dgm:pt modelId="{7A146E09-DEC6-C743-A4BE-6D5379DA49E6}" type="pres">
      <dgm:prSet presAssocID="{6BE8B6D5-47A7-904E-B4E8-3971E3AE94AC}" presName="LevelTwoTextNode" presStyleLbl="node3" presStyleIdx="2" presStyleCnt="5" custScaleX="319546">
        <dgm:presLayoutVars>
          <dgm:chPref val="3"/>
        </dgm:presLayoutVars>
      </dgm:prSet>
      <dgm:spPr/>
    </dgm:pt>
    <dgm:pt modelId="{915052AF-12B4-AC4A-A742-129E733BE5AC}" type="pres">
      <dgm:prSet presAssocID="{6BE8B6D5-47A7-904E-B4E8-3971E3AE94AC}" presName="level3hierChild" presStyleCnt="0"/>
      <dgm:spPr/>
    </dgm:pt>
    <dgm:pt modelId="{E86842EA-B0FD-0549-A10F-FCF2EC26CAB8}" type="pres">
      <dgm:prSet presAssocID="{9BD98277-15A9-E74A-8C69-6564D8A9A4C9}" presName="conn2-1" presStyleLbl="parChTrans1D3" presStyleIdx="3" presStyleCnt="5"/>
      <dgm:spPr/>
    </dgm:pt>
    <dgm:pt modelId="{E5BA0F76-6C42-6043-9F1A-8889CB6DBAF9}" type="pres">
      <dgm:prSet presAssocID="{9BD98277-15A9-E74A-8C69-6564D8A9A4C9}" presName="connTx" presStyleLbl="parChTrans1D3" presStyleIdx="3" presStyleCnt="5"/>
      <dgm:spPr/>
    </dgm:pt>
    <dgm:pt modelId="{68BD81BE-6869-8148-B91F-43833221DAAB}" type="pres">
      <dgm:prSet presAssocID="{36E1337B-1E68-0B4A-9EC0-4DCA87EDAB31}" presName="root2" presStyleCnt="0"/>
      <dgm:spPr/>
    </dgm:pt>
    <dgm:pt modelId="{3D3039AF-D5E3-6D45-9326-93B79686490A}" type="pres">
      <dgm:prSet presAssocID="{36E1337B-1E68-0B4A-9EC0-4DCA87EDAB31}" presName="LevelTwoTextNode" presStyleLbl="node3" presStyleIdx="3" presStyleCnt="5" custScaleX="319546">
        <dgm:presLayoutVars>
          <dgm:chPref val="3"/>
        </dgm:presLayoutVars>
      </dgm:prSet>
      <dgm:spPr/>
    </dgm:pt>
    <dgm:pt modelId="{65529A34-774E-FC42-B484-2104770BC4CE}" type="pres">
      <dgm:prSet presAssocID="{36E1337B-1E68-0B4A-9EC0-4DCA87EDAB31}" presName="level3hierChild" presStyleCnt="0"/>
      <dgm:spPr/>
    </dgm:pt>
    <dgm:pt modelId="{EDAF70EC-E46F-5D49-B5A8-8075CC204878}" type="pres">
      <dgm:prSet presAssocID="{8EA7CC07-E0F3-C444-9320-0E8569A2A35A}" presName="conn2-1" presStyleLbl="parChTrans1D3" presStyleIdx="4" presStyleCnt="5"/>
      <dgm:spPr/>
    </dgm:pt>
    <dgm:pt modelId="{71964065-9C4F-9645-AE92-094054A7BA48}" type="pres">
      <dgm:prSet presAssocID="{8EA7CC07-E0F3-C444-9320-0E8569A2A35A}" presName="connTx" presStyleLbl="parChTrans1D3" presStyleIdx="4" presStyleCnt="5"/>
      <dgm:spPr/>
    </dgm:pt>
    <dgm:pt modelId="{09B80A6C-3C3B-F843-8FFD-A476472FFAAA}" type="pres">
      <dgm:prSet presAssocID="{53891BBE-9B6E-7C40-879A-58625CB659E8}" presName="root2" presStyleCnt="0"/>
      <dgm:spPr/>
    </dgm:pt>
    <dgm:pt modelId="{7A1A6E61-9F56-C348-A490-4BE3DAD49850}" type="pres">
      <dgm:prSet presAssocID="{53891BBE-9B6E-7C40-879A-58625CB659E8}" presName="LevelTwoTextNode" presStyleLbl="node3" presStyleIdx="4" presStyleCnt="5" custScaleX="319546">
        <dgm:presLayoutVars>
          <dgm:chPref val="3"/>
        </dgm:presLayoutVars>
      </dgm:prSet>
      <dgm:spPr/>
    </dgm:pt>
    <dgm:pt modelId="{82CF9E1A-6B42-A240-AF17-6D8AE409D032}" type="pres">
      <dgm:prSet presAssocID="{53891BBE-9B6E-7C40-879A-58625CB659E8}" presName="level3hierChild" presStyleCnt="0"/>
      <dgm:spPr/>
    </dgm:pt>
  </dgm:ptLst>
  <dgm:cxnLst>
    <dgm:cxn modelId="{6EF4DA03-E6E3-A04A-987E-CEDF78DCB221}" type="presOf" srcId="{A9F8E273-BE0A-FD4F-9B1D-4C54475232D8}" destId="{85CCB6F2-B875-544A-B96B-7CD42017176B}" srcOrd="0" destOrd="0" presId="urn:microsoft.com/office/officeart/2005/8/layout/hierarchy2"/>
    <dgm:cxn modelId="{70B6740D-62DB-4641-A682-F8266AD53290}" type="presOf" srcId="{8EA7CC07-E0F3-C444-9320-0E8569A2A35A}" destId="{EDAF70EC-E46F-5D49-B5A8-8075CC204878}" srcOrd="0" destOrd="0" presId="urn:microsoft.com/office/officeart/2005/8/layout/hierarchy2"/>
    <dgm:cxn modelId="{E0B30F0F-BAA5-C844-AF42-60DF11738049}" type="presOf" srcId="{8EA7CC07-E0F3-C444-9320-0E8569A2A35A}" destId="{71964065-9C4F-9645-AE92-094054A7BA48}" srcOrd="1" destOrd="0" presId="urn:microsoft.com/office/officeart/2005/8/layout/hierarchy2"/>
    <dgm:cxn modelId="{E8CADE12-2DF9-ED49-9344-631AFA1085CD}" type="presOf" srcId="{1CE1AC52-CF81-834D-98AA-5E33A29757FF}" destId="{91A45641-046B-E84C-B679-71B81377956E}" srcOrd="0" destOrd="0" presId="urn:microsoft.com/office/officeart/2005/8/layout/hierarchy2"/>
    <dgm:cxn modelId="{7E3A3E1C-2838-4044-A0F0-1357E50B0B0D}" type="presOf" srcId="{5BEA35A8-2FD8-354C-B3BA-770107B5DD30}" destId="{65A9DB2E-93FA-794C-AA60-A807A468EC2C}" srcOrd="0" destOrd="0" presId="urn:microsoft.com/office/officeart/2005/8/layout/hierarchy2"/>
    <dgm:cxn modelId="{4EE06323-0D6B-4A49-8619-880E320F2AF2}" type="presOf" srcId="{F4C2F887-013F-424F-9CBE-D7793270B698}" destId="{FB984913-0373-934C-87F5-C9529CE87DCC}" srcOrd="0" destOrd="0" presId="urn:microsoft.com/office/officeart/2005/8/layout/hierarchy2"/>
    <dgm:cxn modelId="{5E0C6228-4E4A-0843-917A-DF0BE496080D}" srcId="{AEB1E7AA-E185-F04F-9E4A-7D066338D77D}" destId="{D30DE775-0304-A74C-AD68-97A757FF4187}" srcOrd="1" destOrd="0" parTransId="{38316076-E8A3-B348-B40E-4C46127083C4}" sibTransId="{328982B1-BD9A-2243-AF07-161A35EFC368}"/>
    <dgm:cxn modelId="{9838D436-371B-C841-9923-B9CD74082337}" type="presOf" srcId="{503B4477-D93A-7F42-B86C-408C33E9BC99}" destId="{3920DE24-A4F3-8243-BF59-49D2828D71AA}" srcOrd="0" destOrd="0" presId="urn:microsoft.com/office/officeart/2005/8/layout/hierarchy2"/>
    <dgm:cxn modelId="{3FCA793F-216E-2646-9887-0170C1C8D94E}" type="presOf" srcId="{9BD98277-15A9-E74A-8C69-6564D8A9A4C9}" destId="{E5BA0F76-6C42-6043-9F1A-8889CB6DBAF9}" srcOrd="1" destOrd="0" presId="urn:microsoft.com/office/officeart/2005/8/layout/hierarchy2"/>
    <dgm:cxn modelId="{6DAFBD4F-6196-DF4E-8C45-D4EF7FBD15C3}" srcId="{AEB1E7AA-E185-F04F-9E4A-7D066338D77D}" destId="{F4C2F887-013F-424F-9CBE-D7793270B698}" srcOrd="0" destOrd="0" parTransId="{1CE1AC52-CF81-834D-98AA-5E33A29757FF}" sibTransId="{01383EC6-7D49-164B-8A7E-A1900DF75F6B}"/>
    <dgm:cxn modelId="{C25C0F50-3D10-FF4A-8DBE-AADE76D9E1CB}" srcId="{503B4477-D93A-7F42-B86C-408C33E9BC99}" destId="{AEB1E7AA-E185-F04F-9E4A-7D066338D77D}" srcOrd="2" destOrd="0" parTransId="{2DB977AD-04DB-684E-8F77-25977F5F54DF}" sibTransId="{D6AC59B7-988C-B942-9B46-9D1ED3D277F5}"/>
    <dgm:cxn modelId="{7D718952-72E8-5B48-AA04-DF7E985EA83A}" type="presOf" srcId="{6BE8B6D5-47A7-904E-B4E8-3971E3AE94AC}" destId="{7A146E09-DEC6-C743-A4BE-6D5379DA49E6}" srcOrd="0" destOrd="0" presId="urn:microsoft.com/office/officeart/2005/8/layout/hierarchy2"/>
    <dgm:cxn modelId="{8D13F76B-4D02-1A4E-9F68-91372CAA25D9}" srcId="{49786C0C-8B9A-D840-9297-ACCCB096A05E}" destId="{53891BBE-9B6E-7C40-879A-58625CB659E8}" srcOrd="2" destOrd="0" parTransId="{8EA7CC07-E0F3-C444-9320-0E8569A2A35A}" sibTransId="{5300E5DC-4C12-C347-A14D-3B9C5737574B}"/>
    <dgm:cxn modelId="{ED2C5F6D-D212-BD43-8F5B-12997DF6DE0A}" srcId="{503B4477-D93A-7F42-B86C-408C33E9BC99}" destId="{49786C0C-8B9A-D840-9297-ACCCB096A05E}" srcOrd="3" destOrd="0" parTransId="{5BEA35A8-2FD8-354C-B3BA-770107B5DD30}" sibTransId="{F5ABD790-D5B0-6940-AA45-62768F24ABAD}"/>
    <dgm:cxn modelId="{D360156E-434B-1C40-890D-13D402EF5CAE}" type="presOf" srcId="{2DB977AD-04DB-684E-8F77-25977F5F54DF}" destId="{6D4D5166-0138-914E-B7BB-7C0DEFF12E3C}" srcOrd="0" destOrd="0" presId="urn:microsoft.com/office/officeart/2005/8/layout/hierarchy2"/>
    <dgm:cxn modelId="{50680F70-5240-3E40-B352-803F24E01538}" type="presOf" srcId="{1CE1AC52-CF81-834D-98AA-5E33A29757FF}" destId="{4BBAFFCE-0BE7-2749-B8E9-D084B1D3C21A}" srcOrd="1" destOrd="0" presId="urn:microsoft.com/office/officeart/2005/8/layout/hierarchy2"/>
    <dgm:cxn modelId="{1249E178-D9E5-AA40-9DC1-02E76F833EE6}" srcId="{49786C0C-8B9A-D840-9297-ACCCB096A05E}" destId="{6BE8B6D5-47A7-904E-B4E8-3971E3AE94AC}" srcOrd="0" destOrd="0" parTransId="{97C2C969-F024-F84B-B2E9-6C9AAB5E75EB}" sibTransId="{D34C9E67-D643-A648-A56E-7FF5AF35315F}"/>
    <dgm:cxn modelId="{D76EEA80-B867-BE40-BF68-CF54B58A62FE}" srcId="{503B4477-D93A-7F42-B86C-408C33E9BC99}" destId="{12D42341-7B7F-2C4E-B66C-C810EDD4A53A}" srcOrd="0" destOrd="0" parTransId="{7E9407E5-6327-6E4A-BE82-4738EDAE5F2F}" sibTransId="{D11B5F58-1001-DA47-9CBA-EC1E1FD6579A}"/>
    <dgm:cxn modelId="{EB00B681-E3AF-9545-B056-BA907AB363FE}" type="presOf" srcId="{9979D1B2-C056-8B42-9974-512FA9AD7424}" destId="{399A2B7F-27ED-6F4E-BBB8-0387C8782D7D}" srcOrd="0" destOrd="0" presId="urn:microsoft.com/office/officeart/2005/8/layout/hierarchy2"/>
    <dgm:cxn modelId="{583F4987-B9C5-5D46-A9CB-B5F097B40D58}" type="presOf" srcId="{97C2C969-F024-F84B-B2E9-6C9AAB5E75EB}" destId="{9B2504E4-008B-4E40-ABA7-9D3989A053CD}" srcOrd="1" destOrd="0" presId="urn:microsoft.com/office/officeart/2005/8/layout/hierarchy2"/>
    <dgm:cxn modelId="{6A6D4D91-E350-B94E-B95A-838D3BA23F4D}" type="presOf" srcId="{53891BBE-9B6E-7C40-879A-58625CB659E8}" destId="{7A1A6E61-9F56-C348-A490-4BE3DAD49850}" srcOrd="0" destOrd="0" presId="urn:microsoft.com/office/officeart/2005/8/layout/hierarchy2"/>
    <dgm:cxn modelId="{49554792-D626-D948-B91C-AA610E848115}" type="presOf" srcId="{49786C0C-8B9A-D840-9297-ACCCB096A05E}" destId="{92F5E5FD-1BA5-CF46-B203-7282324AE277}" srcOrd="0" destOrd="0" presId="urn:microsoft.com/office/officeart/2005/8/layout/hierarchy2"/>
    <dgm:cxn modelId="{DF95EF95-0470-684B-8A41-9CC4A3A1FA2B}" srcId="{503B4477-D93A-7F42-B86C-408C33E9BC99}" destId="{9979D1B2-C056-8B42-9974-512FA9AD7424}" srcOrd="1" destOrd="0" parTransId="{C3275F68-56A9-5341-9D5F-CC77174468E5}" sibTransId="{01911601-082E-6B45-9E16-5ABC2878493E}"/>
    <dgm:cxn modelId="{605819A2-94D3-AF42-88E4-512E66B78BEF}" srcId="{49786C0C-8B9A-D840-9297-ACCCB096A05E}" destId="{36E1337B-1E68-0B4A-9EC0-4DCA87EDAB31}" srcOrd="1" destOrd="0" parTransId="{9BD98277-15A9-E74A-8C69-6564D8A9A4C9}" sibTransId="{0F099655-AE27-E14F-918B-F7145D02839D}"/>
    <dgm:cxn modelId="{D3815FA5-2204-394D-BA18-1068C471677E}" type="presOf" srcId="{2DB977AD-04DB-684E-8F77-25977F5F54DF}" destId="{1EF0D25D-5398-5949-81D3-13129B8906F6}" srcOrd="1" destOrd="0" presId="urn:microsoft.com/office/officeart/2005/8/layout/hierarchy2"/>
    <dgm:cxn modelId="{ADF3C4A6-EC61-5941-839B-16DE558F5CB1}" type="presOf" srcId="{C3275F68-56A9-5341-9D5F-CC77174468E5}" destId="{8B47BD96-CC68-D54D-90D2-5ACCF860E59B}" srcOrd="1" destOrd="0" presId="urn:microsoft.com/office/officeart/2005/8/layout/hierarchy2"/>
    <dgm:cxn modelId="{96533AB0-7247-BC4C-A76D-3937BD6288E8}" type="presOf" srcId="{AEB1E7AA-E185-F04F-9E4A-7D066338D77D}" destId="{26FCA3D4-80A3-4146-AD0F-7DF2B97C60E1}" srcOrd="0" destOrd="0" presId="urn:microsoft.com/office/officeart/2005/8/layout/hierarchy2"/>
    <dgm:cxn modelId="{197EECB8-DC7D-9B47-AE8F-423B95E9BA77}" type="presOf" srcId="{C3275F68-56A9-5341-9D5F-CC77174468E5}" destId="{19AA82E6-7116-D24B-A101-DF689C2D109B}" srcOrd="0" destOrd="0" presId="urn:microsoft.com/office/officeart/2005/8/layout/hierarchy2"/>
    <dgm:cxn modelId="{E1BD3BC2-3A70-C94F-A817-F39306759A0F}" type="presOf" srcId="{5BEA35A8-2FD8-354C-B3BA-770107B5DD30}" destId="{99B6C7D5-79B2-B141-B4EC-83D090A655E1}" srcOrd="1" destOrd="0" presId="urn:microsoft.com/office/officeart/2005/8/layout/hierarchy2"/>
    <dgm:cxn modelId="{A30DAAC4-AD2E-5C40-A0BE-C4E9EEACC0A2}" type="presOf" srcId="{7E9407E5-6327-6E4A-BE82-4738EDAE5F2F}" destId="{45045404-4AAF-4548-B0D1-F5D74DFF92EE}" srcOrd="1" destOrd="0" presId="urn:microsoft.com/office/officeart/2005/8/layout/hierarchy2"/>
    <dgm:cxn modelId="{5ECAE7CE-A562-2245-80DF-62679CADF206}" type="presOf" srcId="{12D42341-7B7F-2C4E-B66C-C810EDD4A53A}" destId="{606B15C7-0F51-6E47-A4E3-5C82213CB341}" srcOrd="0" destOrd="0" presId="urn:microsoft.com/office/officeart/2005/8/layout/hierarchy2"/>
    <dgm:cxn modelId="{195DD2D0-F56A-874D-BFB5-6BB6A347F3A3}" type="presOf" srcId="{38316076-E8A3-B348-B40E-4C46127083C4}" destId="{08377530-3AE5-7345-B77F-C324A397BD32}" srcOrd="1" destOrd="0" presId="urn:microsoft.com/office/officeart/2005/8/layout/hierarchy2"/>
    <dgm:cxn modelId="{B21979D4-F33E-054D-97BE-1FB1D5BDEE02}" type="presOf" srcId="{D30DE775-0304-A74C-AD68-97A757FF4187}" destId="{9E827AB8-6B96-C944-9D49-3396720DCF87}" srcOrd="0" destOrd="0" presId="urn:microsoft.com/office/officeart/2005/8/layout/hierarchy2"/>
    <dgm:cxn modelId="{13DDC0D7-5758-6F47-B987-29BE4B5C21DD}" type="presOf" srcId="{38316076-E8A3-B348-B40E-4C46127083C4}" destId="{5F22628B-43C7-654D-A2A0-6B09A9B72386}" srcOrd="0" destOrd="0" presId="urn:microsoft.com/office/officeart/2005/8/layout/hierarchy2"/>
    <dgm:cxn modelId="{35BB54E6-1A52-B948-AC4F-B512F57EFC1F}" type="presOf" srcId="{9BD98277-15A9-E74A-8C69-6564D8A9A4C9}" destId="{E86842EA-B0FD-0549-A10F-FCF2EC26CAB8}" srcOrd="0" destOrd="0" presId="urn:microsoft.com/office/officeart/2005/8/layout/hierarchy2"/>
    <dgm:cxn modelId="{0EC3C3E9-5B00-CC41-9D3E-8CC76E3AF69F}" srcId="{A9F8E273-BE0A-FD4F-9B1D-4C54475232D8}" destId="{503B4477-D93A-7F42-B86C-408C33E9BC99}" srcOrd="0" destOrd="0" parTransId="{C5F21494-1484-AE41-9243-70D8CBCDE119}" sibTransId="{135841DE-BE15-054D-86C2-3884DE7529EE}"/>
    <dgm:cxn modelId="{90084AEA-6624-F049-A3A3-AA24C7377F11}" type="presOf" srcId="{36E1337B-1E68-0B4A-9EC0-4DCA87EDAB31}" destId="{3D3039AF-D5E3-6D45-9326-93B79686490A}" srcOrd="0" destOrd="0" presId="urn:microsoft.com/office/officeart/2005/8/layout/hierarchy2"/>
    <dgm:cxn modelId="{5292A2F1-8F15-3646-9E78-1FC4A018B1F3}" type="presOf" srcId="{7E9407E5-6327-6E4A-BE82-4738EDAE5F2F}" destId="{5C8F5449-0363-D449-BF84-6589C29A88B8}" srcOrd="0" destOrd="0" presId="urn:microsoft.com/office/officeart/2005/8/layout/hierarchy2"/>
    <dgm:cxn modelId="{89A754F3-FBBB-4444-8721-EEB2E2932CAD}" type="presOf" srcId="{97C2C969-F024-F84B-B2E9-6C9AAB5E75EB}" destId="{1A445217-D157-2A4A-BED4-428561F87325}" srcOrd="0" destOrd="0" presId="urn:microsoft.com/office/officeart/2005/8/layout/hierarchy2"/>
    <dgm:cxn modelId="{596C961B-541B-B842-B575-1457F08F0F48}" type="presParOf" srcId="{85CCB6F2-B875-544A-B96B-7CD42017176B}" destId="{223E3819-EC3D-3945-9D69-11DA029F252A}" srcOrd="0" destOrd="0" presId="urn:microsoft.com/office/officeart/2005/8/layout/hierarchy2"/>
    <dgm:cxn modelId="{9E57F551-39E7-8443-A8F8-3EBE9C58EEA3}" type="presParOf" srcId="{223E3819-EC3D-3945-9D69-11DA029F252A}" destId="{3920DE24-A4F3-8243-BF59-49D2828D71AA}" srcOrd="0" destOrd="0" presId="urn:microsoft.com/office/officeart/2005/8/layout/hierarchy2"/>
    <dgm:cxn modelId="{658B58EC-90E4-DA40-B3AC-D4A61D2DFA00}" type="presParOf" srcId="{223E3819-EC3D-3945-9D69-11DA029F252A}" destId="{E0936646-0FBA-A04A-9AEA-E244E89C3391}" srcOrd="1" destOrd="0" presId="urn:microsoft.com/office/officeart/2005/8/layout/hierarchy2"/>
    <dgm:cxn modelId="{E2C7427D-BB00-1548-A364-641FC45F756B}" type="presParOf" srcId="{E0936646-0FBA-A04A-9AEA-E244E89C3391}" destId="{5C8F5449-0363-D449-BF84-6589C29A88B8}" srcOrd="0" destOrd="0" presId="urn:microsoft.com/office/officeart/2005/8/layout/hierarchy2"/>
    <dgm:cxn modelId="{D8B0D806-03D4-194D-8964-0670CE6CB88C}" type="presParOf" srcId="{5C8F5449-0363-D449-BF84-6589C29A88B8}" destId="{45045404-4AAF-4548-B0D1-F5D74DFF92EE}" srcOrd="0" destOrd="0" presId="urn:microsoft.com/office/officeart/2005/8/layout/hierarchy2"/>
    <dgm:cxn modelId="{086EC109-61D9-E847-A240-D9655D7A1A13}" type="presParOf" srcId="{E0936646-0FBA-A04A-9AEA-E244E89C3391}" destId="{9E74C3AF-4009-2347-8097-67E1BA6B084C}" srcOrd="1" destOrd="0" presId="urn:microsoft.com/office/officeart/2005/8/layout/hierarchy2"/>
    <dgm:cxn modelId="{C486EC38-9A88-EC4D-A6E2-763491F9C034}" type="presParOf" srcId="{9E74C3AF-4009-2347-8097-67E1BA6B084C}" destId="{606B15C7-0F51-6E47-A4E3-5C82213CB341}" srcOrd="0" destOrd="0" presId="urn:microsoft.com/office/officeart/2005/8/layout/hierarchy2"/>
    <dgm:cxn modelId="{7A7F35F8-C66C-A843-9333-79921D7A2B78}" type="presParOf" srcId="{9E74C3AF-4009-2347-8097-67E1BA6B084C}" destId="{818B14AF-343F-1447-A818-464A27C4ABDC}" srcOrd="1" destOrd="0" presId="urn:microsoft.com/office/officeart/2005/8/layout/hierarchy2"/>
    <dgm:cxn modelId="{3A7486F0-71DA-3242-B6A6-565A8414D466}" type="presParOf" srcId="{E0936646-0FBA-A04A-9AEA-E244E89C3391}" destId="{19AA82E6-7116-D24B-A101-DF689C2D109B}" srcOrd="2" destOrd="0" presId="urn:microsoft.com/office/officeart/2005/8/layout/hierarchy2"/>
    <dgm:cxn modelId="{A2C5FA40-03E1-E147-BA99-3E5C27BC7670}" type="presParOf" srcId="{19AA82E6-7116-D24B-A101-DF689C2D109B}" destId="{8B47BD96-CC68-D54D-90D2-5ACCF860E59B}" srcOrd="0" destOrd="0" presId="urn:microsoft.com/office/officeart/2005/8/layout/hierarchy2"/>
    <dgm:cxn modelId="{ADCE0030-B94E-E742-892E-28D36F2874CB}" type="presParOf" srcId="{E0936646-0FBA-A04A-9AEA-E244E89C3391}" destId="{A95B37D4-48F3-4C4A-B541-DC6E7C4E4C8F}" srcOrd="3" destOrd="0" presId="urn:microsoft.com/office/officeart/2005/8/layout/hierarchy2"/>
    <dgm:cxn modelId="{97C9E72B-EDD3-8541-B56D-7BB673478D29}" type="presParOf" srcId="{A95B37D4-48F3-4C4A-B541-DC6E7C4E4C8F}" destId="{399A2B7F-27ED-6F4E-BBB8-0387C8782D7D}" srcOrd="0" destOrd="0" presId="urn:microsoft.com/office/officeart/2005/8/layout/hierarchy2"/>
    <dgm:cxn modelId="{25342EBA-D852-AE4C-B7F5-AE3E55935A78}" type="presParOf" srcId="{A95B37D4-48F3-4C4A-B541-DC6E7C4E4C8F}" destId="{3C70055D-2491-094F-AB99-5CD2F42B1242}" srcOrd="1" destOrd="0" presId="urn:microsoft.com/office/officeart/2005/8/layout/hierarchy2"/>
    <dgm:cxn modelId="{907D1A81-D809-004A-8B57-0822DC0FA516}" type="presParOf" srcId="{E0936646-0FBA-A04A-9AEA-E244E89C3391}" destId="{6D4D5166-0138-914E-B7BB-7C0DEFF12E3C}" srcOrd="4" destOrd="0" presId="urn:microsoft.com/office/officeart/2005/8/layout/hierarchy2"/>
    <dgm:cxn modelId="{E57C7F6A-6E1B-5741-AEEE-5D5DC090DB8D}" type="presParOf" srcId="{6D4D5166-0138-914E-B7BB-7C0DEFF12E3C}" destId="{1EF0D25D-5398-5949-81D3-13129B8906F6}" srcOrd="0" destOrd="0" presId="urn:microsoft.com/office/officeart/2005/8/layout/hierarchy2"/>
    <dgm:cxn modelId="{572FB8C0-CC84-A24A-976B-78DB391255D7}" type="presParOf" srcId="{E0936646-0FBA-A04A-9AEA-E244E89C3391}" destId="{C3283389-AAA9-904E-838C-ED52381F0D93}" srcOrd="5" destOrd="0" presId="urn:microsoft.com/office/officeart/2005/8/layout/hierarchy2"/>
    <dgm:cxn modelId="{40162651-4B7A-AE4E-A06D-22A34A295F7A}" type="presParOf" srcId="{C3283389-AAA9-904E-838C-ED52381F0D93}" destId="{26FCA3D4-80A3-4146-AD0F-7DF2B97C60E1}" srcOrd="0" destOrd="0" presId="urn:microsoft.com/office/officeart/2005/8/layout/hierarchy2"/>
    <dgm:cxn modelId="{7313432A-761E-B442-8A73-556810CE7BD9}" type="presParOf" srcId="{C3283389-AAA9-904E-838C-ED52381F0D93}" destId="{E337CE80-2FDE-4144-92D7-0332FE3C3196}" srcOrd="1" destOrd="0" presId="urn:microsoft.com/office/officeart/2005/8/layout/hierarchy2"/>
    <dgm:cxn modelId="{39641F7B-DCAA-9841-BF6C-AF099C78D881}" type="presParOf" srcId="{E337CE80-2FDE-4144-92D7-0332FE3C3196}" destId="{91A45641-046B-E84C-B679-71B81377956E}" srcOrd="0" destOrd="0" presId="urn:microsoft.com/office/officeart/2005/8/layout/hierarchy2"/>
    <dgm:cxn modelId="{FA32DBFC-854A-2848-B0EC-D546C205EE4B}" type="presParOf" srcId="{91A45641-046B-E84C-B679-71B81377956E}" destId="{4BBAFFCE-0BE7-2749-B8E9-D084B1D3C21A}" srcOrd="0" destOrd="0" presId="urn:microsoft.com/office/officeart/2005/8/layout/hierarchy2"/>
    <dgm:cxn modelId="{94BB48DF-6D96-134A-BB47-4EF373D90760}" type="presParOf" srcId="{E337CE80-2FDE-4144-92D7-0332FE3C3196}" destId="{8B5F0826-5F56-B142-AF44-608577CA2B1D}" srcOrd="1" destOrd="0" presId="urn:microsoft.com/office/officeart/2005/8/layout/hierarchy2"/>
    <dgm:cxn modelId="{2E98FA98-0303-A448-85E6-267DFC6A48A5}" type="presParOf" srcId="{8B5F0826-5F56-B142-AF44-608577CA2B1D}" destId="{FB984913-0373-934C-87F5-C9529CE87DCC}" srcOrd="0" destOrd="0" presId="urn:microsoft.com/office/officeart/2005/8/layout/hierarchy2"/>
    <dgm:cxn modelId="{0354E17E-6390-E642-919C-0C9C573EB63D}" type="presParOf" srcId="{8B5F0826-5F56-B142-AF44-608577CA2B1D}" destId="{9F675582-16FB-484F-A08D-6D32CDAF5B78}" srcOrd="1" destOrd="0" presId="urn:microsoft.com/office/officeart/2005/8/layout/hierarchy2"/>
    <dgm:cxn modelId="{1261841C-050B-D643-BC7F-9F93451F26D4}" type="presParOf" srcId="{E337CE80-2FDE-4144-92D7-0332FE3C3196}" destId="{5F22628B-43C7-654D-A2A0-6B09A9B72386}" srcOrd="2" destOrd="0" presId="urn:microsoft.com/office/officeart/2005/8/layout/hierarchy2"/>
    <dgm:cxn modelId="{940141D5-AAB5-DE46-87C5-DAA0BAA4A882}" type="presParOf" srcId="{5F22628B-43C7-654D-A2A0-6B09A9B72386}" destId="{08377530-3AE5-7345-B77F-C324A397BD32}" srcOrd="0" destOrd="0" presId="urn:microsoft.com/office/officeart/2005/8/layout/hierarchy2"/>
    <dgm:cxn modelId="{EEA870AD-9E3D-6B4F-AC11-F178D9CB7FEB}" type="presParOf" srcId="{E337CE80-2FDE-4144-92D7-0332FE3C3196}" destId="{BD0665A6-FB64-5C4A-9B91-4599BF1CD177}" srcOrd="3" destOrd="0" presId="urn:microsoft.com/office/officeart/2005/8/layout/hierarchy2"/>
    <dgm:cxn modelId="{12AF9DF7-78D5-E04E-90EA-0CB1D611B348}" type="presParOf" srcId="{BD0665A6-FB64-5C4A-9B91-4599BF1CD177}" destId="{9E827AB8-6B96-C944-9D49-3396720DCF87}" srcOrd="0" destOrd="0" presId="urn:microsoft.com/office/officeart/2005/8/layout/hierarchy2"/>
    <dgm:cxn modelId="{75DB9CAA-7A77-C749-80BA-71FF405A73E0}" type="presParOf" srcId="{BD0665A6-FB64-5C4A-9B91-4599BF1CD177}" destId="{3FF83684-BB7E-1B48-B8D3-EB1308E68BE4}" srcOrd="1" destOrd="0" presId="urn:microsoft.com/office/officeart/2005/8/layout/hierarchy2"/>
    <dgm:cxn modelId="{BA333087-BFB3-1541-9A84-F406DB796A65}" type="presParOf" srcId="{E0936646-0FBA-A04A-9AEA-E244E89C3391}" destId="{65A9DB2E-93FA-794C-AA60-A807A468EC2C}" srcOrd="6" destOrd="0" presId="urn:microsoft.com/office/officeart/2005/8/layout/hierarchy2"/>
    <dgm:cxn modelId="{06E98C8B-6D91-B442-87D2-A1FB3D5247F1}" type="presParOf" srcId="{65A9DB2E-93FA-794C-AA60-A807A468EC2C}" destId="{99B6C7D5-79B2-B141-B4EC-83D090A655E1}" srcOrd="0" destOrd="0" presId="urn:microsoft.com/office/officeart/2005/8/layout/hierarchy2"/>
    <dgm:cxn modelId="{DD204C10-BBA4-DF4A-A091-60BEA8075F0F}" type="presParOf" srcId="{E0936646-0FBA-A04A-9AEA-E244E89C3391}" destId="{C3A2648F-8B28-2443-82B8-6DBF24DEBFF1}" srcOrd="7" destOrd="0" presId="urn:microsoft.com/office/officeart/2005/8/layout/hierarchy2"/>
    <dgm:cxn modelId="{0304DF6B-C2A9-3441-B848-530CE47E71BE}" type="presParOf" srcId="{C3A2648F-8B28-2443-82B8-6DBF24DEBFF1}" destId="{92F5E5FD-1BA5-CF46-B203-7282324AE277}" srcOrd="0" destOrd="0" presId="urn:microsoft.com/office/officeart/2005/8/layout/hierarchy2"/>
    <dgm:cxn modelId="{4BCE4E87-E998-3447-8215-C39B6423A64E}" type="presParOf" srcId="{C3A2648F-8B28-2443-82B8-6DBF24DEBFF1}" destId="{B0FFF429-A2BC-1B48-B058-0F20217616B6}" srcOrd="1" destOrd="0" presId="urn:microsoft.com/office/officeart/2005/8/layout/hierarchy2"/>
    <dgm:cxn modelId="{5F7EAC0B-2A71-1E4B-8642-8F11B3554CF5}" type="presParOf" srcId="{B0FFF429-A2BC-1B48-B058-0F20217616B6}" destId="{1A445217-D157-2A4A-BED4-428561F87325}" srcOrd="0" destOrd="0" presId="urn:microsoft.com/office/officeart/2005/8/layout/hierarchy2"/>
    <dgm:cxn modelId="{2353E8F2-76E8-2747-A489-A51E56757850}" type="presParOf" srcId="{1A445217-D157-2A4A-BED4-428561F87325}" destId="{9B2504E4-008B-4E40-ABA7-9D3989A053CD}" srcOrd="0" destOrd="0" presId="urn:microsoft.com/office/officeart/2005/8/layout/hierarchy2"/>
    <dgm:cxn modelId="{D17EFC5F-DF8E-6A49-9E95-4A5EC8B5E21C}" type="presParOf" srcId="{B0FFF429-A2BC-1B48-B058-0F20217616B6}" destId="{3BC44585-B572-6947-A796-94336299C963}" srcOrd="1" destOrd="0" presId="urn:microsoft.com/office/officeart/2005/8/layout/hierarchy2"/>
    <dgm:cxn modelId="{11C7FABF-0644-E84F-83B9-B2FC61C28D97}" type="presParOf" srcId="{3BC44585-B572-6947-A796-94336299C963}" destId="{7A146E09-DEC6-C743-A4BE-6D5379DA49E6}" srcOrd="0" destOrd="0" presId="urn:microsoft.com/office/officeart/2005/8/layout/hierarchy2"/>
    <dgm:cxn modelId="{BFB2A59A-3AA3-F141-A6C7-9F232C606A94}" type="presParOf" srcId="{3BC44585-B572-6947-A796-94336299C963}" destId="{915052AF-12B4-AC4A-A742-129E733BE5AC}" srcOrd="1" destOrd="0" presId="urn:microsoft.com/office/officeart/2005/8/layout/hierarchy2"/>
    <dgm:cxn modelId="{E9E3FE02-4D7B-BF46-A988-7AD4D39065D9}" type="presParOf" srcId="{B0FFF429-A2BC-1B48-B058-0F20217616B6}" destId="{E86842EA-B0FD-0549-A10F-FCF2EC26CAB8}" srcOrd="2" destOrd="0" presId="urn:microsoft.com/office/officeart/2005/8/layout/hierarchy2"/>
    <dgm:cxn modelId="{7EE635FB-D758-914C-9C12-CEE972CD4AF5}" type="presParOf" srcId="{E86842EA-B0FD-0549-A10F-FCF2EC26CAB8}" destId="{E5BA0F76-6C42-6043-9F1A-8889CB6DBAF9}" srcOrd="0" destOrd="0" presId="urn:microsoft.com/office/officeart/2005/8/layout/hierarchy2"/>
    <dgm:cxn modelId="{A4A114C8-F2D2-214F-AD71-B85F6CCDFCB8}" type="presParOf" srcId="{B0FFF429-A2BC-1B48-B058-0F20217616B6}" destId="{68BD81BE-6869-8148-B91F-43833221DAAB}" srcOrd="3" destOrd="0" presId="urn:microsoft.com/office/officeart/2005/8/layout/hierarchy2"/>
    <dgm:cxn modelId="{8DBBB9F6-0434-3D49-8FBB-E35FF02D131C}" type="presParOf" srcId="{68BD81BE-6869-8148-B91F-43833221DAAB}" destId="{3D3039AF-D5E3-6D45-9326-93B79686490A}" srcOrd="0" destOrd="0" presId="urn:microsoft.com/office/officeart/2005/8/layout/hierarchy2"/>
    <dgm:cxn modelId="{34F2F31F-871A-314E-B197-A96C37E133D6}" type="presParOf" srcId="{68BD81BE-6869-8148-B91F-43833221DAAB}" destId="{65529A34-774E-FC42-B484-2104770BC4CE}" srcOrd="1" destOrd="0" presId="urn:microsoft.com/office/officeart/2005/8/layout/hierarchy2"/>
    <dgm:cxn modelId="{DB4B748C-B116-5C43-B6D9-F02A107D8535}" type="presParOf" srcId="{B0FFF429-A2BC-1B48-B058-0F20217616B6}" destId="{EDAF70EC-E46F-5D49-B5A8-8075CC204878}" srcOrd="4" destOrd="0" presId="urn:microsoft.com/office/officeart/2005/8/layout/hierarchy2"/>
    <dgm:cxn modelId="{A42B36B8-A21A-5944-BA64-903C5EBB73CA}" type="presParOf" srcId="{EDAF70EC-E46F-5D49-B5A8-8075CC204878}" destId="{71964065-9C4F-9645-AE92-094054A7BA48}" srcOrd="0" destOrd="0" presId="urn:microsoft.com/office/officeart/2005/8/layout/hierarchy2"/>
    <dgm:cxn modelId="{56529BE7-4F9E-E244-B44E-20B5BCBF359F}" type="presParOf" srcId="{B0FFF429-A2BC-1B48-B058-0F20217616B6}" destId="{09B80A6C-3C3B-F843-8FFD-A476472FFAAA}" srcOrd="5" destOrd="0" presId="urn:microsoft.com/office/officeart/2005/8/layout/hierarchy2"/>
    <dgm:cxn modelId="{F30AA901-13DC-0D48-A669-7162C42762EA}" type="presParOf" srcId="{09B80A6C-3C3B-F843-8FFD-A476472FFAAA}" destId="{7A1A6E61-9F56-C348-A490-4BE3DAD49850}" srcOrd="0" destOrd="0" presId="urn:microsoft.com/office/officeart/2005/8/layout/hierarchy2"/>
    <dgm:cxn modelId="{FBCEE317-E280-9E41-84EB-8E75C68D4E9A}" type="presParOf" srcId="{09B80A6C-3C3B-F843-8FFD-A476472FFAAA}" destId="{82CF9E1A-6B42-A240-AF17-6D8AE409D03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0DE24-A4F3-8243-BF59-49D2828D71AA}">
      <dsp:nvSpPr>
        <dsp:cNvPr id="0" name=""/>
        <dsp:cNvSpPr/>
      </dsp:nvSpPr>
      <dsp:spPr>
        <a:xfrm>
          <a:off x="6398" y="3080557"/>
          <a:ext cx="221494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strategies</a:t>
          </a:r>
          <a:endParaRPr lang="zh-TW" altLang="en-US" sz="2000" kern="1200" dirty="0"/>
        </a:p>
      </dsp:txBody>
      <dsp:txXfrm>
        <a:off x="30736" y="3104895"/>
        <a:ext cx="2166273" cy="782299"/>
      </dsp:txXfrm>
    </dsp:sp>
    <dsp:sp modelId="{5C8F5449-0363-D449-BF84-6589C29A88B8}">
      <dsp:nvSpPr>
        <dsp:cNvPr id="0" name=""/>
        <dsp:cNvSpPr/>
      </dsp:nvSpPr>
      <dsp:spPr>
        <a:xfrm rot="17132981">
          <a:off x="1313818" y="2291949"/>
          <a:ext cx="2479840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2479840" y="95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491742" y="2239512"/>
        <a:ext cx="123992" cy="123992"/>
      </dsp:txXfrm>
    </dsp:sp>
    <dsp:sp modelId="{606B15C7-0F51-6E47-A4E3-5C82213CB341}">
      <dsp:nvSpPr>
        <dsp:cNvPr id="0" name=""/>
        <dsp:cNvSpPr/>
      </dsp:nvSpPr>
      <dsp:spPr>
        <a:xfrm>
          <a:off x="2886128" y="568208"/>
          <a:ext cx="1795871" cy="1077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Surface</a:t>
          </a:r>
          <a:r>
            <a:rPr lang="zh-TW" altLang="en-US" sz="2000" kern="1200" dirty="0"/>
            <a:t> </a:t>
          </a:r>
          <a:r>
            <a:rPr lang="en-US" altLang="zh-TW" sz="2000" kern="1200" dirty="0"/>
            <a:t>coating</a:t>
          </a:r>
        </a:p>
      </dsp:txBody>
      <dsp:txXfrm>
        <a:off x="2917688" y="599768"/>
        <a:ext cx="1732751" cy="1014406"/>
      </dsp:txXfrm>
    </dsp:sp>
    <dsp:sp modelId="{19AA82E6-7116-D24B-A101-DF689C2D109B}">
      <dsp:nvSpPr>
        <dsp:cNvPr id="0" name=""/>
        <dsp:cNvSpPr/>
      </dsp:nvSpPr>
      <dsp:spPr>
        <a:xfrm rot="17948421">
          <a:off x="1871142" y="2890286"/>
          <a:ext cx="1365191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1365191" y="95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519608" y="2865716"/>
        <a:ext cx="68259" cy="68259"/>
      </dsp:txXfrm>
    </dsp:sp>
    <dsp:sp modelId="{399A2B7F-27ED-6F4E-BBB8-0387C8782D7D}">
      <dsp:nvSpPr>
        <dsp:cNvPr id="0" name=""/>
        <dsp:cNvSpPr/>
      </dsp:nvSpPr>
      <dsp:spPr>
        <a:xfrm>
          <a:off x="2886128" y="1770381"/>
          <a:ext cx="1777556" cy="1066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element</a:t>
          </a:r>
          <a:r>
            <a:rPr lang="zh-TW" altLang="en-US" sz="2000" kern="1200" dirty="0"/>
            <a:t> </a:t>
          </a:r>
          <a:r>
            <a:rPr lang="en-US" altLang="zh-TW" sz="2000" kern="1200" dirty="0"/>
            <a:t>doping</a:t>
          </a:r>
          <a:endParaRPr lang="zh-TW" altLang="en-US" sz="2000" kern="1200" dirty="0"/>
        </a:p>
      </dsp:txBody>
      <dsp:txXfrm>
        <a:off x="2917366" y="1801619"/>
        <a:ext cx="1715080" cy="1004056"/>
      </dsp:txXfrm>
    </dsp:sp>
    <dsp:sp modelId="{6D4D5166-0138-914E-B7BB-7C0DEFF12E3C}">
      <dsp:nvSpPr>
        <dsp:cNvPr id="0" name=""/>
        <dsp:cNvSpPr/>
      </dsp:nvSpPr>
      <dsp:spPr>
        <a:xfrm rot="21593694">
          <a:off x="2221347" y="3485876"/>
          <a:ext cx="664781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664781" y="95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537118" y="3478816"/>
        <a:ext cx="33239" cy="33239"/>
      </dsp:txXfrm>
    </dsp:sp>
    <dsp:sp modelId="{26FCA3D4-80A3-4146-AD0F-7DF2B97C60E1}">
      <dsp:nvSpPr>
        <dsp:cNvPr id="0" name=""/>
        <dsp:cNvSpPr/>
      </dsp:nvSpPr>
      <dsp:spPr>
        <a:xfrm>
          <a:off x="2886128" y="2961560"/>
          <a:ext cx="1799993" cy="1066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nano</a:t>
          </a:r>
          <a:r>
            <a:rPr lang="zh-TW" altLang="en-US" sz="2000" kern="1200" dirty="0"/>
            <a:t> </a:t>
          </a:r>
          <a:r>
            <a:rPr lang="en-US" altLang="zh-TW" sz="2000" kern="1200" dirty="0"/>
            <a:t>crystallization</a:t>
          </a:r>
          <a:endParaRPr lang="zh-TW" altLang="en-US" sz="2000" kern="1200" dirty="0"/>
        </a:p>
      </dsp:txBody>
      <dsp:txXfrm>
        <a:off x="2917366" y="2992798"/>
        <a:ext cx="1737517" cy="1004056"/>
      </dsp:txXfrm>
    </dsp:sp>
    <dsp:sp modelId="{91A45641-046B-E84C-B679-71B81377956E}">
      <dsp:nvSpPr>
        <dsp:cNvPr id="0" name=""/>
        <dsp:cNvSpPr/>
      </dsp:nvSpPr>
      <dsp:spPr>
        <a:xfrm rot="19457599">
          <a:off x="4609171" y="3246360"/>
          <a:ext cx="818679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818679" y="95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4998044" y="3235453"/>
        <a:ext cx="40933" cy="40933"/>
      </dsp:txXfrm>
    </dsp:sp>
    <dsp:sp modelId="{FB984913-0373-934C-87F5-C9529CE87DCC}">
      <dsp:nvSpPr>
        <dsp:cNvPr id="0" name=""/>
        <dsp:cNvSpPr/>
      </dsp:nvSpPr>
      <dsp:spPr>
        <a:xfrm>
          <a:off x="5350902" y="2601527"/>
          <a:ext cx="531069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50000"/>
            <a:buFont typeface="Wingdings" pitchFamily="2" charset="2"/>
            <a:buNone/>
          </a:pPr>
          <a:r>
            <a:rPr lang="en-US" altLang="zh-TW" sz="2000" b="1" kern="1200" dirty="0"/>
            <a:t>short ion transport paths</a:t>
          </a:r>
          <a:endParaRPr lang="zh-TW" altLang="en-US" sz="2000" kern="1200" dirty="0"/>
        </a:p>
      </dsp:txBody>
      <dsp:txXfrm>
        <a:off x="5375240" y="2625865"/>
        <a:ext cx="5262023" cy="782299"/>
      </dsp:txXfrm>
    </dsp:sp>
    <dsp:sp modelId="{5F22628B-43C7-654D-A2A0-6B09A9B72386}">
      <dsp:nvSpPr>
        <dsp:cNvPr id="0" name=""/>
        <dsp:cNvSpPr/>
      </dsp:nvSpPr>
      <dsp:spPr>
        <a:xfrm rot="2142401">
          <a:off x="4609171" y="3724171"/>
          <a:ext cx="818679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818679" y="95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4998044" y="3713264"/>
        <a:ext cx="40933" cy="40933"/>
      </dsp:txXfrm>
    </dsp:sp>
    <dsp:sp modelId="{9E827AB8-6B96-C944-9D49-3396720DCF87}">
      <dsp:nvSpPr>
        <dsp:cNvPr id="0" name=""/>
        <dsp:cNvSpPr/>
      </dsp:nvSpPr>
      <dsp:spPr>
        <a:xfrm>
          <a:off x="5350902" y="3557149"/>
          <a:ext cx="531069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50000"/>
            <a:buFont typeface="Wingdings" pitchFamily="2" charset="2"/>
            <a:buNone/>
          </a:pPr>
          <a:r>
            <a:rPr lang="en-US" altLang="zh-TW" sz="2000" b="1" kern="1200"/>
            <a:t>efficient active mass–electrolyte contact </a:t>
          </a:r>
          <a:endParaRPr lang="zh-TW" altLang="en-US" sz="2000" kern="1200" dirty="0"/>
        </a:p>
      </dsp:txBody>
      <dsp:txXfrm>
        <a:off x="5375240" y="3581487"/>
        <a:ext cx="5262023" cy="782299"/>
      </dsp:txXfrm>
    </dsp:sp>
    <dsp:sp modelId="{65A9DB2E-93FA-794C-AA60-A807A468EC2C}">
      <dsp:nvSpPr>
        <dsp:cNvPr id="0" name=""/>
        <dsp:cNvSpPr/>
      </dsp:nvSpPr>
      <dsp:spPr>
        <a:xfrm rot="4466558">
          <a:off x="1314414" y="4680403"/>
          <a:ext cx="2478647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2478647" y="95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491771" y="4627997"/>
        <a:ext cx="123932" cy="123932"/>
      </dsp:txXfrm>
    </dsp:sp>
    <dsp:sp modelId="{92F5E5FD-1BA5-CF46-B203-7282324AE277}">
      <dsp:nvSpPr>
        <dsp:cNvPr id="0" name=""/>
        <dsp:cNvSpPr/>
      </dsp:nvSpPr>
      <dsp:spPr>
        <a:xfrm>
          <a:off x="2886128" y="5343880"/>
          <a:ext cx="1799993" cy="1080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morphology</a:t>
          </a:r>
          <a:r>
            <a:rPr lang="zh-TW" altLang="en-US" sz="2000" kern="1200" dirty="0"/>
            <a:t> </a:t>
          </a:r>
          <a:r>
            <a:rPr lang="en-US" altLang="zh-TW" sz="2000" kern="1200" dirty="0"/>
            <a:t>control</a:t>
          </a:r>
          <a:endParaRPr lang="zh-TW" altLang="en-US" sz="2000" kern="1200" dirty="0"/>
        </a:p>
      </dsp:txBody>
      <dsp:txXfrm>
        <a:off x="2917760" y="5375512"/>
        <a:ext cx="1736729" cy="1016738"/>
      </dsp:txXfrm>
    </dsp:sp>
    <dsp:sp modelId="{1A445217-D157-2A4A-BED4-428561F87325}">
      <dsp:nvSpPr>
        <dsp:cNvPr id="0" name=""/>
        <dsp:cNvSpPr/>
      </dsp:nvSpPr>
      <dsp:spPr>
        <a:xfrm rot="18289469">
          <a:off x="4436457" y="5396510"/>
          <a:ext cx="1164107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1164107" y="95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4989409" y="5376967"/>
        <a:ext cx="58205" cy="58205"/>
      </dsp:txXfrm>
    </dsp:sp>
    <dsp:sp modelId="{7A146E09-DEC6-C743-A4BE-6D5379DA49E6}">
      <dsp:nvSpPr>
        <dsp:cNvPr id="0" name=""/>
        <dsp:cNvSpPr/>
      </dsp:nvSpPr>
      <dsp:spPr>
        <a:xfrm>
          <a:off x="5350902" y="4512771"/>
          <a:ext cx="531069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50000"/>
            <a:buFont typeface="Wingdings" pitchFamily="2" charset="2"/>
            <a:buNone/>
          </a:pPr>
          <a:r>
            <a:rPr lang="en-US" altLang="zh-TW" sz="2000" b="1" kern="1200" dirty="0"/>
            <a:t>releases the strain during charge/discharge processes. </a:t>
          </a:r>
          <a:endParaRPr lang="zh-TW" altLang="en-US" sz="2000" kern="1200" dirty="0"/>
        </a:p>
      </dsp:txBody>
      <dsp:txXfrm>
        <a:off x="5375240" y="4537109"/>
        <a:ext cx="5262023" cy="782299"/>
      </dsp:txXfrm>
    </dsp:sp>
    <dsp:sp modelId="{E86842EA-B0FD-0549-A10F-FCF2EC26CAB8}">
      <dsp:nvSpPr>
        <dsp:cNvPr id="0" name=""/>
        <dsp:cNvSpPr/>
      </dsp:nvSpPr>
      <dsp:spPr>
        <a:xfrm>
          <a:off x="4686121" y="5874321"/>
          <a:ext cx="664780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664780" y="95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5001892" y="5867261"/>
        <a:ext cx="33239" cy="33239"/>
      </dsp:txXfrm>
    </dsp:sp>
    <dsp:sp modelId="{3D3039AF-D5E3-6D45-9326-93B79686490A}">
      <dsp:nvSpPr>
        <dsp:cNvPr id="0" name=""/>
        <dsp:cNvSpPr/>
      </dsp:nvSpPr>
      <dsp:spPr>
        <a:xfrm>
          <a:off x="5350902" y="5468393"/>
          <a:ext cx="531069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50000"/>
            <a:buFont typeface="Wingdings" pitchFamily="2" charset="2"/>
            <a:buNone/>
          </a:pPr>
          <a:r>
            <a:rPr lang="en-US" altLang="zh-TW" sz="2000" b="1" kern="1200"/>
            <a:t>reduces agglomeration upon cycling </a:t>
          </a:r>
          <a:endParaRPr lang="zh-TW" altLang="en-US" sz="2000" kern="1200" dirty="0"/>
        </a:p>
      </dsp:txBody>
      <dsp:txXfrm>
        <a:off x="5375240" y="5492731"/>
        <a:ext cx="5262023" cy="782299"/>
      </dsp:txXfrm>
    </dsp:sp>
    <dsp:sp modelId="{EDAF70EC-E46F-5D49-B5A8-8075CC204878}">
      <dsp:nvSpPr>
        <dsp:cNvPr id="0" name=""/>
        <dsp:cNvSpPr/>
      </dsp:nvSpPr>
      <dsp:spPr>
        <a:xfrm rot="3310531">
          <a:off x="4436457" y="6352132"/>
          <a:ext cx="1164107" cy="19119"/>
        </a:xfrm>
        <a:custGeom>
          <a:avLst/>
          <a:gdLst/>
          <a:ahLst/>
          <a:cxnLst/>
          <a:rect l="0" t="0" r="0" b="0"/>
          <a:pathLst>
            <a:path>
              <a:moveTo>
                <a:pt x="0" y="9559"/>
              </a:moveTo>
              <a:lnTo>
                <a:pt x="1164107" y="95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4989409" y="6332589"/>
        <a:ext cx="58205" cy="58205"/>
      </dsp:txXfrm>
    </dsp:sp>
    <dsp:sp modelId="{7A1A6E61-9F56-C348-A490-4BE3DAD49850}">
      <dsp:nvSpPr>
        <dsp:cNvPr id="0" name=""/>
        <dsp:cNvSpPr/>
      </dsp:nvSpPr>
      <dsp:spPr>
        <a:xfrm>
          <a:off x="5350902" y="6424015"/>
          <a:ext cx="5310699" cy="830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50000"/>
            <a:buFont typeface="Wingdings" pitchFamily="2" charset="2"/>
            <a:buNone/>
          </a:pPr>
          <a:r>
            <a:rPr lang="en-US" altLang="zh-TW" sz="2000" b="1" kern="1200"/>
            <a:t>decreases interfacial contact resistance </a:t>
          </a:r>
          <a:endParaRPr lang="zh-TW" altLang="en-US" sz="2000" kern="1200" dirty="0"/>
        </a:p>
      </dsp:txBody>
      <dsp:txXfrm>
        <a:off x="5375240" y="6448353"/>
        <a:ext cx="5262023" cy="782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C7ADD95A-7E53-41DC-8C92-90975A59A9E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0D723CDE-57FB-410B-815C-208ECE146B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18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Microstructure</a:t>
            </a:r>
            <a:r>
              <a:rPr kumimoji="1" lang="zh-TW" altLang="en-US" dirty="0"/>
              <a:t> </a:t>
            </a:r>
            <a:r>
              <a:rPr kumimoji="1" lang="en-US" altLang="zh-TW" dirty="0"/>
              <a:t>investigate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287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/>
              <a:t>Microstructure</a:t>
            </a:r>
            <a:r>
              <a:rPr kumimoji="1" lang="zh-TW" altLang="en-US" dirty="0"/>
              <a:t> </a:t>
            </a:r>
            <a:r>
              <a:rPr kumimoji="1" lang="en-US" altLang="zh-TW" dirty="0"/>
              <a:t>investigate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964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71;21;8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96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hierarchical porous CHP- LMNO with active planes will provide a more unhindered pathway for Li+ transport, thus enhancing the reactive kinetics and the porous structure accommodates enough space to buffer volume changes during repeated cycling. 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399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structure</a:t>
            </a:r>
            <a:r>
              <a:rPr kumimoji="1" lang="zh-TW" altLang="en-US" dirty="0"/>
              <a:t> </a:t>
            </a:r>
            <a:r>
              <a:rPr kumimoji="1" lang="en-US" altLang="zh-TW" dirty="0"/>
              <a:t>investigate</a:t>
            </a:r>
          </a:p>
          <a:p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在結晶學中，如果材料內部混雜了不同的相、或者金屬離子排列極度混亂導致周圍化學環境差異過大，該振動頻率就會產生分歧，導致原本的一個峰裂變成兩個以上的重疊峰。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770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0A01-EB70-3937-5F14-0714A3F0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407928-50ED-CF0F-CF32-A792E7F7D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4D5820-7727-28A8-1406-D7DE339F3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structure</a:t>
            </a:r>
            <a:r>
              <a:rPr kumimoji="1" lang="zh-TW" altLang="en-US" dirty="0"/>
              <a:t> </a:t>
            </a:r>
            <a:r>
              <a:rPr kumimoji="1" lang="en-US" altLang="zh-TW" dirty="0"/>
              <a:t>investigate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187195-67D3-C2D5-35E6-A28859E08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Chemical states of the resulting composition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015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102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9255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171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976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31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低頻率為鋰離子擴散，</a:t>
            </a:r>
            <a:r>
              <a:rPr kumimoji="1" lang="en-US" altLang="zh-TW" dirty="0"/>
              <a:t>10</a:t>
            </a:r>
            <a:r>
              <a:rPr kumimoji="1" lang="zh-TW" altLang="en-US" dirty="0"/>
              <a:t>圈</a:t>
            </a:r>
            <a:r>
              <a:rPr kumimoji="1" lang="en-US" altLang="zh-TW" dirty="0"/>
              <a:t>200</a:t>
            </a:r>
            <a:r>
              <a:rPr kumimoji="1" lang="zh-TW" altLang="en-US" dirty="0"/>
              <a:t>圈</a:t>
            </a:r>
            <a:r>
              <a:rPr kumimoji="1" lang="en-US" altLang="zh-TW" dirty="0"/>
              <a:t>CHP</a:t>
            </a:r>
            <a:r>
              <a:rPr kumimoji="1" lang="zh-TW" altLang="en-US" dirty="0"/>
              <a:t>幾乎不變，顯示良好擴散速率</a:t>
            </a:r>
            <a:endParaRPr kumimoji="1" lang="en-US" altLang="zh-TW" dirty="0"/>
          </a:p>
          <a:p>
            <a:r>
              <a:rPr kumimoji="1" lang="zh-TW" altLang="en-US" dirty="0"/>
              <a:t>原本的大幅增加，顯示良好保持率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458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23CDE-57FB-410B-815C-208ECE146BCB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19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67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63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46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20800" y="1143000"/>
            <a:ext cx="5232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6400" y="1143000"/>
            <a:ext cx="5232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6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14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88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90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03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551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36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321800" y="304800"/>
            <a:ext cx="2667000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320800" y="304800"/>
            <a:ext cx="7797800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834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標題，兩項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464800" cy="685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320800" y="1143000"/>
            <a:ext cx="5232400" cy="2400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756400" y="1143000"/>
            <a:ext cx="5232400" cy="2400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half" idx="3"/>
          </p:nvPr>
        </p:nvSpPr>
        <p:spPr>
          <a:xfrm>
            <a:off x="1320800" y="3695700"/>
            <a:ext cx="10668000" cy="2400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628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464800" cy="685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320800" y="1143000"/>
            <a:ext cx="10668000" cy="4953000"/>
          </a:xfrm>
        </p:spPr>
        <p:txBody>
          <a:bodyPr/>
          <a:lstStyle/>
          <a:p>
            <a:pPr lvl="0"/>
            <a:r>
              <a:rPr lang="zh-TW" altLang="en-US" noProof="0"/>
              <a:t>按一下圖示以新增表格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57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0"/>
            <a:ext cx="1046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539506" y="4733365"/>
            <a:ext cx="1016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>
                <a:latin typeface="Times New Roman" panose="02020603050405020304" pitchFamily="18" charset="0"/>
              </a:defRPr>
            </a:lvl1pPr>
          </a:lstStyle>
          <a:p>
            <a:fld id="{9864EBAF-6239-418B-94D1-0B6FC928848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0800" y="1143000"/>
            <a:ext cx="10668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030" name="Picture 10" descr="D:\Chen\PhotoImpact編輯檔\投影片bar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155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876C77A-5799-44A5-97E9-0AAD3C24FAA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181975" y="6210767"/>
            <a:ext cx="4010025" cy="64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9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w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9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578323A-FE87-4284-9D80-D4220DDF6429}"/>
              </a:ext>
            </a:extLst>
          </p:cNvPr>
          <p:cNvSpPr txBox="1">
            <a:spLocks/>
          </p:cNvSpPr>
          <p:nvPr/>
        </p:nvSpPr>
        <p:spPr bwMode="auto">
          <a:xfrm>
            <a:off x="1341966" y="1718991"/>
            <a:ext cx="9508067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r>
              <a:rPr lang="en-US" altLang="zh-TW" b="1" dirty="0"/>
              <a:t>A cross-like hierarchical porous lithium-rich layered oxide with (110)-oriented crystal planes as a high energy density cathode for lithium ion batteries </a:t>
            </a:r>
            <a:endParaRPr lang="en-US" altLang="zh-TW" sz="54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4998F32-70F3-84D6-22F7-D096A2D2FE2C}"/>
              </a:ext>
            </a:extLst>
          </p:cNvPr>
          <p:cNvSpPr txBox="1"/>
          <p:nvPr/>
        </p:nvSpPr>
        <p:spPr>
          <a:xfrm>
            <a:off x="5624652" y="4497859"/>
            <a:ext cx="942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/>
              <a:t>IF</a:t>
            </a:r>
            <a:r>
              <a:rPr kumimoji="1" lang="zh-TW" altLang="en-US" sz="2400" b="1" dirty="0"/>
              <a:t> </a:t>
            </a:r>
            <a:r>
              <a:rPr kumimoji="1" lang="en-US" altLang="zh-TW" sz="2400" b="1" dirty="0"/>
              <a:t>9.2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8687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C9C0B-5D13-BF48-58B2-5D1FA5E7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11" y="3086100"/>
            <a:ext cx="10464800" cy="685800"/>
          </a:xfrm>
        </p:spPr>
        <p:txBody>
          <a:bodyPr/>
          <a:lstStyle/>
          <a:p>
            <a:r>
              <a:rPr kumimoji="1" lang="zh-TW" altLang="en-US" sz="6000" b="1" dirty="0"/>
              <a:t>簡介</a:t>
            </a:r>
          </a:p>
        </p:txBody>
      </p:sp>
    </p:spTree>
    <p:extLst>
      <p:ext uri="{BB962C8B-B14F-4D97-AF65-F5344CB8AC3E}">
        <p14:creationId xmlns:p14="http://schemas.microsoft.com/office/powerpoint/2010/main" val="367887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FCB9F-9E0C-5C25-C63D-6F3B0231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LLO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intro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475E48-D973-F05A-B5BA-EBB7E6215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1217141"/>
            <a:ext cx="10668000" cy="4953000"/>
          </a:xfrm>
        </p:spPr>
        <p:txBody>
          <a:bodyPr anchor="ctr"/>
          <a:lstStyle/>
          <a:p>
            <a:r>
              <a:rPr kumimoji="1" lang="en-US" altLang="zh-TW" dirty="0"/>
              <a:t>Advantage</a:t>
            </a:r>
          </a:p>
          <a:p>
            <a:pPr lvl="1"/>
            <a:r>
              <a:rPr lang="en-US" altLang="zh-TW" dirty="0"/>
              <a:t>Large</a:t>
            </a:r>
            <a:r>
              <a:rPr lang="zh-TW" altLang="en-US" dirty="0"/>
              <a:t> </a:t>
            </a:r>
            <a:r>
              <a:rPr lang="en-US" altLang="zh-TW" dirty="0"/>
              <a:t>specific</a:t>
            </a:r>
            <a:r>
              <a:rPr lang="zh-TW" altLang="en-US" dirty="0"/>
              <a:t> </a:t>
            </a:r>
            <a:r>
              <a:rPr lang="en-US" altLang="zh-TW" dirty="0"/>
              <a:t>capacity</a:t>
            </a:r>
            <a:r>
              <a:rPr lang="zh-TW" altLang="en-US" dirty="0"/>
              <a:t> </a:t>
            </a:r>
            <a:r>
              <a:rPr lang="en-US" altLang="zh-TW" dirty="0"/>
              <a:t>(&lt;250mAh/g)</a:t>
            </a:r>
          </a:p>
          <a:p>
            <a:pPr lvl="1"/>
            <a:r>
              <a:rPr kumimoji="1" lang="en-US" altLang="zh-TW" dirty="0"/>
              <a:t>High</a:t>
            </a:r>
            <a:r>
              <a:rPr kumimoji="1" lang="zh-TW" altLang="en-US" dirty="0"/>
              <a:t> </a:t>
            </a:r>
            <a:r>
              <a:rPr kumimoji="1" lang="en-US" altLang="zh-TW" dirty="0"/>
              <a:t>discharge</a:t>
            </a:r>
            <a:r>
              <a:rPr kumimoji="1" lang="zh-TW" altLang="en-US" dirty="0"/>
              <a:t> </a:t>
            </a:r>
            <a:r>
              <a:rPr kumimoji="1" lang="en-US" altLang="zh-TW" dirty="0"/>
              <a:t>voltage</a:t>
            </a:r>
          </a:p>
          <a:p>
            <a:r>
              <a:rPr lang="en-US" altLang="zh-TW" dirty="0"/>
              <a:t>Disadvantage</a:t>
            </a:r>
            <a:r>
              <a:rPr lang="zh-TW" altLang="en-US" dirty="0"/>
              <a:t> </a:t>
            </a:r>
            <a:endParaRPr lang="en-US" altLang="zh-TW" dirty="0"/>
          </a:p>
          <a:p>
            <a:pPr lvl="1"/>
            <a:r>
              <a:rPr lang="en-US" altLang="zh-TW" dirty="0"/>
              <a:t>Low</a:t>
            </a:r>
            <a:r>
              <a:rPr lang="zh-TW" altLang="en-US" dirty="0"/>
              <a:t> </a:t>
            </a:r>
            <a:r>
              <a:rPr lang="en-US" altLang="zh-TW" dirty="0"/>
              <a:t>rate</a:t>
            </a:r>
            <a:r>
              <a:rPr lang="zh-TW" altLang="en-US" dirty="0"/>
              <a:t> </a:t>
            </a:r>
            <a:r>
              <a:rPr lang="en-US" altLang="zh-TW" dirty="0"/>
              <a:t>capability</a:t>
            </a:r>
          </a:p>
          <a:p>
            <a:pPr lvl="1"/>
            <a:r>
              <a:rPr lang="en-US" altLang="zh-TW" dirty="0"/>
              <a:t>Poor</a:t>
            </a:r>
            <a:r>
              <a:rPr lang="zh-TW" altLang="en-US" dirty="0"/>
              <a:t> </a:t>
            </a:r>
            <a:r>
              <a:rPr lang="en-US" altLang="zh-TW" dirty="0"/>
              <a:t>cycling</a:t>
            </a:r>
          </a:p>
          <a:p>
            <a:pPr lvl="1"/>
            <a:r>
              <a:rPr lang="en-US" altLang="zh-TW" dirty="0"/>
              <a:t>Rapid</a:t>
            </a:r>
            <a:r>
              <a:rPr lang="zh-TW" altLang="en-US" dirty="0"/>
              <a:t> </a:t>
            </a:r>
            <a:r>
              <a:rPr lang="en-US" altLang="zh-TW" dirty="0"/>
              <a:t>voltage</a:t>
            </a:r>
            <a:r>
              <a:rPr lang="zh-TW" altLang="en-US" dirty="0"/>
              <a:t> </a:t>
            </a:r>
            <a:r>
              <a:rPr lang="en-US" altLang="zh-TW" dirty="0"/>
              <a:t>decay</a:t>
            </a:r>
          </a:p>
        </p:txBody>
      </p:sp>
    </p:spTree>
    <p:extLst>
      <p:ext uri="{BB962C8B-B14F-4D97-AF65-F5344CB8AC3E}">
        <p14:creationId xmlns:p14="http://schemas.microsoft.com/office/powerpoint/2010/main" val="227551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27E6-79DC-BB77-1AA6-A38F9935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9EE00F-9948-DCEA-821F-658105BB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strategies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BF0FF00-2D23-4755-9710-0F025E8AC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157927"/>
              </p:ext>
            </p:extLst>
          </p:nvPr>
        </p:nvGraphicFramePr>
        <p:xfrm>
          <a:off x="1422400" y="-482600"/>
          <a:ext cx="10668000" cy="782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23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84EC2-7AA0-4B5A-CE79-8A581BCB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To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improve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material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421F7E-AFBB-CE42-749E-4FF1BD15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kumimoji="1" lang="en-US" altLang="zh-TW" sz="3200" b="1" dirty="0"/>
              <a:t>Preferential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oriented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crystal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planes</a:t>
            </a:r>
          </a:p>
          <a:p>
            <a:pPr lvl="1">
              <a:lnSpc>
                <a:spcPct val="200000"/>
              </a:lnSpc>
            </a:pPr>
            <a:r>
              <a:rPr kumimoji="1" lang="en-US" altLang="zh-TW" sz="3200" b="1" dirty="0"/>
              <a:t>(110)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planes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provide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a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 err="1"/>
              <a:t>channal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for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ion</a:t>
            </a:r>
            <a:r>
              <a:rPr kumimoji="1" lang="zh-TW" altLang="en-US" sz="3200" b="1" dirty="0"/>
              <a:t> </a:t>
            </a:r>
            <a:r>
              <a:rPr kumimoji="1" lang="en-US" altLang="zh-TW" sz="3200" b="1" dirty="0"/>
              <a:t>transfer</a:t>
            </a:r>
          </a:p>
          <a:p>
            <a:pPr>
              <a:lnSpc>
                <a:spcPct val="200000"/>
              </a:lnSpc>
            </a:pPr>
            <a:r>
              <a:rPr lang="en-US" altLang="zh-TW" sz="3200" b="1" dirty="0"/>
              <a:t>Beneficial</a:t>
            </a:r>
            <a:r>
              <a:rPr lang="zh-TW" altLang="en-US" sz="3200" b="1" dirty="0"/>
              <a:t> </a:t>
            </a:r>
            <a:r>
              <a:rPr lang="en-US" altLang="zh-TW" sz="3200" b="1" dirty="0" err="1"/>
              <a:t>morphyology</a:t>
            </a:r>
            <a:endParaRPr kumimoji="1"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6040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02453-5E58-49C5-8DAA-6CBB431F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1" y="214919"/>
            <a:ext cx="10464800" cy="685800"/>
          </a:xfrm>
        </p:spPr>
        <p:txBody>
          <a:bodyPr/>
          <a:lstStyle/>
          <a:p>
            <a:pPr algn="l"/>
            <a:r>
              <a:rPr lang="en-US" altLang="zh-TW" b="1" dirty="0"/>
              <a:t>Preparation of CHP-LMNO</a:t>
            </a:r>
            <a:endParaRPr lang="zh-TW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E8135-3008-E41C-5D46-92FF946E8FF7}"/>
              </a:ext>
            </a:extLst>
          </p:cNvPr>
          <p:cNvSpPr/>
          <p:nvPr/>
        </p:nvSpPr>
        <p:spPr bwMode="auto">
          <a:xfrm>
            <a:off x="3533748" y="2921060"/>
            <a:ext cx="2296833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/>
              <a:t>150 mL cyclo- hexane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/>
              <a:t>+</a:t>
            </a:r>
            <a:r>
              <a:rPr lang="zh-TW" altLang="en-US" sz="1600" b="1" dirty="0"/>
              <a:t> </a:t>
            </a:r>
            <a:r>
              <a:rPr lang="en-US" altLang="zh-TW" sz="1600" b="1" dirty="0"/>
              <a:t>5 mL of n-pentanol 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79A199-304E-885B-7DAC-B7F56F351507}"/>
              </a:ext>
            </a:extLst>
          </p:cNvPr>
          <p:cNvSpPr/>
          <p:nvPr/>
        </p:nvSpPr>
        <p:spPr bwMode="auto">
          <a:xfrm>
            <a:off x="1323009" y="2976034"/>
            <a:ext cx="1157030" cy="685801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600" b="1" dirty="0">
                <a:latin typeface="Arial" charset="0"/>
                <a:ea typeface="新細明體" pitchFamily="18" charset="-120"/>
              </a:rPr>
              <a:t>5 g CTAB</a:t>
            </a:r>
            <a:endParaRPr lang="en-US" altLang="zh-TW" sz="16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E57FA0F-D0E9-9BE6-6FC8-10BE44D09751}"/>
              </a:ext>
            </a:extLst>
          </p:cNvPr>
          <p:cNvSpPr txBox="1"/>
          <p:nvPr/>
        </p:nvSpPr>
        <p:spPr>
          <a:xfrm>
            <a:off x="2470294" y="3262005"/>
            <a:ext cx="984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b="1" dirty="0"/>
              <a:t>dissolved</a:t>
            </a:r>
            <a:endParaRPr kumimoji="1" lang="zh-TW" altLang="en-US" sz="1600" b="1" dirty="0"/>
          </a:p>
        </p:txBody>
      </p:sp>
      <p:sp>
        <p:nvSpPr>
          <p:cNvPr id="11" name="向下箭號 10">
            <a:extLst>
              <a:ext uri="{FF2B5EF4-FFF2-40B4-BE49-F238E27FC236}">
                <a16:creationId xmlns:a16="http://schemas.microsoft.com/office/drawing/2014/main" id="{6413B9AD-BFB9-285A-16DA-3C80EBC0051E}"/>
              </a:ext>
            </a:extLst>
          </p:cNvPr>
          <p:cNvSpPr/>
          <p:nvPr/>
        </p:nvSpPr>
        <p:spPr bwMode="auto">
          <a:xfrm rot="16200000">
            <a:off x="6242620" y="2910208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3F4278-1C2D-5EF6-180C-8E4F55E87432}"/>
              </a:ext>
            </a:extLst>
          </p:cNvPr>
          <p:cNvSpPr txBox="1"/>
          <p:nvPr/>
        </p:nvSpPr>
        <p:spPr>
          <a:xfrm>
            <a:off x="5909470" y="3265318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Stirring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9BBB51F-BF61-755A-B2C0-8BCA4CBE08B2}"/>
              </a:ext>
            </a:extLst>
          </p:cNvPr>
          <p:cNvSpPr txBox="1"/>
          <p:nvPr/>
        </p:nvSpPr>
        <p:spPr>
          <a:xfrm>
            <a:off x="5926286" y="2764671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30 min</a:t>
            </a:r>
            <a:endParaRPr kumimoji="1" lang="zh-TW" altLang="en-US" sz="1600" dirty="0"/>
          </a:p>
        </p:txBody>
      </p:sp>
      <p:sp>
        <p:nvSpPr>
          <p:cNvPr id="14" name="向下箭號 13">
            <a:extLst>
              <a:ext uri="{FF2B5EF4-FFF2-40B4-BE49-F238E27FC236}">
                <a16:creationId xmlns:a16="http://schemas.microsoft.com/office/drawing/2014/main" id="{2472B707-A141-1E00-B2DF-9CCE6BCB9598}"/>
              </a:ext>
            </a:extLst>
          </p:cNvPr>
          <p:cNvSpPr/>
          <p:nvPr/>
        </p:nvSpPr>
        <p:spPr bwMode="auto">
          <a:xfrm rot="16200000">
            <a:off x="2887497" y="2893964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3BE6AE-D538-47AA-6201-D3CEF5BF8FF1}"/>
              </a:ext>
            </a:extLst>
          </p:cNvPr>
          <p:cNvSpPr/>
          <p:nvPr/>
        </p:nvSpPr>
        <p:spPr bwMode="auto">
          <a:xfrm>
            <a:off x="6823713" y="2852410"/>
            <a:ext cx="1800000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600" b="1" dirty="0">
                <a:latin typeface="Arial" charset="0"/>
                <a:ea typeface="新細明體" pitchFamily="18" charset="-120"/>
              </a:rPr>
              <a:t>5 mL of a 0.8 M </a:t>
            </a:r>
          </a:p>
          <a:p>
            <a:r>
              <a:rPr lang="en-US" altLang="zh-TW" sz="1600" b="1" dirty="0">
                <a:latin typeface="Arial" charset="0"/>
                <a:ea typeface="新細明體" pitchFamily="18" charset="-120"/>
              </a:rPr>
              <a:t>H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2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C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2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O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4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.2H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2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O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(</a:t>
            </a:r>
            <a:r>
              <a:rPr lang="en-US" altLang="zh-TW" sz="1600" b="1" baseline="-25000" dirty="0" err="1">
                <a:latin typeface="Arial" charset="0"/>
                <a:ea typeface="新細明體" pitchFamily="18" charset="-120"/>
              </a:rPr>
              <a:t>aq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)</a:t>
            </a:r>
          </a:p>
        </p:txBody>
      </p:sp>
      <p:sp>
        <p:nvSpPr>
          <p:cNvPr id="25" name="向下箭號 24">
            <a:extLst>
              <a:ext uri="{FF2B5EF4-FFF2-40B4-BE49-F238E27FC236}">
                <a16:creationId xmlns:a16="http://schemas.microsoft.com/office/drawing/2014/main" id="{5E1EF8DD-F863-8588-B55B-AF528E2FC06B}"/>
              </a:ext>
            </a:extLst>
          </p:cNvPr>
          <p:cNvSpPr/>
          <p:nvPr/>
        </p:nvSpPr>
        <p:spPr bwMode="auto">
          <a:xfrm rot="16200000">
            <a:off x="8933210" y="2833136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5882CB7-EC23-77B6-5E29-DED7E5293E71}"/>
              </a:ext>
            </a:extLst>
          </p:cNvPr>
          <p:cNvSpPr txBox="1"/>
          <p:nvPr/>
        </p:nvSpPr>
        <p:spPr>
          <a:xfrm>
            <a:off x="8608437" y="3235843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Stirring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5045436-5B18-F2EA-8D5F-452EE4CEE503}"/>
              </a:ext>
            </a:extLst>
          </p:cNvPr>
          <p:cNvSpPr txBox="1"/>
          <p:nvPr/>
        </p:nvSpPr>
        <p:spPr>
          <a:xfrm>
            <a:off x="8723950" y="2693790"/>
            <a:ext cx="543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1</a:t>
            </a:r>
            <a:r>
              <a:rPr lang="zh-TW" altLang="en-US" sz="1600" b="1" dirty="0"/>
              <a:t> </a:t>
            </a:r>
            <a:r>
              <a:rPr lang="en-US" altLang="zh-TW" sz="1600" b="1" dirty="0" err="1"/>
              <a:t>hr</a:t>
            </a:r>
            <a:endParaRPr kumimoji="1" lang="zh-TW" altLang="en-US" sz="1600" dirty="0"/>
          </a:p>
        </p:txBody>
      </p:sp>
      <p:sp>
        <p:nvSpPr>
          <p:cNvPr id="28" name="向下箭號 27">
            <a:extLst>
              <a:ext uri="{FF2B5EF4-FFF2-40B4-BE49-F238E27FC236}">
                <a16:creationId xmlns:a16="http://schemas.microsoft.com/office/drawing/2014/main" id="{2087FF3B-6B6B-D990-206A-CAA46494BB4D}"/>
              </a:ext>
            </a:extLst>
          </p:cNvPr>
          <p:cNvSpPr/>
          <p:nvPr/>
        </p:nvSpPr>
        <p:spPr bwMode="auto">
          <a:xfrm rot="16200000">
            <a:off x="9871799" y="2841557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1809766-BD83-BD89-C6A9-674ADB76D223}"/>
              </a:ext>
            </a:extLst>
          </p:cNvPr>
          <p:cNvSpPr txBox="1"/>
          <p:nvPr/>
        </p:nvSpPr>
        <p:spPr>
          <a:xfrm>
            <a:off x="9456175" y="3233856"/>
            <a:ext cx="1270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transparent 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C7F099D-EA1A-EF75-6456-4E8FC20E12B8}"/>
              </a:ext>
            </a:extLst>
          </p:cNvPr>
          <p:cNvSpPr txBox="1"/>
          <p:nvPr/>
        </p:nvSpPr>
        <p:spPr>
          <a:xfrm>
            <a:off x="9541099" y="2693790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became 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34047C-250E-4F22-1D40-765561F18861}"/>
              </a:ext>
            </a:extLst>
          </p:cNvPr>
          <p:cNvSpPr/>
          <p:nvPr/>
        </p:nvSpPr>
        <p:spPr bwMode="auto">
          <a:xfrm>
            <a:off x="9102063" y="405605"/>
            <a:ext cx="2674078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600" b="1" dirty="0"/>
              <a:t>5 mL</a:t>
            </a:r>
            <a:r>
              <a:rPr lang="zh-TW" altLang="en-US" sz="1600" b="1" dirty="0"/>
              <a:t> </a:t>
            </a:r>
            <a:r>
              <a:rPr lang="en-US" altLang="zh-TW" sz="1600" b="1" dirty="0"/>
              <a:t>0.15 M MnCl</a:t>
            </a:r>
            <a:r>
              <a:rPr lang="en-US" altLang="zh-TW" sz="1600" b="1" baseline="-25000" dirty="0"/>
              <a:t>2.</a:t>
            </a:r>
            <a:r>
              <a:rPr lang="en-US" altLang="zh-TW" sz="1600" b="1" dirty="0"/>
              <a:t>4H</a:t>
            </a:r>
            <a:r>
              <a:rPr lang="en-US" altLang="zh-TW" sz="1600" b="1" baseline="-25000" dirty="0"/>
              <a:t>2</a:t>
            </a:r>
            <a:r>
              <a:rPr lang="en-US" altLang="zh-TW" sz="1600" b="1" dirty="0"/>
              <a:t>O </a:t>
            </a:r>
          </a:p>
          <a:p>
            <a:r>
              <a:rPr lang="en-US" altLang="zh-TW" sz="1600" b="1" dirty="0"/>
              <a:t>+0.05 M Ni(NO</a:t>
            </a:r>
            <a:r>
              <a:rPr lang="en-US" altLang="zh-TW" sz="1600" b="1" baseline="-25000" dirty="0"/>
              <a:t>3</a:t>
            </a:r>
            <a:r>
              <a:rPr lang="en-US" altLang="zh-TW" sz="1600" b="1" dirty="0"/>
              <a:t>)</a:t>
            </a:r>
            <a:r>
              <a:rPr lang="en-US" altLang="zh-TW" sz="1600" b="1" baseline="-25000" dirty="0"/>
              <a:t>2.</a:t>
            </a:r>
            <a:r>
              <a:rPr lang="en-US" altLang="zh-TW" sz="1600" b="1" dirty="0"/>
              <a:t>6H</a:t>
            </a:r>
            <a:r>
              <a:rPr lang="en-US" altLang="zh-TW" sz="1600" b="1" baseline="-25000" dirty="0"/>
              <a:t>2</a:t>
            </a:r>
            <a:r>
              <a:rPr lang="en-US" altLang="zh-TW" sz="1600" b="1" dirty="0"/>
              <a:t>O 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A7FD9A5-6CAF-582C-E025-58A5E3E1092B}"/>
              </a:ext>
            </a:extLst>
          </p:cNvPr>
          <p:cNvSpPr txBox="1"/>
          <p:nvPr/>
        </p:nvSpPr>
        <p:spPr>
          <a:xfrm>
            <a:off x="9990100" y="1478639"/>
            <a:ext cx="107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b="1" dirty="0"/>
              <a:t>dropwise</a:t>
            </a:r>
            <a:endParaRPr kumimoji="1" lang="zh-TW" altLang="en-US" sz="1600" b="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EC5027B-1DAC-7995-A2D6-3D385A89D528}"/>
              </a:ext>
            </a:extLst>
          </p:cNvPr>
          <p:cNvSpPr txBox="1"/>
          <p:nvPr/>
        </p:nvSpPr>
        <p:spPr>
          <a:xfrm>
            <a:off x="10093126" y="1229242"/>
            <a:ext cx="896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b="1" dirty="0"/>
              <a:t>Added</a:t>
            </a:r>
            <a:r>
              <a:rPr kumimoji="1" lang="zh-TW" altLang="en-US" sz="1600" b="1" dirty="0"/>
              <a:t> </a:t>
            </a:r>
            <a:endParaRPr kumimoji="1" lang="en-US" altLang="zh-TW" sz="1600" b="1" dirty="0"/>
          </a:p>
        </p:txBody>
      </p:sp>
      <p:sp>
        <p:nvSpPr>
          <p:cNvPr id="39" name="向下箭號 38">
            <a:extLst>
              <a:ext uri="{FF2B5EF4-FFF2-40B4-BE49-F238E27FC236}">
                <a16:creationId xmlns:a16="http://schemas.microsoft.com/office/drawing/2014/main" id="{B6D8D2AF-2FFD-B9E0-17E7-7E5447C1D4C5}"/>
              </a:ext>
            </a:extLst>
          </p:cNvPr>
          <p:cNvSpPr/>
          <p:nvPr/>
        </p:nvSpPr>
        <p:spPr bwMode="auto">
          <a:xfrm rot="16200000">
            <a:off x="10993880" y="2849857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AAA5973C-238F-A795-7F52-E115FE4B3403}"/>
              </a:ext>
            </a:extLst>
          </p:cNvPr>
          <p:cNvSpPr txBox="1"/>
          <p:nvPr/>
        </p:nvSpPr>
        <p:spPr>
          <a:xfrm>
            <a:off x="10653832" y="3259723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Stirring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B4EA641-B5E6-EC34-8E42-342C02F38332}"/>
              </a:ext>
            </a:extLst>
          </p:cNvPr>
          <p:cNvSpPr txBox="1"/>
          <p:nvPr/>
        </p:nvSpPr>
        <p:spPr>
          <a:xfrm>
            <a:off x="10744085" y="2697721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16</a:t>
            </a:r>
            <a:r>
              <a:rPr lang="zh-TW" altLang="en-US" sz="1600" b="1" dirty="0"/>
              <a:t> </a:t>
            </a:r>
            <a:r>
              <a:rPr lang="en-US" altLang="zh-TW" sz="1600" b="1" dirty="0" err="1"/>
              <a:t>hr</a:t>
            </a:r>
            <a:endParaRPr kumimoji="1" lang="zh-TW" altLang="en-US" sz="1600" dirty="0"/>
          </a:p>
        </p:txBody>
      </p:sp>
      <p:sp>
        <p:nvSpPr>
          <p:cNvPr id="18" name="向下箭號 17">
            <a:extLst>
              <a:ext uri="{FF2B5EF4-FFF2-40B4-BE49-F238E27FC236}">
                <a16:creationId xmlns:a16="http://schemas.microsoft.com/office/drawing/2014/main" id="{1B684F1D-079A-BB85-222A-8717DD4107BA}"/>
              </a:ext>
            </a:extLst>
          </p:cNvPr>
          <p:cNvSpPr/>
          <p:nvPr/>
        </p:nvSpPr>
        <p:spPr bwMode="auto">
          <a:xfrm>
            <a:off x="10417355" y="1923903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FCABF58-E049-A714-62FF-E1F5D5C64AB2}"/>
              </a:ext>
            </a:extLst>
          </p:cNvPr>
          <p:cNvCxnSpPr>
            <a:cxnSpLocks/>
          </p:cNvCxnSpPr>
          <p:nvPr/>
        </p:nvCxnSpPr>
        <p:spPr bwMode="auto">
          <a:xfrm>
            <a:off x="-86139" y="3949148"/>
            <a:ext cx="12437623" cy="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6FBECF3-9719-E177-19C7-3ECA55395FBB}"/>
              </a:ext>
            </a:extLst>
          </p:cNvPr>
          <p:cNvSpPr/>
          <p:nvPr/>
        </p:nvSpPr>
        <p:spPr bwMode="auto">
          <a:xfrm>
            <a:off x="2330100" y="4216323"/>
            <a:ext cx="1441343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600" b="1" dirty="0">
                <a:latin typeface="Arial" charset="0"/>
                <a:ea typeface="新細明體" pitchFamily="18" charset="-120"/>
              </a:rPr>
              <a:t>MC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2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O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4.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H</a:t>
            </a:r>
            <a:r>
              <a:rPr lang="en-US" altLang="zh-TW" sz="1600" b="1" baseline="-25000" dirty="0">
                <a:latin typeface="Arial" charset="0"/>
                <a:ea typeface="新細明體" pitchFamily="18" charset="-120"/>
              </a:rPr>
              <a:t>2</a:t>
            </a:r>
            <a:r>
              <a:rPr lang="en-US" altLang="zh-TW" sz="1600" b="1" dirty="0">
                <a:latin typeface="Arial" charset="0"/>
                <a:ea typeface="新細明體" pitchFamily="18" charset="-120"/>
              </a:rPr>
              <a:t>O </a:t>
            </a:r>
          </a:p>
        </p:txBody>
      </p:sp>
      <p:sp>
        <p:nvSpPr>
          <p:cNvPr id="23" name="向下箭號 22">
            <a:extLst>
              <a:ext uri="{FF2B5EF4-FFF2-40B4-BE49-F238E27FC236}">
                <a16:creationId xmlns:a16="http://schemas.microsoft.com/office/drawing/2014/main" id="{97C81DCC-128C-5AF1-7440-05F7ED842268}"/>
              </a:ext>
            </a:extLst>
          </p:cNvPr>
          <p:cNvSpPr/>
          <p:nvPr/>
        </p:nvSpPr>
        <p:spPr bwMode="auto">
          <a:xfrm rot="16200000" flipH="1">
            <a:off x="1663057" y="4256524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B208DBD-4794-EB39-0145-7949E9A4E842}"/>
              </a:ext>
            </a:extLst>
          </p:cNvPr>
          <p:cNvSpPr txBox="1"/>
          <p:nvPr/>
        </p:nvSpPr>
        <p:spPr>
          <a:xfrm>
            <a:off x="1323009" y="4666390"/>
            <a:ext cx="949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Washing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8A1FA90-BC14-6183-85A2-DC1E599C0550}"/>
              </a:ext>
            </a:extLst>
          </p:cNvPr>
          <p:cNvSpPr txBox="1"/>
          <p:nvPr/>
        </p:nvSpPr>
        <p:spPr>
          <a:xfrm>
            <a:off x="1327691" y="4119302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 err="1"/>
              <a:t>Fltering</a:t>
            </a:r>
            <a:r>
              <a:rPr lang="en-US" altLang="zh-TW" sz="1600" b="1" dirty="0"/>
              <a:t> </a:t>
            </a:r>
          </a:p>
        </p:txBody>
      </p:sp>
      <p:sp>
        <p:nvSpPr>
          <p:cNvPr id="32" name="向下箭號 31">
            <a:extLst>
              <a:ext uri="{FF2B5EF4-FFF2-40B4-BE49-F238E27FC236}">
                <a16:creationId xmlns:a16="http://schemas.microsoft.com/office/drawing/2014/main" id="{F18FC1A7-9397-B63F-14CB-F766D01EEF0B}"/>
              </a:ext>
            </a:extLst>
          </p:cNvPr>
          <p:cNvSpPr/>
          <p:nvPr/>
        </p:nvSpPr>
        <p:spPr bwMode="auto">
          <a:xfrm rot="16200000" flipH="1">
            <a:off x="4296401" y="4134744"/>
            <a:ext cx="247943" cy="899068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A95ABA9-AE97-184C-913F-EA84E37F180F}"/>
              </a:ext>
            </a:extLst>
          </p:cNvPr>
          <p:cNvSpPr txBox="1"/>
          <p:nvPr/>
        </p:nvSpPr>
        <p:spPr>
          <a:xfrm>
            <a:off x="3771443" y="4666390"/>
            <a:ext cx="14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120 C for 10 h 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23DC81A-8162-461E-8DA7-00DFDA31E549}"/>
              </a:ext>
            </a:extLst>
          </p:cNvPr>
          <p:cNvSpPr txBox="1"/>
          <p:nvPr/>
        </p:nvSpPr>
        <p:spPr>
          <a:xfrm>
            <a:off x="3938242" y="4149696"/>
            <a:ext cx="931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vacuum 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9A747A7-DC26-6C56-9D3B-4CDB171E1E7F}"/>
              </a:ext>
            </a:extLst>
          </p:cNvPr>
          <p:cNvSpPr txBox="1"/>
          <p:nvPr/>
        </p:nvSpPr>
        <p:spPr>
          <a:xfrm>
            <a:off x="5144591" y="4666390"/>
            <a:ext cx="13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450 C for 5 h 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9EDAD93-3ADE-C4D7-25EB-FCE554A3F6B7}"/>
              </a:ext>
            </a:extLst>
          </p:cNvPr>
          <p:cNvSpPr txBox="1"/>
          <p:nvPr/>
        </p:nvSpPr>
        <p:spPr>
          <a:xfrm>
            <a:off x="5369047" y="4150864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calcine </a:t>
            </a:r>
          </a:p>
        </p:txBody>
      </p:sp>
      <p:sp>
        <p:nvSpPr>
          <p:cNvPr id="52" name="向下箭號 51">
            <a:extLst>
              <a:ext uri="{FF2B5EF4-FFF2-40B4-BE49-F238E27FC236}">
                <a16:creationId xmlns:a16="http://schemas.microsoft.com/office/drawing/2014/main" id="{BC063E50-64DD-9E24-11ED-1B7738346B4B}"/>
              </a:ext>
            </a:extLst>
          </p:cNvPr>
          <p:cNvSpPr/>
          <p:nvPr/>
        </p:nvSpPr>
        <p:spPr bwMode="auto">
          <a:xfrm rot="16200000" flipH="1">
            <a:off x="5656363" y="4248117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2F4E869-6B44-31FE-6F6F-D36E1674B70E}"/>
              </a:ext>
            </a:extLst>
          </p:cNvPr>
          <p:cNvSpPr/>
          <p:nvPr/>
        </p:nvSpPr>
        <p:spPr bwMode="auto">
          <a:xfrm>
            <a:off x="6586689" y="4194365"/>
            <a:ext cx="2251895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600" b="1" dirty="0"/>
              <a:t>Manganese-Nickel</a:t>
            </a:r>
            <a:r>
              <a:rPr lang="zh-TW" altLang="en-US" sz="1600" b="1" dirty="0"/>
              <a:t> </a:t>
            </a:r>
            <a:endParaRPr lang="en-US" altLang="zh-TW" sz="1600" b="1" dirty="0"/>
          </a:p>
          <a:p>
            <a:pPr algn="ctr"/>
            <a:r>
              <a:rPr lang="en-US" altLang="zh-TW" sz="1600" b="1" dirty="0"/>
              <a:t>oxide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BC9FEE1-FA3B-CDDF-1558-95DC84D09033}"/>
              </a:ext>
            </a:extLst>
          </p:cNvPr>
          <p:cNvSpPr txBox="1"/>
          <p:nvPr/>
        </p:nvSpPr>
        <p:spPr>
          <a:xfrm>
            <a:off x="8942784" y="4430754"/>
            <a:ext cx="14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800 C for 12 h 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88108F6-42F2-943A-1682-B83F050E1529}"/>
              </a:ext>
            </a:extLst>
          </p:cNvPr>
          <p:cNvSpPr txBox="1"/>
          <p:nvPr/>
        </p:nvSpPr>
        <p:spPr>
          <a:xfrm>
            <a:off x="8942784" y="4721664"/>
            <a:ext cx="2497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5wt%</a:t>
            </a:r>
            <a:r>
              <a:rPr lang="zh-TW" altLang="en-US" sz="1600" b="1" dirty="0"/>
              <a:t> </a:t>
            </a:r>
            <a:r>
              <a:rPr lang="en-US" altLang="zh-TW" sz="1600" b="1" dirty="0"/>
              <a:t>excess</a:t>
            </a:r>
            <a:r>
              <a:rPr lang="zh-TW" altLang="en-US" sz="1600" b="1" dirty="0"/>
              <a:t>  </a:t>
            </a:r>
            <a:r>
              <a:rPr lang="en-US" altLang="zh-TW" sz="1600" b="1" dirty="0"/>
              <a:t>CH</a:t>
            </a:r>
            <a:r>
              <a:rPr lang="en-US" altLang="zh-TW" sz="1600" b="1" baseline="-25000" dirty="0"/>
              <a:t>3</a:t>
            </a:r>
            <a:r>
              <a:rPr lang="en-US" altLang="zh-TW" sz="1600" b="1" dirty="0"/>
              <a:t>COOLi.H</a:t>
            </a:r>
            <a:r>
              <a:rPr lang="en-US" altLang="zh-TW" sz="1600" b="1" baseline="-25000" dirty="0"/>
              <a:t>2</a:t>
            </a:r>
            <a:r>
              <a:rPr lang="en-US" altLang="zh-TW" sz="1600" b="1" dirty="0"/>
              <a:t>O</a:t>
            </a:r>
          </a:p>
        </p:txBody>
      </p:sp>
      <p:sp>
        <p:nvSpPr>
          <p:cNvPr id="57" name="向下箭號 56">
            <a:extLst>
              <a:ext uri="{FF2B5EF4-FFF2-40B4-BE49-F238E27FC236}">
                <a16:creationId xmlns:a16="http://schemas.microsoft.com/office/drawing/2014/main" id="{BB7E36BD-9D0F-47F0-6C05-251073491B2C}"/>
              </a:ext>
            </a:extLst>
          </p:cNvPr>
          <p:cNvSpPr/>
          <p:nvPr/>
        </p:nvSpPr>
        <p:spPr bwMode="auto">
          <a:xfrm rot="16200000" flipH="1">
            <a:off x="9236677" y="3988279"/>
            <a:ext cx="247943" cy="682336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00452FB-4A35-0DF3-1440-BE67C84E9CC4}"/>
              </a:ext>
            </a:extLst>
          </p:cNvPr>
          <p:cNvSpPr/>
          <p:nvPr/>
        </p:nvSpPr>
        <p:spPr bwMode="auto">
          <a:xfrm>
            <a:off x="10494051" y="4142958"/>
            <a:ext cx="1441343" cy="720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600" b="1" dirty="0">
                <a:latin typeface="Arial" charset="0"/>
                <a:ea typeface="新細明體" pitchFamily="18" charset="-120"/>
              </a:rPr>
              <a:t>CHP-LNMO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0E4360-7D1C-4296-43D3-6B0D6CF79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66" y="1100991"/>
            <a:ext cx="3547006" cy="316697"/>
          </a:xfrm>
          <a:prstGeom prst="rect">
            <a:avLst/>
          </a:prstGeom>
        </p:spPr>
      </p:pic>
      <p:pic>
        <p:nvPicPr>
          <p:cNvPr id="8" name="圖片 7" descr="一張含有 文字, 字型, 白色 的圖片&#10;&#10;AI 產生的內容可能不正確。">
            <a:extLst>
              <a:ext uri="{FF2B5EF4-FFF2-40B4-BE49-F238E27FC236}">
                <a16:creationId xmlns:a16="http://schemas.microsoft.com/office/drawing/2014/main" id="{DE577229-8CC1-9498-A55F-5BED6564C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594" y="1603365"/>
            <a:ext cx="6098871" cy="109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BE2265-7E55-E912-2767-CEFE3286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2743200"/>
            <a:ext cx="10464800" cy="685800"/>
          </a:xfrm>
        </p:spPr>
        <p:txBody>
          <a:bodyPr/>
          <a:lstStyle/>
          <a:p>
            <a:r>
              <a:rPr kumimoji="1" lang="zh-TW" altLang="en-US" sz="6000" b="1" dirty="0"/>
              <a:t>物性分析</a:t>
            </a:r>
          </a:p>
        </p:txBody>
      </p:sp>
    </p:spTree>
    <p:extLst>
      <p:ext uri="{BB962C8B-B14F-4D97-AF65-F5344CB8AC3E}">
        <p14:creationId xmlns:p14="http://schemas.microsoft.com/office/powerpoint/2010/main" val="106254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68C5-EF5B-4A25-1983-C3E086D0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A22290-6852-8BDB-D990-BCD2062F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BET</a:t>
            </a:r>
            <a:endParaRPr kumimoji="1" lang="zh-TW" altLang="en-US" b="1" dirty="0"/>
          </a:p>
        </p:txBody>
      </p:sp>
      <p:pic>
        <p:nvPicPr>
          <p:cNvPr id="4" name="圖片 3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6692F5A0-C3BC-EBA7-3F1A-ED1A0D119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89100"/>
            <a:ext cx="7620000" cy="34798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E06637E-EDD2-D6FE-C979-7509071F5A68}"/>
              </a:ext>
            </a:extLst>
          </p:cNvPr>
          <p:cNvSpPr txBox="1"/>
          <p:nvPr/>
        </p:nvSpPr>
        <p:spPr>
          <a:xfrm>
            <a:off x="2286000" y="5393410"/>
            <a:ext cx="49872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/>
              <a:t>The pore sizes are distributed from 2 nm to 200 nm </a:t>
            </a:r>
          </a:p>
        </p:txBody>
      </p:sp>
    </p:spTree>
    <p:extLst>
      <p:ext uri="{BB962C8B-B14F-4D97-AF65-F5344CB8AC3E}">
        <p14:creationId xmlns:p14="http://schemas.microsoft.com/office/powerpoint/2010/main" val="96233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5D9D15-9DE0-7AA0-471F-59FB9C26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Tap density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EA4E1-C9AE-68C9-E204-6837899C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tap density of the as-prepared cross-like hierarchical porous LLO is ~2.0 g cm</a:t>
            </a:r>
            <a:r>
              <a:rPr lang="en-US" altLang="zh-TW" baseline="30000" dirty="0"/>
              <a:t>-3</a:t>
            </a:r>
            <a:r>
              <a:rPr lang="en-US" altLang="zh-TW" dirty="0"/>
              <a:t>, higher than that of the conventional counterpart sample of ~1.8 g cm</a:t>
            </a:r>
            <a:r>
              <a:rPr lang="en-US" altLang="zh-TW" baseline="30000" dirty="0"/>
              <a:t>-3</a:t>
            </a:r>
            <a:r>
              <a:rPr lang="zh-TW" altLang="en-US" baseline="30000" dirty="0"/>
              <a:t> </a:t>
            </a:r>
            <a:r>
              <a:rPr lang="en-US" altLang="zh-TW" dirty="0"/>
              <a:t>described in the following Experimental section. </a:t>
            </a:r>
          </a:p>
          <a:p>
            <a:endParaRPr kumimoji="1" lang="zh-TW" altLang="en-US" dirty="0"/>
          </a:p>
        </p:txBody>
      </p:sp>
      <p:pic>
        <p:nvPicPr>
          <p:cNvPr id="7" name="圖片 6" descr="一張含有 文字, 字型, 白色, 代數 的圖片&#10;&#10;AI 產生的內容可能不正確。">
            <a:extLst>
              <a:ext uri="{FF2B5EF4-FFF2-40B4-BE49-F238E27FC236}">
                <a16:creationId xmlns:a16="http://schemas.microsoft.com/office/drawing/2014/main" id="{9BC56FF6-D99A-EBFB-9DFA-67864B8A2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809" y="3001612"/>
            <a:ext cx="77343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5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9EF2F-3A5A-3431-7B99-83792559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b="1" dirty="0"/>
              <a:t>結構示意圖</a:t>
            </a:r>
            <a:endParaRPr kumimoji="1" lang="zh-TW" altLang="en-US" b="1" dirty="0"/>
          </a:p>
        </p:txBody>
      </p:sp>
      <p:pic>
        <p:nvPicPr>
          <p:cNvPr id="4" name="Picture 2" descr="富锂锰基材料作为正极材料市场的补充将有有何优势？ - 知乎">
            <a:extLst>
              <a:ext uri="{FF2B5EF4-FFF2-40B4-BE49-F238E27FC236}">
                <a16:creationId xmlns:a16="http://schemas.microsoft.com/office/drawing/2014/main" id="{1FAE1468-3228-6FBF-7BBE-C799BD5FC9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302" y="173304"/>
            <a:ext cx="6343567" cy="317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5FDF18-98F0-B3DF-4446-9C88CC84D6B2}"/>
              </a:ext>
            </a:extLst>
          </p:cNvPr>
          <p:cNvCxnSpPr>
            <a:cxnSpLocks/>
          </p:cNvCxnSpPr>
          <p:nvPr/>
        </p:nvCxnSpPr>
        <p:spPr bwMode="auto">
          <a:xfrm>
            <a:off x="9676577" y="2018260"/>
            <a:ext cx="1075037" cy="531341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4A62C310-A569-F460-6891-B9AB05DB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212" y="3577261"/>
            <a:ext cx="6738620" cy="297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9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02453-5E58-49C5-8DAA-6CBB431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SEM </a:t>
            </a:r>
            <a:endParaRPr lang="zh-TW" altLang="en-US" b="1" dirty="0"/>
          </a:p>
        </p:txBody>
      </p:sp>
      <p:pic>
        <p:nvPicPr>
          <p:cNvPr id="4" name="圖片 3" descr="一張含有 文字, 螢幕擷取畫面, 黑色, 黑與白 的圖片&#10;&#10;AI 產生的內容可能不正確。">
            <a:extLst>
              <a:ext uri="{FF2B5EF4-FFF2-40B4-BE49-F238E27FC236}">
                <a16:creationId xmlns:a16="http://schemas.microsoft.com/office/drawing/2014/main" id="{1AD4F7C1-E44C-816E-D093-259F3716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303123"/>
            <a:ext cx="7772400" cy="250881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7CBEAFD-3B7F-15E6-7F2C-8296612B7977}"/>
              </a:ext>
            </a:extLst>
          </p:cNvPr>
          <p:cNvSpPr txBox="1"/>
          <p:nvPr/>
        </p:nvSpPr>
        <p:spPr>
          <a:xfrm>
            <a:off x="1422400" y="4349577"/>
            <a:ext cx="102918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Normally LLM exhibits spherical-like and rod-like morphologies.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Study exhibits a unique cross-like hierarchical porous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Cross-like LLOs with an average length of about 5 micro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m and width of roughly 800 nm, consisting of numerous subunit nanoparticles of approximately 100 nm.</a:t>
            </a:r>
          </a:p>
          <a:p>
            <a:endParaRPr kumimoji="1" lang="zh-TW" altLang="en-US" sz="20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1313A73-2164-8430-3817-C62F1AF490E2}"/>
              </a:ext>
            </a:extLst>
          </p:cNvPr>
          <p:cNvSpPr txBox="1"/>
          <p:nvPr/>
        </p:nvSpPr>
        <p:spPr>
          <a:xfrm>
            <a:off x="1422400" y="3755126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(a and b) SEM images of CHP-LMNO </a:t>
            </a:r>
          </a:p>
        </p:txBody>
      </p:sp>
    </p:spTree>
    <p:extLst>
      <p:ext uri="{BB962C8B-B14F-4D97-AF65-F5344CB8AC3E}">
        <p14:creationId xmlns:p14="http://schemas.microsoft.com/office/powerpoint/2010/main" val="194981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70B7-E0A3-A1A1-D92B-4125CA56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BF147-F387-F31B-ECDB-CE857478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EDS</a:t>
            </a:r>
            <a:endParaRPr lang="zh-TW" altLang="en-US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291E43-505A-26C1-E2C3-2D6FDE237D15}"/>
              </a:ext>
            </a:extLst>
          </p:cNvPr>
          <p:cNvSpPr txBox="1"/>
          <p:nvPr/>
        </p:nvSpPr>
        <p:spPr>
          <a:xfrm>
            <a:off x="1422400" y="5458235"/>
            <a:ext cx="10291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Uniform distribution of Mn, Ni, and O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Agree with the results from ICP- AES (The atomic ratios Mn : Ni =2.3 : 1 )</a:t>
            </a:r>
          </a:p>
        </p:txBody>
      </p:sp>
      <p:pic>
        <p:nvPicPr>
          <p:cNvPr id="3" name="圖片 2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65DA819F-6C7F-2632-F475-382E6CA1B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165997"/>
            <a:ext cx="7493000" cy="1955800"/>
          </a:xfrm>
          <a:prstGeom prst="rect">
            <a:avLst/>
          </a:prstGeom>
        </p:spPr>
      </p:pic>
      <p:pic>
        <p:nvPicPr>
          <p:cNvPr id="7" name="圖片 6" descr="一張含有 文字, 螢幕擷取畫面, 行, 電子藍 的圖片&#10;&#10;AI 產生的內容可能不正確。">
            <a:extLst>
              <a:ext uri="{FF2B5EF4-FFF2-40B4-BE49-F238E27FC236}">
                <a16:creationId xmlns:a16="http://schemas.microsoft.com/office/drawing/2014/main" id="{43AA4157-4DFD-7A8B-69F8-1AEF2B15A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3521832"/>
            <a:ext cx="7772400" cy="125456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F4C5B99-E4A3-371B-F5EF-65E64333D9D8}"/>
              </a:ext>
            </a:extLst>
          </p:cNvPr>
          <p:cNvSpPr txBox="1"/>
          <p:nvPr/>
        </p:nvSpPr>
        <p:spPr>
          <a:xfrm>
            <a:off x="1422400" y="315150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(d–f) element maps,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E558B8F-80C5-1351-9D9D-94903A0334B2}"/>
              </a:ext>
            </a:extLst>
          </p:cNvPr>
          <p:cNvSpPr txBox="1"/>
          <p:nvPr/>
        </p:nvSpPr>
        <p:spPr>
          <a:xfrm>
            <a:off x="1422400" y="4807096"/>
            <a:ext cx="66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(g–</a:t>
            </a:r>
            <a:r>
              <a:rPr lang="en-US" altLang="zh-TW" dirty="0" err="1"/>
              <a:t>i</a:t>
            </a:r>
            <a:r>
              <a:rPr lang="en-US" altLang="zh-TW" dirty="0"/>
              <a:t>) EDS results of CHP-LMNO in three selected areas of 1, 2 and 3 </a:t>
            </a:r>
          </a:p>
        </p:txBody>
      </p:sp>
    </p:spTree>
    <p:extLst>
      <p:ext uri="{BB962C8B-B14F-4D97-AF65-F5344CB8AC3E}">
        <p14:creationId xmlns:p14="http://schemas.microsoft.com/office/powerpoint/2010/main" val="121164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02453-5E58-49C5-8DAA-6CBB431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TEM</a:t>
            </a:r>
            <a:endParaRPr lang="zh-TW" altLang="en-US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EDAA7DD-B7F3-71C8-3C92-3F3B41CCB648}"/>
              </a:ext>
            </a:extLst>
          </p:cNvPr>
          <p:cNvSpPr txBox="1"/>
          <p:nvPr/>
        </p:nvSpPr>
        <p:spPr>
          <a:xfrm>
            <a:off x="1422399" y="4240238"/>
            <a:ext cx="5957501" cy="93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(a and b) TEM images of CHP-LMNO; the green and blue rectangular areas in (b) show the frontal and lateral planes of a single nano- particle, </a:t>
            </a:r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5A052C7D-5E06-01C5-A161-5AD29867B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114167"/>
            <a:ext cx="5957501" cy="300250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143D802-BA32-04BB-F59C-C27EAE05DE29}"/>
              </a:ext>
            </a:extLst>
          </p:cNvPr>
          <p:cNvSpPr txBox="1"/>
          <p:nvPr/>
        </p:nvSpPr>
        <p:spPr>
          <a:xfrm>
            <a:off x="1422399" y="5299334"/>
            <a:ext cx="10341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Shows the resulting LLOs with a hierarchical porous cross-like structure.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The primary nano- particles in the </a:t>
            </a:r>
            <a:r>
              <a:rPr lang="en-US" altLang="zh-TW" b="1" dirty="0" err="1"/>
              <a:t>magniged</a:t>
            </a:r>
            <a:r>
              <a:rPr lang="en-US" altLang="zh-TW" b="1" dirty="0"/>
              <a:t> TEM image (Fig. 2b) have a hexagonal shape with a particle size of</a:t>
            </a:r>
            <a:r>
              <a:rPr lang="zh-TW" altLang="en-US" b="1" dirty="0"/>
              <a:t> </a:t>
            </a:r>
            <a:r>
              <a:rPr lang="en-US" altLang="zh-TW" b="1" dirty="0"/>
              <a:t>100 nm and the edge of each particle is clear.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5995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02453-5E58-49C5-8DAA-6CBB431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HRTEM</a:t>
            </a:r>
            <a:endParaRPr lang="zh-TW" altLang="en-US" b="1" dirty="0"/>
          </a:p>
        </p:txBody>
      </p:sp>
      <p:pic>
        <p:nvPicPr>
          <p:cNvPr id="5" name="內容版面配置區 4" descr="一張含有 文字, 螢幕擷取畫面, 天文學, 設計 的圖片&#10;&#10;AI 產生的內容可能不正確。">
            <a:extLst>
              <a:ext uri="{FF2B5EF4-FFF2-40B4-BE49-F238E27FC236}">
                <a16:creationId xmlns:a16="http://schemas.microsoft.com/office/drawing/2014/main" id="{E13F86AA-BA45-A6F5-62C0-C904A531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931213"/>
            <a:ext cx="4906273" cy="4953000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1570C0-6901-7487-7532-3A965AF2C3E3}"/>
              </a:ext>
            </a:extLst>
          </p:cNvPr>
          <p:cNvSpPr txBox="1"/>
          <p:nvPr/>
        </p:nvSpPr>
        <p:spPr>
          <a:xfrm>
            <a:off x="1422400" y="5884213"/>
            <a:ext cx="6597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(c) the HRTEM image and (d) SAED pattern of the </a:t>
            </a:r>
            <a:r>
              <a:rPr lang="en-US" altLang="zh-TW" dirty="0">
                <a:highlight>
                  <a:srgbClr val="FFFF00"/>
                </a:highlight>
              </a:rPr>
              <a:t>frontal plane</a:t>
            </a:r>
            <a:r>
              <a:rPr lang="en-US" altLang="zh-TW" dirty="0"/>
              <a:t> shown in the green rectangular area, and (e) the HRTEM image and (f) SAED pattern of the </a:t>
            </a:r>
            <a:r>
              <a:rPr lang="en-US" altLang="zh-TW" dirty="0">
                <a:highlight>
                  <a:srgbClr val="FFFF00"/>
                </a:highlight>
              </a:rPr>
              <a:t>lateral plane</a:t>
            </a:r>
            <a:r>
              <a:rPr lang="en-US" altLang="zh-TW" dirty="0"/>
              <a:t> shown in the blue rectangular area.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208228-44A2-3C28-3EDD-2AF1A1E9F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548" y="1307138"/>
            <a:ext cx="5640905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. 證明材料正面為傳統的雙相共存結構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透過觀察顆粒「正面」的 HRTEM 影像（圖 2c），量測到 0.4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2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nm的晶格條紋，這對應了單相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c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的 (020) 晶面。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對應的正面 SAED 繞射圖（圖 2d）呈現了六方晶系 R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3m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 相與單斜晶系 C2/m 相圖譜的疊加，反映了鋰離子與過渡金屬陽離子的交替有序排列。這證明了顆粒的正面為傳統的 (003) 與 (001) 晶面。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b="1" dirty="0">
                <a:solidFill>
                  <a:srgbClr val="000000"/>
                </a:solidFill>
                <a:latin typeface="Arial" panose="020B0604020202020204" pitchFamily="34" charset="0"/>
                <a:ea typeface="Google Sans Text"/>
              </a:rPr>
              <a:t>2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. 核心賣點：證明側面高度暴露了 (110) 晶面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為了證明結構設計的優勢，作者分析了顆粒的「側面」（圖 2e），HRTEM 顯示出 0.47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nm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 的晶格間距，這歸因於沿 [001] 方向的過渡金屬層間距。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配合側面的 SAED 繞射圖（圖 2f）進一步判定，強烈證明了這些奈米顆粒的側面屬於 {010} 晶面族，且明確就是 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(110) 晶面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210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E7C30-0F99-7CAC-E5E8-868A61DA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AES-ICP</a:t>
            </a:r>
            <a:endParaRPr kumimoji="1" lang="zh-TW" altLang="en-US" b="1" dirty="0"/>
          </a:p>
        </p:txBody>
      </p:sp>
      <p:pic>
        <p:nvPicPr>
          <p:cNvPr id="4" name="內容版面配置區 3" descr="一張含有 文字, 螢幕擷取畫面, 收據, 字型 的圖片&#10;&#10;AI 產生的內容可能不正確。">
            <a:extLst>
              <a:ext uri="{FF2B5EF4-FFF2-40B4-BE49-F238E27FC236}">
                <a16:creationId xmlns:a16="http://schemas.microsoft.com/office/drawing/2014/main" id="{8090151D-930F-F5BA-5491-C2D674CA4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50" y="1649709"/>
            <a:ext cx="79883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34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14CAF5-F6A8-4C11-7170-2E7EF2DC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XRD</a:t>
            </a:r>
            <a:endParaRPr kumimoji="1" lang="zh-TW" altLang="en-US" b="1" dirty="0"/>
          </a:p>
        </p:txBody>
      </p:sp>
      <p:pic>
        <p:nvPicPr>
          <p:cNvPr id="5" name="內容版面配置區 4" descr="一張含有 文字, 圖表, 行, 字型 的圖片&#10;&#10;AI 產生的內容可能不正確。">
            <a:extLst>
              <a:ext uri="{FF2B5EF4-FFF2-40B4-BE49-F238E27FC236}">
                <a16:creationId xmlns:a16="http://schemas.microsoft.com/office/drawing/2014/main" id="{FA5D9C52-FB44-3776-E843-A20AC0267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22" y="1134497"/>
            <a:ext cx="3289085" cy="248416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39B7ACD-8DFF-8CB0-7936-1A3ABD61AF6A}"/>
              </a:ext>
            </a:extLst>
          </p:cNvPr>
          <p:cNvSpPr txBox="1"/>
          <p:nvPr/>
        </p:nvSpPr>
        <p:spPr>
          <a:xfrm>
            <a:off x="1214292" y="4642228"/>
            <a:ext cx="10881015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(a).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observed,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reflecting the ordering of lithium ions in the TM layer. </a:t>
            </a:r>
          </a:p>
          <a:p>
            <a:r>
              <a:rPr kumimoji="1"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(C).</a:t>
            </a:r>
          </a:p>
          <a:p>
            <a:r>
              <a:rPr kumimoji="1"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The (110) plane has an open layered interspace for Li+ ions to intercalate into the bulk of LLOs, but there is no straight tunnel for the (018) plane due to the dense stacking of atoms in this plane </a:t>
            </a:r>
          </a:p>
        </p:txBody>
      </p:sp>
      <p:pic>
        <p:nvPicPr>
          <p:cNvPr id="8" name="圖片 7" descr="一張含有 行, 圖表, 繪圖, 文字 的圖片&#10;&#10;AI 產生的內容可能不正確。">
            <a:extLst>
              <a:ext uri="{FF2B5EF4-FFF2-40B4-BE49-F238E27FC236}">
                <a16:creationId xmlns:a16="http://schemas.microsoft.com/office/drawing/2014/main" id="{045B4616-500F-B1AE-FB5E-6119477AD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207" y="1134497"/>
            <a:ext cx="2971800" cy="2484160"/>
          </a:xfrm>
          <a:prstGeom prst="rect">
            <a:avLst/>
          </a:prstGeom>
        </p:spPr>
      </p:pic>
      <p:pic>
        <p:nvPicPr>
          <p:cNvPr id="10" name="圖片 9" descr="一張含有 行, 繪圖, 圖表, 文字 的圖片&#10;&#10;AI 產生的內容可能不正確。">
            <a:extLst>
              <a:ext uri="{FF2B5EF4-FFF2-40B4-BE49-F238E27FC236}">
                <a16:creationId xmlns:a16="http://schemas.microsoft.com/office/drawing/2014/main" id="{BDB37ED1-DCC7-D213-8BFE-70BD20078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07" y="647700"/>
            <a:ext cx="4693840" cy="374746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1074E9A-4345-9E54-31FB-E5C01B75BE56}"/>
              </a:ext>
            </a:extLst>
          </p:cNvPr>
          <p:cNvSpPr txBox="1"/>
          <p:nvPr/>
        </p:nvSpPr>
        <p:spPr>
          <a:xfrm>
            <a:off x="1236420" y="3762266"/>
            <a:ext cx="453842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altLang="zh-TW" dirty="0"/>
              <a:t>XRD patterns of CHP-LMNO and </a:t>
            </a:r>
          </a:p>
          <a:p>
            <a:pPr marL="342900" indent="-342900">
              <a:buAutoNum type="alphaLcParenBoth"/>
            </a:pPr>
            <a:r>
              <a:rPr lang="en-US" altLang="zh-TW" dirty="0"/>
              <a:t>local magnification (b and c and inset in a) </a:t>
            </a:r>
          </a:p>
        </p:txBody>
      </p:sp>
    </p:spTree>
    <p:extLst>
      <p:ext uri="{BB962C8B-B14F-4D97-AF65-F5344CB8AC3E}">
        <p14:creationId xmlns:p14="http://schemas.microsoft.com/office/powerpoint/2010/main" val="336615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921F73-78D2-339A-D0B7-06B5E597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Raman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74CF19-9C3A-0D63-1325-7CEA5EE13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0" y="1143000"/>
            <a:ext cx="10668000" cy="2096413"/>
          </a:xfrm>
        </p:spPr>
        <p:txBody>
          <a:bodyPr/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Three peaks near 600, 484 and 432 cm</a:t>
            </a:r>
            <a:r>
              <a:rPr lang="en-US" altLang="zh-TW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, which correspond to two Raman active vibrations of A1g and Eg in LLOs with R-3m symmetry and a fingerprint vibration of the superlattice, respectively. 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In general, A1g represents the symmetrical stretching of M–O and Eg represents symmetrical deformation. </a:t>
            </a:r>
          </a:p>
          <a:p>
            <a:endParaRPr lang="en-US" altLang="zh-TW" sz="2000" dirty="0"/>
          </a:p>
          <a:p>
            <a:endParaRPr kumimoji="1" lang="zh-TW" altLang="en-US" dirty="0"/>
          </a:p>
        </p:txBody>
      </p:sp>
      <p:pic>
        <p:nvPicPr>
          <p:cNvPr id="5" name="圖片 4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90569797-FEF4-6A11-36DD-246908E32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3239413"/>
            <a:ext cx="4587498" cy="361858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C67713C-49A0-EF2E-7EEF-0F9B9E077416}"/>
              </a:ext>
            </a:extLst>
          </p:cNvPr>
          <p:cNvSpPr txBox="1"/>
          <p:nvPr/>
        </p:nvSpPr>
        <p:spPr>
          <a:xfrm>
            <a:off x="6111499" y="3295422"/>
            <a:ext cx="577570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Originating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Mn-rich region in the Li2MnO3-like C2/m structure,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the strongest peak near 605 cm</a:t>
            </a:r>
            <a:r>
              <a:rPr lang="en-US" altLang="zh-TW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 corresponds to A1g without any splitting indicating a uniform layered structure in CHP-LMNO.</a:t>
            </a:r>
          </a:p>
          <a:p>
            <a:endParaRPr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1809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37E4-DBEA-75C1-1DF3-BD84DBCC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6BD74E-6CF1-0D5B-FFE2-0C1456D9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Raman</a:t>
            </a:r>
            <a:endParaRPr kumimoji="1" lang="zh-TW" altLang="en-US" b="1" dirty="0"/>
          </a:p>
        </p:txBody>
      </p:sp>
      <p:pic>
        <p:nvPicPr>
          <p:cNvPr id="5" name="圖片 4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4E1E31AC-F053-AD26-B837-B401F438A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28" y="2098221"/>
            <a:ext cx="3746826" cy="2955471"/>
          </a:xfrm>
          <a:prstGeom prst="rect">
            <a:avLst/>
          </a:prstGeom>
        </p:spPr>
      </p:pic>
      <p:pic>
        <p:nvPicPr>
          <p:cNvPr id="7" name="圖片 6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D060D454-4895-1F85-AC02-799D6FD58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990600"/>
            <a:ext cx="7772400" cy="53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24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4DC17-E1B0-F8F5-EDED-AC00B88F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04800"/>
            <a:ext cx="1475783" cy="685800"/>
          </a:xfrm>
        </p:spPr>
        <p:txBody>
          <a:bodyPr/>
          <a:lstStyle/>
          <a:p>
            <a:pPr algn="l"/>
            <a:r>
              <a:rPr kumimoji="1" lang="en-US" altLang="zh-TW" b="1" dirty="0"/>
              <a:t>XPS</a:t>
            </a:r>
            <a:endParaRPr kumimoji="1" lang="zh-TW" altLang="en-US" b="1" dirty="0"/>
          </a:p>
        </p:txBody>
      </p:sp>
      <p:pic>
        <p:nvPicPr>
          <p:cNvPr id="5" name="內容版面配置區 4" descr="一張含有 行, 繪圖, 圖表, 文字 的圖片&#10;&#10;AI 產生的內容可能不正確。">
            <a:extLst>
              <a:ext uri="{FF2B5EF4-FFF2-40B4-BE49-F238E27FC236}">
                <a16:creationId xmlns:a16="http://schemas.microsoft.com/office/drawing/2014/main" id="{F1C9054B-4106-5B8F-C99F-61B360208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752" y="1071965"/>
            <a:ext cx="4746622" cy="3533829"/>
          </a:xfrm>
        </p:spPr>
      </p:pic>
      <p:pic>
        <p:nvPicPr>
          <p:cNvPr id="7" name="圖片 6" descr="一張含有 行, 繪圖, 圖表, 斜率、斜坡 的圖片&#10;&#10;AI 產生的內容可能不正確。">
            <a:extLst>
              <a:ext uri="{FF2B5EF4-FFF2-40B4-BE49-F238E27FC236}">
                <a16:creationId xmlns:a16="http://schemas.microsoft.com/office/drawing/2014/main" id="{7633AD24-7C12-40E9-8963-268EAD4DC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99" y="1071965"/>
            <a:ext cx="4809353" cy="35547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193C262-5700-5EA1-0C26-99D4EE473ADE}"/>
              </a:ext>
            </a:extLst>
          </p:cNvPr>
          <p:cNvSpPr txBox="1"/>
          <p:nvPr/>
        </p:nvSpPr>
        <p:spPr>
          <a:xfrm>
            <a:off x="1422399" y="4942703"/>
            <a:ext cx="9555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observed peak bonding energies of Ni 2p and Mn 2p are 854.9 eV and 642.3 eV, respectively, which are in good agree- </a:t>
            </a:r>
            <a:r>
              <a:rPr lang="en-US" altLang="zh-TW" dirty="0" err="1"/>
              <a:t>ment</a:t>
            </a:r>
            <a:r>
              <a:rPr lang="en-US" altLang="zh-TW" dirty="0"/>
              <a:t> with Ni2+ and Mn4+ reported in the LLOs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287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52358-358E-B2C7-D583-6BEEF297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08029"/>
            <a:ext cx="10464800" cy="685800"/>
          </a:xfrm>
        </p:spPr>
        <p:txBody>
          <a:bodyPr/>
          <a:lstStyle/>
          <a:p>
            <a:pPr algn="l"/>
            <a:r>
              <a:rPr kumimoji="1" lang="en-US" altLang="zh-TW" b="1" dirty="0"/>
              <a:t>Normal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LLO</a:t>
            </a:r>
            <a:endParaRPr kumimoji="1" lang="zh-TW" altLang="en-US" b="1" dirty="0"/>
          </a:p>
        </p:txBody>
      </p:sp>
      <p:pic>
        <p:nvPicPr>
          <p:cNvPr id="4" name="內容版面配置區 3" descr="一張含有 花, 文字, 螢幕擷取畫面 的圖片&#10;&#10;AI 產生的內容可能不正確。">
            <a:extLst>
              <a:ext uri="{FF2B5EF4-FFF2-40B4-BE49-F238E27FC236}">
                <a16:creationId xmlns:a16="http://schemas.microsoft.com/office/drawing/2014/main" id="{46B76137-07E8-134C-0BD1-42775E79D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54071"/>
            <a:ext cx="5850000" cy="4953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CC83A44-E2E1-A5FA-BFCB-369CA9B6BC79}"/>
              </a:ext>
            </a:extLst>
          </p:cNvPr>
          <p:cNvSpPr txBox="1"/>
          <p:nvPr/>
        </p:nvSpPr>
        <p:spPr>
          <a:xfrm>
            <a:off x="7435313" y="1254070"/>
            <a:ext cx="46378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can be found that there are no obviously oriented crystal planes in the LMNO sample.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seen in ICP</a:t>
            </a:r>
            <a:r>
              <a:rPr lang="zh-TW" alt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no signi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cant difference in chemical composition between LMNO and CHP-LMNO.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Therefore, any differences in electrochemical performance between the two samples should be attributed to their different structure.</a:t>
            </a:r>
          </a:p>
        </p:txBody>
      </p:sp>
    </p:spTree>
    <p:extLst>
      <p:ext uri="{BB962C8B-B14F-4D97-AF65-F5344CB8AC3E}">
        <p14:creationId xmlns:p14="http://schemas.microsoft.com/office/powerpoint/2010/main" val="3580078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09757-D5EC-C200-A14E-27B20760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086100"/>
            <a:ext cx="10464800" cy="685800"/>
          </a:xfrm>
        </p:spPr>
        <p:txBody>
          <a:bodyPr/>
          <a:lstStyle/>
          <a:p>
            <a:r>
              <a:rPr kumimoji="1" lang="zh-TW" altLang="en-US" sz="6000" b="1" dirty="0"/>
              <a:t>十字型之合成</a:t>
            </a:r>
          </a:p>
        </p:txBody>
      </p:sp>
    </p:spTree>
    <p:extLst>
      <p:ext uri="{BB962C8B-B14F-4D97-AF65-F5344CB8AC3E}">
        <p14:creationId xmlns:p14="http://schemas.microsoft.com/office/powerpoint/2010/main" val="2021218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ED886-8AC5-1986-5FFE-97220712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Formation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of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structure</a:t>
            </a:r>
            <a:endParaRPr kumimoji="1" lang="zh-TW" altLang="en-US" b="1" dirty="0"/>
          </a:p>
        </p:txBody>
      </p:sp>
      <p:pic>
        <p:nvPicPr>
          <p:cNvPr id="4" name="內容版面配置區 3" descr="一張含有 黑與白, 螢幕擷取畫面, 單色, 文字 的圖片&#10;&#10;AI 產生的內容可能不正確。">
            <a:extLst>
              <a:ext uri="{FF2B5EF4-FFF2-40B4-BE49-F238E27FC236}">
                <a16:creationId xmlns:a16="http://schemas.microsoft.com/office/drawing/2014/main" id="{AF385A2F-E1A6-8922-8C48-95E17C46F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50950"/>
            <a:ext cx="7327900" cy="43561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AC4925F-1B7B-4C17-CA9E-86F551D54911}"/>
              </a:ext>
            </a:extLst>
          </p:cNvPr>
          <p:cNvSpPr/>
          <p:nvPr/>
        </p:nvSpPr>
        <p:spPr bwMode="auto">
          <a:xfrm>
            <a:off x="1422400" y="5238427"/>
            <a:ext cx="1770251" cy="368623"/>
          </a:xfrm>
          <a:prstGeom prst="rect">
            <a:avLst/>
          </a:prstGeom>
          <a:noFill/>
          <a:ln w="571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8667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2ADE-3CAA-F34E-F6F2-FB6A2288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ECF20-E6A1-F2DD-26AF-9DAB0F88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Formation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of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structure</a:t>
            </a:r>
            <a:endParaRPr kumimoji="1" lang="zh-TW" altLang="en-US" b="1" dirty="0"/>
          </a:p>
        </p:txBody>
      </p:sp>
      <p:pic>
        <p:nvPicPr>
          <p:cNvPr id="8" name="圖片 7" descr="一張含有 文字, 圖表, 行, 寫生 的圖片&#10;&#10;AI 產生的內容可能不正確。">
            <a:extLst>
              <a:ext uri="{FF2B5EF4-FFF2-40B4-BE49-F238E27FC236}">
                <a16:creationId xmlns:a16="http://schemas.microsoft.com/office/drawing/2014/main" id="{C2249FB7-7CBB-8592-CCFC-15ECC87F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0" y="1563121"/>
            <a:ext cx="5029726" cy="40257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0EB8ADC-D35D-FE35-9C60-2302D50C73EB}"/>
              </a:ext>
            </a:extLst>
          </p:cNvPr>
          <p:cNvSpPr/>
          <p:nvPr/>
        </p:nvSpPr>
        <p:spPr bwMode="auto">
          <a:xfrm>
            <a:off x="3208155" y="5220561"/>
            <a:ext cx="1155150" cy="368622"/>
          </a:xfrm>
          <a:prstGeom prst="rect">
            <a:avLst/>
          </a:prstGeom>
          <a:noFill/>
          <a:ln w="571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12" name="圖片 11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4CA72A6A-F192-16FD-1031-4ED2DE126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976" y="1563121"/>
            <a:ext cx="7087024" cy="40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15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ABCF-8AB2-9B5B-E09F-3BE13538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CEBCB3-A881-E214-C918-6669AD3F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Formation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of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structure</a:t>
            </a:r>
            <a:endParaRPr kumimoji="1" lang="zh-TW" altLang="en-US" b="1" dirty="0"/>
          </a:p>
        </p:txBody>
      </p:sp>
      <p:pic>
        <p:nvPicPr>
          <p:cNvPr id="3" name="圖片 2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3AFC269C-353C-F99E-2F69-A1C3D2BA5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149" y="1415106"/>
            <a:ext cx="5029725" cy="402778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58CBEC3-80CE-6E1A-F8E0-1D3347745EB8}"/>
              </a:ext>
            </a:extLst>
          </p:cNvPr>
          <p:cNvSpPr/>
          <p:nvPr/>
        </p:nvSpPr>
        <p:spPr bwMode="auto">
          <a:xfrm>
            <a:off x="6769316" y="5074271"/>
            <a:ext cx="1305302" cy="368623"/>
          </a:xfrm>
          <a:prstGeom prst="rect">
            <a:avLst/>
          </a:prstGeom>
          <a:noFill/>
          <a:ln w="571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6153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B8859-589D-F793-1709-A550E5C3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2BF90-2FC4-32A4-4C51-B299FBC3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Formation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of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structure</a:t>
            </a:r>
            <a:endParaRPr kumimoji="1" lang="zh-TW" altLang="en-US" b="1" dirty="0"/>
          </a:p>
        </p:txBody>
      </p:sp>
      <p:pic>
        <p:nvPicPr>
          <p:cNvPr id="7" name="圖片 6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594EB8A0-1D8C-3016-A295-4DFB2B8A2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990600"/>
            <a:ext cx="6078026" cy="425565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0F5700B-F32B-3093-9C95-1C38046D5033}"/>
              </a:ext>
            </a:extLst>
          </p:cNvPr>
          <p:cNvSpPr/>
          <p:nvPr/>
        </p:nvSpPr>
        <p:spPr bwMode="auto">
          <a:xfrm>
            <a:off x="5172990" y="4890977"/>
            <a:ext cx="2064717" cy="368623"/>
          </a:xfrm>
          <a:prstGeom prst="rect">
            <a:avLst/>
          </a:prstGeom>
          <a:noFill/>
          <a:ln w="571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B96D252-FF07-699E-C970-F3449E5C155D}"/>
              </a:ext>
            </a:extLst>
          </p:cNvPr>
          <p:cNvSpPr txBox="1"/>
          <p:nvPr/>
        </p:nvSpPr>
        <p:spPr>
          <a:xfrm>
            <a:off x="1422400" y="5359568"/>
            <a:ext cx="1046480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000" b="1" dirty="0">
                <a:effectLst/>
                <a:latin typeface="AdvOT999035f4"/>
              </a:rPr>
              <a:t>The Mn : Ni ratio in the oxides from EDS is about 2.3 : 1, which is well in agreement with the results of ICP and</a:t>
            </a:r>
            <a:r>
              <a:rPr lang="zh-TW" altLang="en-US" sz="2000" b="1" dirty="0">
                <a:effectLst/>
                <a:latin typeface="AdvOT999035f4"/>
              </a:rPr>
              <a:t> </a:t>
            </a:r>
            <a:r>
              <a:rPr lang="en-US" altLang="zh-TW" sz="2000" b="1" dirty="0">
                <a:effectLst/>
                <a:latin typeface="AdvOT999035f4"/>
              </a:rPr>
              <a:t>final</a:t>
            </a:r>
            <a:r>
              <a:rPr lang="zh-TW" altLang="en-US" sz="2000" b="1" dirty="0">
                <a:effectLst/>
                <a:latin typeface="AdvOT999035f4"/>
              </a:rPr>
              <a:t> </a:t>
            </a:r>
            <a:r>
              <a:rPr lang="en-US" altLang="zh-TW" sz="2000" b="1" dirty="0">
                <a:effectLst/>
                <a:latin typeface="AdvOT999035f4"/>
              </a:rPr>
              <a:t>product</a:t>
            </a:r>
            <a:r>
              <a:rPr lang="zh-TW" altLang="en-US" sz="2000" b="1" dirty="0">
                <a:effectLst/>
                <a:latin typeface="AdvOT999035f4"/>
              </a:rPr>
              <a:t> </a:t>
            </a:r>
            <a:r>
              <a:rPr lang="en-US" altLang="zh-TW" sz="2000" b="1" dirty="0">
                <a:effectLst/>
                <a:latin typeface="AdvOT999035f4"/>
              </a:rPr>
              <a:t>but lower than the mole ratio of MnCl2 (0.15 M) : Ni(NO3)2 (0.05 M) for the preparation of oxalates. =&gt;</a:t>
            </a:r>
            <a:r>
              <a:rPr lang="zh-TW" altLang="en-US" sz="2000" b="1" dirty="0">
                <a:effectLst/>
                <a:latin typeface="AdvOT999035f4"/>
              </a:rPr>
              <a:t>（由於草酸錳和鎳溶解度差異造成錳流失）</a:t>
            </a:r>
            <a:endParaRPr lang="en-US" altLang="zh-TW" sz="2000" b="1" dirty="0">
              <a:effectLst/>
              <a:latin typeface="AdvOT999035f4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1385072-5508-7249-9239-4EC92367686E}"/>
              </a:ext>
            </a:extLst>
          </p:cNvPr>
          <p:cNvSpPr txBox="1"/>
          <p:nvPr/>
        </p:nvSpPr>
        <p:spPr>
          <a:xfrm>
            <a:off x="7836546" y="2749094"/>
            <a:ext cx="2933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400" b="1" dirty="0">
                <a:effectLst/>
                <a:highlight>
                  <a:srgbClr val="FFFF00"/>
                </a:highlight>
                <a:latin typeface="AdvOT999035f4"/>
              </a:rPr>
              <a:t>uniformly distributed. </a:t>
            </a:r>
            <a:endParaRPr lang="en-US" altLang="zh-TW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3174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1B32E2-F282-FAC8-B113-FB2448ED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mechanism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8083B-4363-29E5-2FD2-74B109EA7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060CEDF7-8C88-1C4B-76C9-159D9E8A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99" y="1143000"/>
            <a:ext cx="1061027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89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30F19-DED2-CE99-1FC1-464B393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mechanism</a:t>
            </a:r>
            <a:endParaRPr kumimoji="1" lang="zh-TW" altLang="en-US" dirty="0"/>
          </a:p>
        </p:txBody>
      </p:sp>
      <p:pic>
        <p:nvPicPr>
          <p:cNvPr id="5" name="內容版面配置區 4" descr="一張含有 螢幕擷取畫面, 地圖 的圖片&#10;&#10;AI 產生的內容可能不正確。">
            <a:extLst>
              <a:ext uri="{FF2B5EF4-FFF2-40B4-BE49-F238E27FC236}">
                <a16:creationId xmlns:a16="http://schemas.microsoft.com/office/drawing/2014/main" id="{300570CE-129C-03FF-665F-72F9A78FC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00665"/>
            <a:ext cx="5062988" cy="3969542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737D4A3-102F-5C55-1A70-CDD0B462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88" y="1134964"/>
            <a:ext cx="54018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兩者的共同存在對於形成十字交叉狀形態是不可或缺的。在生長方向上可能存在不同的吸引交互作用，且金屬草酸鹽直接的非等向性（各向異性）生長動力學，促進了在微乳液反應/合成過程中十字交叉形狀的形成。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9CA5BA3-2345-5EAB-FAA6-E98DF6B01458}"/>
              </a:ext>
            </a:extLst>
          </p:cNvPr>
          <p:cNvSpPr txBox="1"/>
          <p:nvPr/>
        </p:nvSpPr>
        <p:spPr>
          <a:xfrm>
            <a:off x="6485388" y="2967335"/>
            <a:ext cx="5401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特定的晶面定向可歸因於界面活性劑十六烷基三甲基溴化銨 (CTAB)，其親水基團吸附在某些結晶面上，進而改變了表面能。</a:t>
            </a:r>
            <a:endParaRPr lang="zh-TW" altLang="zh-TW" dirty="0"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439ADCF-A7F0-6C86-7094-C14DD1351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88" y="4316280"/>
            <a:ext cx="54018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由於金屬草酸鹽奈米結構的定向生長動力學，加上 CTAB 的表面鈍化作用，本研究中的十字交叉結構被認為是這兩者協同作用的結果。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54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4010F-D094-C092-D808-9426C280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086100"/>
            <a:ext cx="10464800" cy="685800"/>
          </a:xfrm>
        </p:spPr>
        <p:txBody>
          <a:bodyPr/>
          <a:lstStyle/>
          <a:p>
            <a:r>
              <a:rPr kumimoji="1" lang="zh-TW" altLang="en-US" sz="6000" b="1" dirty="0"/>
              <a:t>電性分析</a:t>
            </a:r>
          </a:p>
        </p:txBody>
      </p:sp>
    </p:spTree>
    <p:extLst>
      <p:ext uri="{BB962C8B-B14F-4D97-AF65-F5344CB8AC3E}">
        <p14:creationId xmlns:p14="http://schemas.microsoft.com/office/powerpoint/2010/main" val="864014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B5E7C-6F3F-C258-93CF-34098AA3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b="1" dirty="0"/>
              <a:t>富鋰錳電池反應</a:t>
            </a:r>
            <a:endParaRPr kumimoji="1" lang="zh-TW" altLang="en-US" b="1" dirty="0"/>
          </a:p>
        </p:txBody>
      </p:sp>
      <p:pic>
        <p:nvPicPr>
          <p:cNvPr id="4" name="內容版面配置區 3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4BC4C671-BC29-C3A1-D8BF-F7999A365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603" y="1315278"/>
            <a:ext cx="730039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4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352744-367C-82A5-AAA1-487FA54E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Charge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discharge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plot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797E8E-AE2C-87EB-1DE6-447D6B25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1650569"/>
            <a:ext cx="6931186" cy="4445430"/>
          </a:xfrm>
        </p:spPr>
        <p:txBody>
          <a:bodyPr/>
          <a:lstStyle/>
          <a:p>
            <a:r>
              <a:rPr lang="en-US" altLang="zh-TW" dirty="0"/>
              <a:t>276 mAhg</a:t>
            </a:r>
            <a:r>
              <a:rPr lang="en-US" altLang="zh-TW" baseline="30000" dirty="0"/>
              <a:t>-1</a:t>
            </a:r>
            <a:r>
              <a:rPr lang="en-US" altLang="zh-TW" dirty="0"/>
              <a:t> at 0.1C (where 1C= 250 mAg</a:t>
            </a:r>
            <a:r>
              <a:rPr lang="en-US" altLang="zh-TW" baseline="30000" dirty="0"/>
              <a:t>-1</a:t>
            </a:r>
            <a:r>
              <a:rPr lang="en-US" altLang="zh-TW" dirty="0"/>
              <a:t>) </a:t>
            </a:r>
          </a:p>
          <a:p>
            <a:r>
              <a:rPr lang="en-US" altLang="zh-TW" dirty="0"/>
              <a:t>a slope region below 4.5 V, assigned to Li</a:t>
            </a:r>
            <a:r>
              <a:rPr lang="en-US" altLang="zh-TW" baseline="30000" dirty="0"/>
              <a:t>+</a:t>
            </a:r>
            <a:r>
              <a:rPr lang="en-US" altLang="zh-TW" dirty="0"/>
              <a:t> extraction from the LiMO</a:t>
            </a:r>
            <a:r>
              <a:rPr lang="en-US" altLang="zh-TW" baseline="-25000" dirty="0"/>
              <a:t>2</a:t>
            </a:r>
            <a:r>
              <a:rPr lang="en-US" altLang="zh-TW" dirty="0"/>
              <a:t> phase accompanied by the oxidation of Ni</a:t>
            </a:r>
            <a:r>
              <a:rPr lang="en-US" altLang="zh-TW" baseline="30000" dirty="0"/>
              <a:t>2+/</a:t>
            </a:r>
            <a:r>
              <a:rPr lang="en-US" altLang="zh-TW" dirty="0"/>
              <a:t>Ni</a:t>
            </a:r>
            <a:r>
              <a:rPr lang="en-US" altLang="zh-TW" baseline="30000" dirty="0"/>
              <a:t>3+/</a:t>
            </a:r>
            <a:r>
              <a:rPr lang="en-US" altLang="zh-TW" dirty="0"/>
              <a:t>Ni</a:t>
            </a:r>
            <a:r>
              <a:rPr lang="en-US" altLang="zh-TW" baseline="30000" dirty="0"/>
              <a:t>4+ </a:t>
            </a:r>
          </a:p>
          <a:p>
            <a:r>
              <a:rPr lang="en-US" altLang="zh-TW" dirty="0"/>
              <a:t>a long plateau region around 4.5 V, corresponding to the activation of Li2MnO3 accompanied by the irreversible loss of oxygen. </a:t>
            </a:r>
          </a:p>
        </p:txBody>
      </p:sp>
      <p:pic>
        <p:nvPicPr>
          <p:cNvPr id="5" name="圖片 4" descr="一張含有 行, 文字, 圖表, 繪圖 的圖片&#10;&#10;AI 產生的內容可能不正確。">
            <a:extLst>
              <a:ext uri="{FF2B5EF4-FFF2-40B4-BE49-F238E27FC236}">
                <a16:creationId xmlns:a16="http://schemas.microsoft.com/office/drawing/2014/main" id="{7D5C01DE-7568-9A2D-ED63-79B6CE555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586" y="2480913"/>
            <a:ext cx="3572679" cy="27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12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7B38B-1D9B-7497-2C75-D266E1CE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differential charge curves </a:t>
            </a:r>
            <a:endParaRPr kumimoji="1" lang="zh-TW" altLang="en-US" b="1" dirty="0"/>
          </a:p>
        </p:txBody>
      </p:sp>
      <p:pic>
        <p:nvPicPr>
          <p:cNvPr id="5" name="內容版面配置區 4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84E1BADC-105F-26BB-E667-0D524AAAA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338469"/>
            <a:ext cx="5715033" cy="4297017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255B2EE-88E2-93BA-274B-CB921DE222BC}"/>
              </a:ext>
            </a:extLst>
          </p:cNvPr>
          <p:cNvSpPr txBox="1"/>
          <p:nvPr/>
        </p:nvSpPr>
        <p:spPr>
          <a:xfrm>
            <a:off x="7297532" y="990600"/>
            <a:ext cx="4894468" cy="542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the first oxidation peak at around </a:t>
            </a:r>
            <a:r>
              <a:rPr lang="en-US" altLang="zh-TW" sz="2000" b="1" dirty="0">
                <a:highlight>
                  <a:srgbClr val="FFFF00"/>
                </a:highlight>
              </a:rPr>
              <a:t>3.83 V</a:t>
            </a:r>
            <a:r>
              <a:rPr lang="en-US" altLang="zh-TW" sz="2000" b="1" dirty="0"/>
              <a:t> is ascribed to the oxidation process of </a:t>
            </a:r>
            <a:r>
              <a:rPr lang="en-US" altLang="zh-TW" sz="2000" b="1" dirty="0">
                <a:highlight>
                  <a:srgbClr val="FFFF00"/>
                </a:highlight>
              </a:rPr>
              <a:t>Ni2</a:t>
            </a:r>
            <a:r>
              <a:rPr lang="en-US" altLang="zh-TW" sz="2000" b="1" baseline="30000" dirty="0">
                <a:highlight>
                  <a:srgbClr val="FFFF00"/>
                </a:highlight>
              </a:rPr>
              <a:t>+</a:t>
            </a:r>
            <a:r>
              <a:rPr lang="en-US" altLang="zh-TW" sz="2000" b="1" dirty="0">
                <a:highlight>
                  <a:srgbClr val="FFFF00"/>
                </a:highlight>
              </a:rPr>
              <a:t> to Ni3</a:t>
            </a:r>
            <a:r>
              <a:rPr lang="en-US" altLang="zh-TW" sz="2000" b="1" baseline="30000" dirty="0">
                <a:highlight>
                  <a:srgbClr val="FFFF00"/>
                </a:highlight>
              </a:rPr>
              <a:t>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the following peak at around </a:t>
            </a:r>
            <a:r>
              <a:rPr lang="en-US" altLang="zh-TW" sz="2000" b="1" dirty="0">
                <a:highlight>
                  <a:srgbClr val="FFFF00"/>
                </a:highlight>
              </a:rPr>
              <a:t>4.09 V</a:t>
            </a:r>
            <a:r>
              <a:rPr lang="en-US" altLang="zh-TW" sz="2000" b="1" dirty="0"/>
              <a:t> is assigned to the oxidation of </a:t>
            </a:r>
            <a:r>
              <a:rPr lang="en-US" altLang="zh-TW" sz="2000" b="1" dirty="0">
                <a:highlight>
                  <a:srgbClr val="FFFF00"/>
                </a:highlight>
              </a:rPr>
              <a:t>Ni3</a:t>
            </a:r>
            <a:r>
              <a:rPr lang="en-US" altLang="zh-TW" sz="2000" b="1" baseline="30000" dirty="0">
                <a:highlight>
                  <a:srgbClr val="FFFF00"/>
                </a:highlight>
              </a:rPr>
              <a:t>+</a:t>
            </a:r>
            <a:r>
              <a:rPr lang="en-US" altLang="zh-TW" sz="2000" b="1" dirty="0">
                <a:highlight>
                  <a:srgbClr val="FFFF00"/>
                </a:highlight>
              </a:rPr>
              <a:t> to Ni4</a:t>
            </a:r>
            <a:r>
              <a:rPr lang="en-US" altLang="zh-TW" sz="2000" b="1" baseline="30000" dirty="0">
                <a:highlight>
                  <a:srgbClr val="FFFF00"/>
                </a:highlight>
              </a:rPr>
              <a:t>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baseline="300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the third sharp oxidation peak at </a:t>
            </a:r>
            <a:r>
              <a:rPr lang="en-US" altLang="zh-TW" sz="2000" b="1" dirty="0">
                <a:highlight>
                  <a:srgbClr val="FFFF00"/>
                </a:highlight>
              </a:rPr>
              <a:t>4.56 V</a:t>
            </a:r>
            <a:r>
              <a:rPr lang="en-US" altLang="zh-TW" sz="2000" b="1" dirty="0"/>
              <a:t> is normally associated with </a:t>
            </a:r>
            <a:r>
              <a:rPr lang="en-US" altLang="zh-TW" sz="2000" b="1" dirty="0">
                <a:highlight>
                  <a:srgbClr val="FFFF00"/>
                </a:highlight>
              </a:rPr>
              <a:t>irreversible oxidation</a:t>
            </a:r>
            <a:r>
              <a:rPr lang="en-US" altLang="zh-TW" sz="2000" b="1" dirty="0"/>
              <a:t> and decomposition of the electrolyte.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However, all oxidation peaks of LMNO shift slightly towards high voltage, which indicates that </a:t>
            </a:r>
            <a:r>
              <a:rPr lang="en-US" altLang="zh-TW" sz="2000" b="1" u="sng" dirty="0"/>
              <a:t>LMNO suffers a more serious polarization compared with the CHP-LMNO</a:t>
            </a:r>
            <a:r>
              <a:rPr lang="en-US" altLang="zh-TW" sz="2000" b="1" dirty="0"/>
              <a:t>. </a:t>
            </a:r>
          </a:p>
          <a:p>
            <a:endParaRPr kumimoji="1"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0243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6D92-A245-16E0-4EEA-512EB6E8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039D2-8BAB-52D5-3590-E2752EE3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differential charge curves </a:t>
            </a:r>
            <a:endParaRPr kumimoji="1" lang="zh-TW" altLang="en-US" b="1" dirty="0"/>
          </a:p>
        </p:txBody>
      </p:sp>
      <p:pic>
        <p:nvPicPr>
          <p:cNvPr id="4" name="圖片 3" descr="一張含有 圖表, 繪圖, 文字, 行 的圖片&#10;&#10;AI 產生的內容可能不正確。">
            <a:extLst>
              <a:ext uri="{FF2B5EF4-FFF2-40B4-BE49-F238E27FC236}">
                <a16:creationId xmlns:a16="http://schemas.microsoft.com/office/drawing/2014/main" id="{E40A7EA3-562F-2549-665C-1B60CB396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43" y="3845339"/>
            <a:ext cx="6632351" cy="301266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6B02D08-FA4A-0C98-8EAD-2C57EF430A74}"/>
              </a:ext>
            </a:extLst>
          </p:cNvPr>
          <p:cNvSpPr txBox="1"/>
          <p:nvPr/>
        </p:nvSpPr>
        <p:spPr>
          <a:xfrm>
            <a:off x="1329634" y="1187174"/>
            <a:ext cx="107165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dvOT999035f4"/>
              </a:rPr>
              <a:t>The </a:t>
            </a:r>
            <a:r>
              <a:rPr lang="en-US" altLang="zh-TW" sz="2000" b="1" dirty="0">
                <a:latin typeface="AdvOT999035f4+e1"/>
              </a:rPr>
              <a:t>fi</a:t>
            </a:r>
            <a:r>
              <a:rPr lang="en-US" altLang="zh-TW" sz="2000" b="1" dirty="0">
                <a:effectLst/>
                <a:latin typeface="AdvOT999035f4"/>
              </a:rPr>
              <a:t>rst reduction peak (Re1) around 4.5 V involves the reduction of O</a:t>
            </a:r>
            <a:r>
              <a:rPr lang="en-US" altLang="zh-TW" sz="2000" b="1" baseline="-25000" dirty="0">
                <a:effectLst/>
                <a:latin typeface="AdvOTce71c481.I"/>
              </a:rPr>
              <a:t>n</a:t>
            </a:r>
            <a:r>
              <a:rPr lang="en-US" altLang="zh-TW" sz="2000" b="1" dirty="0">
                <a:effectLst/>
                <a:latin typeface="AdvP4C4E74"/>
              </a:rPr>
              <a:t> </a:t>
            </a:r>
            <a:r>
              <a:rPr lang="en-US" altLang="zh-TW" sz="2000" b="1" dirty="0">
                <a:effectLst/>
                <a:latin typeface="AdvOT999035f4"/>
              </a:rPr>
              <a:t>(</a:t>
            </a:r>
            <a:r>
              <a:rPr lang="en-US" altLang="zh-TW" sz="2000" b="1" dirty="0">
                <a:effectLst/>
                <a:latin typeface="AdvOTce71c481.I"/>
              </a:rPr>
              <a:t>n </a:t>
            </a:r>
            <a:r>
              <a:rPr lang="en-US" altLang="zh-TW" sz="2000" b="1" dirty="0">
                <a:effectLst/>
                <a:latin typeface="AdvOT999035f4"/>
              </a:rPr>
              <a:t>&lt;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>
              <a:latin typeface="AdvOTaa6301a5.B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dvOT999035f4"/>
              </a:rPr>
              <a:t>the second reduction peak (Re2) around 3.5 V is related to the reduction of Ni4+/Ni2+, corresponding to Li occupation in octahedral sites</a:t>
            </a:r>
            <a:endParaRPr lang="en-US" altLang="zh-TW" sz="2000" b="1" dirty="0">
              <a:latin typeface="AdvOT999035f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>
              <a:effectLst/>
              <a:latin typeface="AdvOT999035f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>
                <a:effectLst/>
                <a:latin typeface="AdvOT999035f4"/>
              </a:rPr>
              <a:t>the third reduction peak (Re3) less than 3.5 V can be explained by the reduction of Mn4+/Mn3+.</a:t>
            </a:r>
            <a:r>
              <a:rPr lang="en-US" altLang="zh-TW" sz="2000" b="1" dirty="0">
                <a:effectLst/>
                <a:latin typeface="AdvOTaa6301a5.B"/>
              </a:rPr>
              <a:t> </a:t>
            </a:r>
            <a:r>
              <a:rPr lang="en-US" altLang="zh-TW" sz="2000" b="1" dirty="0">
                <a:effectLst/>
                <a:latin typeface="AdvOT999035f4"/>
              </a:rPr>
              <a:t>The Re3 peaks in LMNO obviously shi</a:t>
            </a:r>
            <a:r>
              <a:rPr lang="en-US" altLang="zh-TW" sz="2000" b="1" dirty="0">
                <a:effectLst/>
                <a:latin typeface="AdvOT999035f4+e0"/>
              </a:rPr>
              <a:t>ft </a:t>
            </a:r>
            <a:r>
              <a:rPr lang="en-US" altLang="zh-TW" sz="2000" b="1" dirty="0">
                <a:effectLst/>
                <a:latin typeface="AdvOT999035f4"/>
              </a:rPr>
              <a:t>to low voltage, which is also attributed to more serious structural transformation from layers to spinel. (MnO</a:t>
            </a:r>
            <a:r>
              <a:rPr lang="en-US" altLang="zh-TW" sz="2000" b="1" baseline="-25000" dirty="0">
                <a:effectLst/>
                <a:latin typeface="AdvOT999035f4"/>
              </a:rPr>
              <a:t>2</a:t>
            </a:r>
            <a:r>
              <a:rPr lang="en-US" altLang="zh-TW" sz="2000" b="1" dirty="0">
                <a:effectLst/>
                <a:latin typeface="AdvOT999035f4"/>
              </a:rPr>
              <a:t>)</a:t>
            </a:r>
            <a:endParaRPr lang="en-US" altLang="zh-TW" sz="2000" b="1" dirty="0"/>
          </a:p>
        </p:txBody>
      </p:sp>
    </p:spTree>
    <p:extLst>
      <p:ext uri="{BB962C8B-B14F-4D97-AF65-F5344CB8AC3E}">
        <p14:creationId xmlns:p14="http://schemas.microsoft.com/office/powerpoint/2010/main" val="3409277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85DAA2-C51B-0333-F65C-A5A3CAF5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0.5C for 200 cycles </a:t>
            </a:r>
            <a:endParaRPr kumimoji="1" lang="zh-TW" altLang="en-US" dirty="0"/>
          </a:p>
        </p:txBody>
      </p:sp>
      <p:pic>
        <p:nvPicPr>
          <p:cNvPr id="4" name="內容版面配置區 3" descr="一張含有 文字, 行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4134C3D9-A864-8DFC-F2FE-E24451B26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80768"/>
            <a:ext cx="3568700" cy="24511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D2419FD-D2F5-20F5-5E42-DD4B4FB3DFFF}"/>
              </a:ext>
            </a:extLst>
          </p:cNvPr>
          <p:cNvSpPr txBox="1"/>
          <p:nvPr/>
        </p:nvSpPr>
        <p:spPr>
          <a:xfrm>
            <a:off x="5168349" y="1277407"/>
            <a:ext cx="671885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The CHP-LMNO sample can deliver a discharge capacity of 231 mAhg</a:t>
            </a:r>
            <a:r>
              <a:rPr lang="en-US" altLang="zh-TW" sz="2000" b="1" baseline="30000" dirty="0"/>
              <a:t>-1</a:t>
            </a:r>
            <a:r>
              <a:rPr lang="en-US" altLang="zh-TW" sz="2000" b="1" dirty="0"/>
              <a:t> and maintain a capacity retention of 94% after 200 cycles </a:t>
            </a:r>
          </a:p>
          <a:p>
            <a:endParaRPr kumimoji="1" lang="zh-TW" altLang="en-US" dirty="0"/>
          </a:p>
        </p:txBody>
      </p:sp>
      <p:pic>
        <p:nvPicPr>
          <p:cNvPr id="7" name="圖片 6" descr="一張含有 圖表, 行, 繪圖, 字型 的圖片&#10;&#10;AI 產生的內容可能不正確。">
            <a:extLst>
              <a:ext uri="{FF2B5EF4-FFF2-40B4-BE49-F238E27FC236}">
                <a16:creationId xmlns:a16="http://schemas.microsoft.com/office/drawing/2014/main" id="{D6FCF5C2-13C9-38B3-2D8E-0438435B2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3731867"/>
            <a:ext cx="3568700" cy="269727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C6EC4A1-2A9A-3317-EFAB-F84950A86ABD}"/>
              </a:ext>
            </a:extLst>
          </p:cNvPr>
          <p:cNvSpPr txBox="1"/>
          <p:nvPr/>
        </p:nvSpPr>
        <p:spPr>
          <a:xfrm>
            <a:off x="4991100" y="3731866"/>
            <a:ext cx="67188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In the charge/discharge curve profiles of the 200th cycle (Fig. 5d), the gap between the charge and discharge plateau in CHP-LMNO is obviously smaller than that in LMNO.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The much smaller gap of CHP- LMNO implies lower polarization and minor structural transformation, indicating that the material can achieve better electrochemical performance. </a:t>
            </a:r>
          </a:p>
          <a:p>
            <a:endParaRPr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6283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8E09E-AB91-B731-BE13-D43DB45D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F28DC-E8FF-E409-23D4-D67349BA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0.5C for 200 cycles </a:t>
            </a:r>
            <a:endParaRPr kumimoji="1" lang="zh-TW" altLang="en-US" dirty="0"/>
          </a:p>
        </p:txBody>
      </p:sp>
      <p:pic>
        <p:nvPicPr>
          <p:cNvPr id="9" name="內容版面配置區 8" descr="一張含有 圖表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B7A830DE-4FED-10EE-3D56-C64D4E598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62"/>
          <a:stretch>
            <a:fillRect/>
          </a:stretch>
        </p:blipFill>
        <p:spPr>
          <a:xfrm>
            <a:off x="1422400" y="1247359"/>
            <a:ext cx="3401391" cy="2438400"/>
          </a:xfrm>
        </p:spPr>
      </p:pic>
      <p:pic>
        <p:nvPicPr>
          <p:cNvPr id="10" name="內容版面配置區 8" descr="一張含有 圖表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9821BFF3-430C-0C5F-1627-DB936F2AC6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8"/>
          <a:stretch>
            <a:fillRect/>
          </a:stretch>
        </p:blipFill>
        <p:spPr bwMode="auto">
          <a:xfrm>
            <a:off x="1422400" y="3685759"/>
            <a:ext cx="340139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859D25-4D81-F7BB-3F7F-F37ACB8F9738}"/>
              </a:ext>
            </a:extLst>
          </p:cNvPr>
          <p:cNvSpPr txBox="1"/>
          <p:nvPr/>
        </p:nvSpPr>
        <p:spPr>
          <a:xfrm>
            <a:off x="5110922" y="2551837"/>
            <a:ext cx="565867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The specific discharge curves and voltage decay are clearly exhibited in Fig. 5e and f. The sample of CHP-LMNO shows a much slower voltage decay percentage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of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5.1% compared with the 15% of LMNO from the initial to terminal cycle.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0609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A3C54-8578-DBC8-3E01-9A82860D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0.5C for 200 cycles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BF3D8A-32BB-5AC6-A0F7-DD957E17A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b="1" dirty="0"/>
              <a:t>Fig. 5g, the average charge voltage of LMNO is higher than that of CHP-LMNO and gradually increases with cycling, while its average discharge voltage is lower than that of CHP-LMNO and decays seriously, indicating the lower polarization and the better structural stability of CHP- LMNO. </a:t>
            </a:r>
          </a:p>
          <a:p>
            <a:endParaRPr kumimoji="1" lang="zh-TW" altLang="en-US" dirty="0"/>
          </a:p>
        </p:txBody>
      </p:sp>
      <p:pic>
        <p:nvPicPr>
          <p:cNvPr id="5" name="圖片 4" descr="一張含有 文字, 行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F009F50-F0BE-20AA-02E1-EDA0058E2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991" y="2591451"/>
            <a:ext cx="4170017" cy="3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30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9B0B1-C967-29D2-A2B5-FE23AD13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0.5C for 200 cycles </a:t>
            </a:r>
            <a:endParaRPr kumimoji="1" lang="zh-TW" altLang="en-US" dirty="0"/>
          </a:p>
        </p:txBody>
      </p:sp>
      <p:pic>
        <p:nvPicPr>
          <p:cNvPr id="4" name="圖片 3" descr="一張含有 螢幕擷取畫面, 黑與白, 黑白攝影, 單色 的圖片&#10;&#10;AI 產生的內容可能不正確。">
            <a:extLst>
              <a:ext uri="{FF2B5EF4-FFF2-40B4-BE49-F238E27FC236}">
                <a16:creationId xmlns:a16="http://schemas.microsoft.com/office/drawing/2014/main" id="{DABE95F7-4560-7C03-C3CB-BF7B2C398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693616"/>
            <a:ext cx="4658140" cy="219062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CCB88A9-64EC-FAA0-61AA-084127B8AEC7}"/>
              </a:ext>
            </a:extLst>
          </p:cNvPr>
          <p:cNvSpPr txBox="1"/>
          <p:nvPr/>
        </p:nvSpPr>
        <p:spPr>
          <a:xfrm>
            <a:off x="1422401" y="3998370"/>
            <a:ext cx="4673599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/>
              <a:t>For LMNO, the morphology becomes indiscernible and the aggregated particles crack into a few pieces. However, CHP-LMNO preserves the essential cross- like morphology after long cycling </a:t>
            </a:r>
          </a:p>
          <a:p>
            <a:endParaRPr kumimoji="1" lang="zh-TW" altLang="en-US" sz="2000" b="1" dirty="0"/>
          </a:p>
        </p:txBody>
      </p:sp>
      <p:pic>
        <p:nvPicPr>
          <p:cNvPr id="7" name="圖片 6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5160229D-E9D0-963D-5F56-DA502F548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349" y="770287"/>
            <a:ext cx="2595216" cy="218141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EE3728E-695E-6312-8CAD-BFEC8185C9AA}"/>
              </a:ext>
            </a:extLst>
          </p:cNvPr>
          <p:cNvSpPr txBox="1"/>
          <p:nvPr/>
        </p:nvSpPr>
        <p:spPr>
          <a:xfrm>
            <a:off x="6438350" y="3075040"/>
            <a:ext cx="5038034" cy="31700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Compared with standard diffraction, the peaks around </a:t>
            </a:r>
            <a:r>
              <a:rPr lang="en-US" altLang="zh-TW" sz="2000" b="1" dirty="0">
                <a:highlight>
                  <a:srgbClr val="FFFF00"/>
                </a:highlight>
              </a:rPr>
              <a:t>20–25</a:t>
            </a:r>
            <a:r>
              <a:rPr lang="zh-TW" altLang="en-US" sz="2000" b="1" dirty="0">
                <a:highlight>
                  <a:srgbClr val="FFFF00"/>
                </a:highlight>
              </a:rPr>
              <a:t> </a:t>
            </a:r>
            <a:r>
              <a:rPr lang="en-US" altLang="zh-TW" sz="2000" b="1" dirty="0">
                <a:highlight>
                  <a:srgbClr val="FFFF00"/>
                </a:highlight>
              </a:rPr>
              <a:t>degree disappear for both samples</a:t>
            </a:r>
            <a:r>
              <a:rPr lang="en-US" altLang="zh-TW" sz="2000" b="1" dirty="0"/>
              <a:t>, which could be explained by the initial irreversible oxygen loss.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For the other peaks, CHP-LMNO displays more pronounced peaks than LMNO, especially for peaks (003) and (104), indicating that LMNO undergoes more severe destruction in structural integrity. </a:t>
            </a:r>
          </a:p>
        </p:txBody>
      </p:sp>
    </p:spTree>
    <p:extLst>
      <p:ext uri="{BB962C8B-B14F-4D97-AF65-F5344CB8AC3E}">
        <p14:creationId xmlns:p14="http://schemas.microsoft.com/office/powerpoint/2010/main" val="27789740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16AD9-B6F1-96F4-71A5-37C00317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3EB4B-5348-E2B7-7BDA-02B91097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0.5C for 200 cycles </a:t>
            </a:r>
            <a:endParaRPr kumimoji="1" lang="zh-TW" altLang="en-US" dirty="0"/>
          </a:p>
        </p:txBody>
      </p:sp>
      <p:pic>
        <p:nvPicPr>
          <p:cNvPr id="3" name="圖片 2" descr="一張含有 圖表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81880042-6EFD-BB41-4ADF-A2F27088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066800"/>
            <a:ext cx="5614504" cy="231351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0340E63-57B3-BF4E-F8AB-D64DBE3BDB3E}"/>
              </a:ext>
            </a:extLst>
          </p:cNvPr>
          <p:cNvSpPr txBox="1"/>
          <p:nvPr/>
        </p:nvSpPr>
        <p:spPr>
          <a:xfrm>
            <a:off x="1422401" y="3477687"/>
            <a:ext cx="105973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As seen from Fig. S11, the symmetrical stretching peak for A1g of the cycled samples shifts to a higher wavelength than that for the fresh material (Fig. 3d). This peak can be split into two peaks around 630 cm1 and 580 cm1, corresponding to the A1g </a:t>
            </a:r>
            <a:r>
              <a:rPr lang="en-US" altLang="zh-TW" sz="2000" b="1" dirty="0">
                <a:highlight>
                  <a:srgbClr val="FFFF00"/>
                </a:highlight>
              </a:rPr>
              <a:t>vibration mode in the spinel</a:t>
            </a:r>
            <a:r>
              <a:rPr lang="en-US" altLang="zh-TW" sz="2000" b="1" dirty="0"/>
              <a:t> and layered structure, respectively.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Based on the peak area, the contents of these phases can be estimated. The spinel in the cycled LMNO constitutes 43% but constitutes only 24% in the cycled CHP- LMNO.</a:t>
            </a:r>
          </a:p>
        </p:txBody>
      </p:sp>
      <p:pic>
        <p:nvPicPr>
          <p:cNvPr id="4" name="圖片 3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FC729F63-CD33-6F69-8FD4-E37F332F3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135" y="1066800"/>
            <a:ext cx="1927755" cy="152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43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3665A6-8B73-3302-D572-DA4A4AAA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Different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rate</a:t>
            </a:r>
            <a:endParaRPr kumimoji="1" lang="zh-TW" altLang="en-US" b="1" dirty="0"/>
          </a:p>
        </p:txBody>
      </p:sp>
      <p:pic>
        <p:nvPicPr>
          <p:cNvPr id="5" name="內容版面配置區 4" descr="一張含有 行, 螢幕擷取畫面, 文字, 圖表 的圖片&#10;&#10;AI 產生的內容可能不正確。">
            <a:extLst>
              <a:ext uri="{FF2B5EF4-FFF2-40B4-BE49-F238E27FC236}">
                <a16:creationId xmlns:a16="http://schemas.microsoft.com/office/drawing/2014/main" id="{AF721D57-0F24-E3A7-EAA0-D3AE816F9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39253"/>
            <a:ext cx="3709494" cy="280335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1D48C72-99CD-2659-BD75-5AF5A5951C21}"/>
              </a:ext>
            </a:extLst>
          </p:cNvPr>
          <p:cNvSpPr txBox="1"/>
          <p:nvPr/>
        </p:nvSpPr>
        <p:spPr>
          <a:xfrm>
            <a:off x="5131895" y="1267680"/>
            <a:ext cx="6755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The capacity drops in CHP-LMNO at high current rates are much gentler when compared with those in LMNO. </a:t>
            </a:r>
          </a:p>
        </p:txBody>
      </p:sp>
      <p:pic>
        <p:nvPicPr>
          <p:cNvPr id="8" name="圖片 7" descr="一張含有 文字, 收據, 行, 螢幕擷取畫面 的圖片&#10;&#10;AI 產生的內容可能不正確。">
            <a:extLst>
              <a:ext uri="{FF2B5EF4-FFF2-40B4-BE49-F238E27FC236}">
                <a16:creationId xmlns:a16="http://schemas.microsoft.com/office/drawing/2014/main" id="{6914DB51-E240-B28A-DE62-87ECF161D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4042610"/>
            <a:ext cx="3709494" cy="277493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600E2CA-8FEC-D2B7-28C0-DAD98AB62D71}"/>
              </a:ext>
            </a:extLst>
          </p:cNvPr>
          <p:cNvSpPr txBox="1"/>
          <p:nvPr/>
        </p:nvSpPr>
        <p:spPr>
          <a:xfrm>
            <a:off x="5131894" y="4071037"/>
            <a:ext cx="68996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The discharge capacities of the CHP-LMNO are higher than those of LMNO</a:t>
            </a:r>
          </a:p>
          <a:p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2056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7F45DC-6089-3608-A7FA-1F407291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20C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300cycle</a:t>
            </a:r>
            <a:endParaRPr kumimoji="1" lang="zh-TW" altLang="en-US" b="1" dirty="0"/>
          </a:p>
        </p:txBody>
      </p:sp>
      <p:pic>
        <p:nvPicPr>
          <p:cNvPr id="4" name="圖片 3" descr="一張含有 行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B2F5C628-F323-2C4B-7174-28328B5E3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18055"/>
            <a:ext cx="7772400" cy="221094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C528B58-FD5A-3628-7CAD-32FC231A050A}"/>
              </a:ext>
            </a:extLst>
          </p:cNvPr>
          <p:cNvSpPr txBox="1"/>
          <p:nvPr/>
        </p:nvSpPr>
        <p:spPr>
          <a:xfrm>
            <a:off x="1422400" y="3656455"/>
            <a:ext cx="1062522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200" b="1" dirty="0"/>
              <a:t>The CHP-LMNO can achieve the highest discharge capacity of 143 mA h g</a:t>
            </a:r>
            <a:r>
              <a:rPr lang="en-US" altLang="zh-TW" sz="2200" b="1" baseline="30000" dirty="0"/>
              <a:t>-1</a:t>
            </a:r>
            <a:r>
              <a:rPr lang="en-US" altLang="zh-TW" sz="2200" b="1" dirty="0"/>
              <a:t> at 20C.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200" b="1" dirty="0"/>
              <a:t>A capacity retention of 92% relative to the highest capacity after 300 cycles.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200" b="1" dirty="0"/>
              <a:t>The coulombic efficiency of CHP-LMNO is retained at more than 99% </a:t>
            </a:r>
          </a:p>
          <a:p>
            <a:endParaRPr lang="en-US" altLang="zh-TW" sz="2200" b="1" dirty="0"/>
          </a:p>
          <a:p>
            <a:r>
              <a:rPr lang="en-US" altLang="zh-TW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8014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37536-0232-D49A-BF8F-40447D18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/>
              <a:t>EIS</a:t>
            </a:r>
            <a:endParaRPr kumimoji="1" lang="zh-TW" altLang="en-US" b="1" dirty="0"/>
          </a:p>
        </p:txBody>
      </p:sp>
      <p:pic>
        <p:nvPicPr>
          <p:cNvPr id="5" name="內容版面配置區 4" descr="一張含有 文字, 螢幕擷取畫面, 收據, 字型 的圖片&#10;&#10;AI 產生的內容可能不正確。">
            <a:extLst>
              <a:ext uri="{FF2B5EF4-FFF2-40B4-BE49-F238E27FC236}">
                <a16:creationId xmlns:a16="http://schemas.microsoft.com/office/drawing/2014/main" id="{5E604258-CAB0-2019-63E0-1F7073B60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264" y="3976914"/>
            <a:ext cx="7810500" cy="2755900"/>
          </a:xfrm>
        </p:spPr>
      </p:pic>
      <p:pic>
        <p:nvPicPr>
          <p:cNvPr id="7" name="圖片 6" descr="一張含有 圖表, 行, 繪圖, 文字 的圖片&#10;&#10;AI 產生的內容可能不正確。">
            <a:extLst>
              <a:ext uri="{FF2B5EF4-FFF2-40B4-BE49-F238E27FC236}">
                <a16:creationId xmlns:a16="http://schemas.microsoft.com/office/drawing/2014/main" id="{9A7C0C81-8605-FC0C-0576-D10877FC4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264" y="1064079"/>
            <a:ext cx="7632700" cy="2997200"/>
          </a:xfrm>
          <a:prstGeom prst="rect">
            <a:avLst/>
          </a:prstGeom>
        </p:spPr>
      </p:pic>
      <p:pic>
        <p:nvPicPr>
          <p:cNvPr id="4" name="圖片 3" descr="一張含有 字型, 文字, 印刷術, 白色 的圖片&#10;&#10;AI 產生的內容可能不正確。">
            <a:extLst>
              <a:ext uri="{FF2B5EF4-FFF2-40B4-BE49-F238E27FC236}">
                <a16:creationId xmlns:a16="http://schemas.microsoft.com/office/drawing/2014/main" id="{E5D7431C-FF45-2E0D-B2F7-E92E03E52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157" y="5793921"/>
            <a:ext cx="2375807" cy="5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24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A4CD4-4D5E-AA71-75D4-62CC192E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04" y="3086100"/>
            <a:ext cx="10464800" cy="685800"/>
          </a:xfrm>
        </p:spPr>
        <p:txBody>
          <a:bodyPr/>
          <a:lstStyle/>
          <a:p>
            <a:r>
              <a:rPr kumimoji="1" lang="zh-TW" altLang="en-US" sz="6000" b="1" dirty="0"/>
              <a:t>全電池</a:t>
            </a:r>
          </a:p>
        </p:txBody>
      </p:sp>
    </p:spTree>
    <p:extLst>
      <p:ext uri="{BB962C8B-B14F-4D97-AF65-F5344CB8AC3E}">
        <p14:creationId xmlns:p14="http://schemas.microsoft.com/office/powerpoint/2010/main" val="35814000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5334-771A-58CA-C31F-35564F4B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TW" altLang="en-US" b="1" dirty="0"/>
              <a:t>全電池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C3D035-3B61-DC18-1A92-752AC8B8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0" y="1143000"/>
            <a:ext cx="10566400" cy="945292"/>
          </a:xfrm>
        </p:spPr>
        <p:txBody>
          <a:bodyPr/>
          <a:lstStyle/>
          <a:p>
            <a:r>
              <a:rPr lang="en-US" altLang="zh-TW" dirty="0"/>
              <a:t>CHP-LMNO was coupled with a graphite anode to assemble the full cell. </a:t>
            </a:r>
          </a:p>
          <a:p>
            <a:endParaRPr kumimoji="1" lang="zh-TW" altLang="en-US" dirty="0"/>
          </a:p>
        </p:txBody>
      </p:sp>
      <p:pic>
        <p:nvPicPr>
          <p:cNvPr id="5" name="圖片 4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634D1A27-E2AD-EAD5-A022-9B6A24679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088291"/>
            <a:ext cx="7772400" cy="47697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66CA00B-5E31-6C83-9E86-3EF999F194E1}"/>
              </a:ext>
            </a:extLst>
          </p:cNvPr>
          <p:cNvSpPr txBox="1"/>
          <p:nvPr/>
        </p:nvSpPr>
        <p:spPr>
          <a:xfrm>
            <a:off x="9194800" y="2088291"/>
            <a:ext cx="29972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Fig. 6 (a) Schematic representation of the full cell (CHP-LMNO-graphite); (b) the initial </a:t>
            </a:r>
            <a:r>
              <a:rPr lang="en-US" altLang="zh-TW" dirty="0">
                <a:highlight>
                  <a:srgbClr val="FFFF00"/>
                </a:highlight>
              </a:rPr>
              <a:t>charge/discharge plot </a:t>
            </a:r>
            <a:r>
              <a:rPr lang="en-US" altLang="zh-TW" dirty="0"/>
              <a:t>of the full cell at 0.1C (1C = 200 mA h g-1) in the voltage range of 2.0–4.65 V; (c) the cycling performance and coulombic efficiency of the full cell at </a:t>
            </a:r>
            <a:r>
              <a:rPr lang="en-US" altLang="zh-TW" dirty="0">
                <a:highlight>
                  <a:srgbClr val="FFFF00"/>
                </a:highlight>
              </a:rPr>
              <a:t>1C</a:t>
            </a:r>
            <a:r>
              <a:rPr lang="en-US" altLang="zh-TW" dirty="0"/>
              <a:t>. (d) Energy density and lighting demonstration of the full cell.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5648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F0BD-CE1C-CE68-8184-8E92312A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A0884-1D56-C4DB-3B13-F64FCE39D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TW" altLang="en-US" b="1" dirty="0"/>
              <a:t>全電池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E42F38-2262-99E2-5E3F-07C61D615640}"/>
              </a:ext>
            </a:extLst>
          </p:cNvPr>
          <p:cNvSpPr txBox="1"/>
          <p:nvPr/>
        </p:nvSpPr>
        <p:spPr>
          <a:xfrm>
            <a:off x="1422400" y="1876226"/>
            <a:ext cx="10650780" cy="40626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Fig(b)</a:t>
            </a:r>
            <a:r>
              <a:rPr lang="zh-TW" altLang="en-US" sz="2000" b="1" dirty="0"/>
              <a:t> </a:t>
            </a:r>
            <a:r>
              <a:rPr lang="en-US" altLang="zh-TW" sz="2000" b="1" dirty="0">
                <a:highlight>
                  <a:srgbClr val="FFFF00"/>
                </a:highlight>
              </a:rPr>
              <a:t>262 mAhg</a:t>
            </a:r>
            <a:r>
              <a:rPr lang="en-US" altLang="zh-TW" sz="2000" b="1" baseline="30000" dirty="0">
                <a:highlight>
                  <a:srgbClr val="FFFF00"/>
                </a:highlight>
              </a:rPr>
              <a:t>-1</a:t>
            </a:r>
            <a:r>
              <a:rPr lang="en-US" altLang="zh-TW" sz="2000" b="1" dirty="0">
                <a:highlight>
                  <a:srgbClr val="FFFF00"/>
                </a:highlight>
              </a:rPr>
              <a:t> </a:t>
            </a:r>
            <a:r>
              <a:rPr lang="en-US" altLang="zh-TW" sz="2000" b="1" dirty="0"/>
              <a:t>with an initial coulombic efficiency of 75%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Deintercalation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(</a:t>
            </a:r>
            <a:r>
              <a:rPr lang="zh-TW" altLang="en-US" sz="2000" b="1" dirty="0"/>
              <a:t>充電</a:t>
            </a:r>
            <a:r>
              <a:rPr lang="en-US" altLang="zh-TW" sz="2000" b="1" dirty="0"/>
              <a:t>) behavior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=&gt;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The plot also exhibits a slope region below 4.45 V and a plateau region around 4.5 V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Fig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(c)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The full cell can deliver a high capacity of 213 mAhg</a:t>
            </a:r>
            <a:r>
              <a:rPr lang="en-US" altLang="zh-TW" sz="2000" b="1" baseline="30000" dirty="0"/>
              <a:t>-1</a:t>
            </a:r>
            <a:r>
              <a:rPr lang="en-US" altLang="zh-TW" sz="2000" b="1" dirty="0"/>
              <a:t>, corresponding to an energy density of 436 W h kg</a:t>
            </a:r>
            <a:r>
              <a:rPr lang="en-US" altLang="zh-TW" sz="2000" b="1" baseline="30000" dirty="0"/>
              <a:t>-1 </a:t>
            </a:r>
            <a:r>
              <a:rPr lang="en-US" altLang="zh-TW" sz="2000" b="1" dirty="0"/>
              <a:t>(based on the mass of cathode and anode active materials) at 1C and a capacity </a:t>
            </a:r>
            <a:r>
              <a:rPr lang="en-US" altLang="zh-TW" sz="2000" b="1" dirty="0">
                <a:highlight>
                  <a:srgbClr val="FFFF00"/>
                </a:highlight>
              </a:rPr>
              <a:t>retention of 83% after 100 cycles.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b="1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3706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BE05A4-C5B9-3D7A-E16F-9E1D61D9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TW" altLang="en-US" b="1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3BDE7F-BEF8-B455-172C-2FF483586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59D3868-4A6A-EED4-8DCC-850B5D966444}"/>
              </a:ext>
            </a:extLst>
          </p:cNvPr>
          <p:cNvSpPr txBox="1"/>
          <p:nvPr/>
        </p:nvSpPr>
        <p:spPr>
          <a:xfrm>
            <a:off x="1454017" y="1332096"/>
            <a:ext cx="10534783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altLang="zh-TW" sz="2000" b="1" dirty="0"/>
              <a:t>the unique hierarchical structure can enhance the surface area thus providing sufficient active sites;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altLang="zh-TW" sz="2000" b="1" dirty="0"/>
              <a:t>the porous structure facilitates electrolyte infiltration and provides more buffer space;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altLang="zh-TW" sz="2000" b="1" dirty="0"/>
              <a:t>the highly (110)- oriented plane enables much easier Li+ migration </a:t>
            </a:r>
          </a:p>
          <a:p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88021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BA15F-6507-ADB2-4D3B-FC5CA794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TW" b="1" dirty="0"/>
              <a:t>comparison</a:t>
            </a:r>
            <a:endParaRPr kumimoji="1" lang="zh-TW" altLang="en-US" b="1" dirty="0"/>
          </a:p>
        </p:txBody>
      </p:sp>
      <p:pic>
        <p:nvPicPr>
          <p:cNvPr id="4" name="圖片 3" descr="一張含有 文字, 功能表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08482DC6-A511-78F0-A87E-9242C4DBB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789" y="990600"/>
            <a:ext cx="4144211" cy="5698291"/>
          </a:xfrm>
          <a:prstGeom prst="rect">
            <a:avLst/>
          </a:prstGeom>
        </p:spPr>
      </p:pic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0CF91C0-1971-6C5F-743B-D954738ED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499" y="2209800"/>
            <a:ext cx="475881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53003"/>
      </p:ext>
    </p:extLst>
  </p:cSld>
  <p:clrMapOvr>
    <a:masterClrMapping/>
  </p:clrMapOvr>
</p:sld>
</file>

<file path=ppt/theme/theme1.xml><?xml version="1.0" encoding="utf-8"?>
<a:theme xmlns:a="http://schemas.openxmlformats.org/drawingml/2006/main" name="111">
  <a:themeElements>
    <a:clrScheme name="預設簡報設計 2">
      <a:dk1>
        <a:srgbClr val="000000"/>
      </a:dk1>
      <a:lt1>
        <a:srgbClr val="E9E2B6"/>
      </a:lt1>
      <a:dk2>
        <a:srgbClr val="996600"/>
      </a:dk2>
      <a:lt2>
        <a:srgbClr val="786950"/>
      </a:lt2>
      <a:accent1>
        <a:srgbClr val="727DE0"/>
      </a:accent1>
      <a:accent2>
        <a:srgbClr val="D54F41"/>
      </a:accent2>
      <a:accent3>
        <a:srgbClr val="F2EED7"/>
      </a:accent3>
      <a:accent4>
        <a:srgbClr val="000000"/>
      </a:accent4>
      <a:accent5>
        <a:srgbClr val="BCBFED"/>
      </a:accent5>
      <a:accent6>
        <a:srgbClr val="C1473A"/>
      </a:accent6>
      <a:hlink>
        <a:srgbClr val="003300"/>
      </a:hlink>
      <a:folHlink>
        <a:srgbClr val="339933"/>
      </a:folHlink>
    </a:clrScheme>
    <a:fontScheme name="預設簡報設計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EAEAEA"/>
        </a:lt1>
        <a:dk2>
          <a:srgbClr val="819E81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C1CCC1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E9E2B6"/>
        </a:lt1>
        <a:dk2>
          <a:srgbClr val="996600"/>
        </a:dk2>
        <a:lt2>
          <a:srgbClr val="786950"/>
        </a:lt2>
        <a:accent1>
          <a:srgbClr val="727DE0"/>
        </a:accent1>
        <a:accent2>
          <a:srgbClr val="D54F41"/>
        </a:accent2>
        <a:accent3>
          <a:srgbClr val="F2EED7"/>
        </a:accent3>
        <a:accent4>
          <a:srgbClr val="000000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33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EAEAEA"/>
        </a:lt1>
        <a:dk2>
          <a:srgbClr val="BC6262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DAB7B7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00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EAEAEA"/>
        </a:lt1>
        <a:dk2>
          <a:srgbClr val="5C74A4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B5BCCF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EAEAEA"/>
        </a:lt1>
        <a:dk2>
          <a:srgbClr val="996600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CAB8AA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11" id="{99500A11-57A1-4F53-81A1-3BA4861B43E2}" vid="{B13E6C7A-279A-4B35-998D-EA7369ED997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