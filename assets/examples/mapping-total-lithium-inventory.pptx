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29"/>
  </p:notesMasterIdLst>
  <p:sldIdLst>
    <p:sldId id="2443" r:id="rId2"/>
    <p:sldId id="2455" r:id="rId3"/>
    <p:sldId id="2446" r:id="rId4"/>
    <p:sldId id="2447" r:id="rId5"/>
    <p:sldId id="2448" r:id="rId6"/>
    <p:sldId id="2449" r:id="rId7"/>
    <p:sldId id="2453" r:id="rId8"/>
    <p:sldId id="2450" r:id="rId9"/>
    <p:sldId id="2457" r:id="rId10"/>
    <p:sldId id="2451" r:id="rId11"/>
    <p:sldId id="2452" r:id="rId12"/>
    <p:sldId id="2456" r:id="rId13"/>
    <p:sldId id="2458" r:id="rId14"/>
    <p:sldId id="2459" r:id="rId15"/>
    <p:sldId id="2460" r:id="rId16"/>
    <p:sldId id="2463" r:id="rId17"/>
    <p:sldId id="2462" r:id="rId18"/>
    <p:sldId id="2461" r:id="rId19"/>
    <p:sldId id="2467" r:id="rId20"/>
    <p:sldId id="2468" r:id="rId21"/>
    <p:sldId id="2470" r:id="rId22"/>
    <p:sldId id="2469" r:id="rId23"/>
    <p:sldId id="2471" r:id="rId24"/>
    <p:sldId id="2472" r:id="rId25"/>
    <p:sldId id="2466" r:id="rId26"/>
    <p:sldId id="2464" r:id="rId27"/>
    <p:sldId id="2465" r:id="rId28"/>
  </p:sldIdLst>
  <p:sldSz cx="12192000" cy="6858000"/>
  <p:notesSz cx="6886575" cy="100187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15DDA145-54BC-40F3-89B4-BD7E9BB54EBE}">
          <p14:sldIdLst>
            <p14:sldId id="2443"/>
            <p14:sldId id="2455"/>
            <p14:sldId id="2446"/>
            <p14:sldId id="2447"/>
            <p14:sldId id="2448"/>
            <p14:sldId id="2449"/>
            <p14:sldId id="2453"/>
            <p14:sldId id="2450"/>
            <p14:sldId id="2457"/>
            <p14:sldId id="2451"/>
            <p14:sldId id="2452"/>
            <p14:sldId id="2456"/>
            <p14:sldId id="2458"/>
            <p14:sldId id="2459"/>
            <p14:sldId id="2460"/>
            <p14:sldId id="2463"/>
            <p14:sldId id="2462"/>
            <p14:sldId id="2461"/>
            <p14:sldId id="2467"/>
            <p14:sldId id="2468"/>
            <p14:sldId id="2470"/>
            <p14:sldId id="2469"/>
            <p14:sldId id="2471"/>
            <p14:sldId id="2472"/>
            <p14:sldId id="2466"/>
            <p14:sldId id="2464"/>
            <p14:sldId id="24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F9F8D5"/>
    <a:srgbClr val="00602B"/>
    <a:srgbClr val="E6E6E6"/>
    <a:srgbClr val="AEFCC2"/>
    <a:srgbClr val="AD4035"/>
    <a:srgbClr val="FBBBF9"/>
    <a:srgbClr val="0070C0"/>
    <a:srgbClr val="E8EA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淺色樣式 3 - 輔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36" autoAdjust="0"/>
    <p:restoredTop sz="95192" autoAdjust="0"/>
  </p:normalViewPr>
  <p:slideViewPr>
    <p:cSldViewPr snapToGrid="0">
      <p:cViewPr varScale="1">
        <p:scale>
          <a:sx n="102" d="100"/>
          <a:sy n="102" d="100"/>
        </p:scale>
        <p:origin x="3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84183" cy="502676"/>
          </a:xfrm>
          <a:prstGeom prst="rect">
            <a:avLst/>
          </a:prstGeom>
        </p:spPr>
        <p:txBody>
          <a:bodyPr vert="horz" lIns="96597" tIns="48299" rIns="96597" bIns="48299" rtlCol="0"/>
          <a:lstStyle>
            <a:lvl1pPr algn="l">
              <a:defRPr sz="1300"/>
            </a:lvl1pPr>
          </a:lstStyle>
          <a:p>
            <a:endParaRPr lang="zh-TW" altLang="en-US"/>
          </a:p>
        </p:txBody>
      </p:sp>
      <p:sp>
        <p:nvSpPr>
          <p:cNvPr id="3" name="日期版面配置區 2"/>
          <p:cNvSpPr>
            <a:spLocks noGrp="1"/>
          </p:cNvSpPr>
          <p:nvPr>
            <p:ph type="dt" idx="1"/>
          </p:nvPr>
        </p:nvSpPr>
        <p:spPr>
          <a:xfrm>
            <a:off x="3900799" y="0"/>
            <a:ext cx="2984183" cy="502676"/>
          </a:xfrm>
          <a:prstGeom prst="rect">
            <a:avLst/>
          </a:prstGeom>
        </p:spPr>
        <p:txBody>
          <a:bodyPr vert="horz" lIns="96597" tIns="48299" rIns="96597" bIns="48299" rtlCol="0"/>
          <a:lstStyle>
            <a:lvl1pPr algn="r">
              <a:defRPr sz="1300"/>
            </a:lvl1pPr>
          </a:lstStyle>
          <a:p>
            <a:fld id="{C7ADD95A-7E53-41DC-8C92-90975A59A9EC}" type="datetimeFigureOut">
              <a:rPr lang="zh-TW" altLang="en-US" smtClean="0"/>
              <a:t>2026/7/30</a:t>
            </a:fld>
            <a:endParaRPr lang="zh-TW" altLang="en-US"/>
          </a:p>
        </p:txBody>
      </p:sp>
      <p:sp>
        <p:nvSpPr>
          <p:cNvPr id="4" name="投影片影像版面配置區 3"/>
          <p:cNvSpPr>
            <a:spLocks noGrp="1" noRot="1" noChangeAspect="1"/>
          </p:cNvSpPr>
          <p:nvPr>
            <p:ph type="sldImg" idx="2"/>
          </p:nvPr>
        </p:nvSpPr>
        <p:spPr>
          <a:xfrm>
            <a:off x="438150" y="1252538"/>
            <a:ext cx="6010275" cy="3381375"/>
          </a:xfrm>
          <a:prstGeom prst="rect">
            <a:avLst/>
          </a:prstGeom>
          <a:noFill/>
          <a:ln w="12700">
            <a:solidFill>
              <a:prstClr val="black"/>
            </a:solidFill>
          </a:ln>
        </p:spPr>
        <p:txBody>
          <a:bodyPr vert="horz" lIns="96597" tIns="48299" rIns="96597" bIns="48299" rtlCol="0" anchor="ctr"/>
          <a:lstStyle/>
          <a:p>
            <a:endParaRPr lang="zh-TW" altLang="en-US"/>
          </a:p>
        </p:txBody>
      </p:sp>
      <p:sp>
        <p:nvSpPr>
          <p:cNvPr id="5" name="備忘稿版面配置區 4"/>
          <p:cNvSpPr>
            <a:spLocks noGrp="1"/>
          </p:cNvSpPr>
          <p:nvPr>
            <p:ph type="body" sz="quarter" idx="3"/>
          </p:nvPr>
        </p:nvSpPr>
        <p:spPr>
          <a:xfrm>
            <a:off x="688658" y="4821506"/>
            <a:ext cx="5509260" cy="3944868"/>
          </a:xfrm>
          <a:prstGeom prst="rect">
            <a:avLst/>
          </a:prstGeom>
        </p:spPr>
        <p:txBody>
          <a:bodyPr vert="horz" lIns="96597" tIns="48299" rIns="96597" bIns="48299"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516039"/>
            <a:ext cx="2984183" cy="502674"/>
          </a:xfrm>
          <a:prstGeom prst="rect">
            <a:avLst/>
          </a:prstGeom>
        </p:spPr>
        <p:txBody>
          <a:bodyPr vert="horz" lIns="96597" tIns="48299" rIns="96597" bIns="48299" rtlCol="0" anchor="b"/>
          <a:lstStyle>
            <a:lvl1pPr algn="l">
              <a:defRPr sz="1300"/>
            </a:lvl1pPr>
          </a:lstStyle>
          <a:p>
            <a:endParaRPr lang="zh-TW" altLang="en-US"/>
          </a:p>
        </p:txBody>
      </p:sp>
      <p:sp>
        <p:nvSpPr>
          <p:cNvPr id="7" name="投影片編號版面配置區 6"/>
          <p:cNvSpPr>
            <a:spLocks noGrp="1"/>
          </p:cNvSpPr>
          <p:nvPr>
            <p:ph type="sldNum" sz="quarter" idx="5"/>
          </p:nvPr>
        </p:nvSpPr>
        <p:spPr>
          <a:xfrm>
            <a:off x="3900799" y="9516039"/>
            <a:ext cx="2984183" cy="502674"/>
          </a:xfrm>
          <a:prstGeom prst="rect">
            <a:avLst/>
          </a:prstGeom>
        </p:spPr>
        <p:txBody>
          <a:bodyPr vert="horz" lIns="96597" tIns="48299" rIns="96597" bIns="48299" rtlCol="0" anchor="b"/>
          <a:lstStyle>
            <a:lvl1pPr algn="r">
              <a:defRPr sz="1300"/>
            </a:lvl1pPr>
          </a:lstStyle>
          <a:p>
            <a:fld id="{0D723CDE-57FB-410B-815C-208ECE146BCB}" type="slidenum">
              <a:rPr lang="zh-TW" altLang="en-US" smtClean="0"/>
              <a:t>‹#›</a:t>
            </a:fld>
            <a:endParaRPr lang="zh-TW" altLang="en-US"/>
          </a:p>
        </p:txBody>
      </p:sp>
    </p:spTree>
    <p:extLst>
      <p:ext uri="{BB962C8B-B14F-4D97-AF65-F5344CB8AC3E}">
        <p14:creationId xmlns:p14="http://schemas.microsoft.com/office/powerpoint/2010/main" val="2753186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ciencedirect.com/science/article/pii/S2542435123004518?ref=pdf_download&amp;fr=RR-2&amp;rr=a2291b15ff6c4a3c#mmc1"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www.sciencedirect.com/topics/materials-science/radiographic-testing"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sciencedirect.com/science/article/pii/S2542435123004518?ref=pdf_download&amp;fr=RR-2&amp;rr=a2291b15ff6c4a3c#mmc1"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www.sciencedirect.com/topics/materials-science/radiographic-testing"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D723CDE-57FB-410B-815C-208ECE146BCB}" type="slidenum">
              <a:rPr lang="zh-TW" altLang="en-US" smtClean="0"/>
              <a:t>10</a:t>
            </a:fld>
            <a:endParaRPr lang="zh-TW" altLang="en-US"/>
          </a:p>
        </p:txBody>
      </p:sp>
    </p:spTree>
    <p:extLst>
      <p:ext uri="{BB962C8B-B14F-4D97-AF65-F5344CB8AC3E}">
        <p14:creationId xmlns:p14="http://schemas.microsoft.com/office/powerpoint/2010/main" val="3504354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Ｌ</a:t>
            </a:r>
            <a:r>
              <a:rPr lang="en-US" altLang="zh-TW" sz="1200" b="0" i="0" kern="1200" dirty="0">
                <a:solidFill>
                  <a:schemeClr val="tx1"/>
                </a:solidFill>
                <a:effectLst/>
                <a:latin typeface="+mn-lt"/>
                <a:ea typeface="+mn-ea"/>
                <a:cs typeface="+mn-cs"/>
              </a:rPr>
              <a:t>FP</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LTO</a:t>
            </a:r>
            <a:r>
              <a:rPr lang="zh-TW" altLang="en-US" sz="1200" b="0" i="0" kern="1200" dirty="0">
                <a:solidFill>
                  <a:schemeClr val="tx1"/>
                </a:solidFill>
                <a:effectLst/>
                <a:latin typeface="+mn-lt"/>
                <a:ea typeface="+mn-ea"/>
                <a:cs typeface="+mn-cs"/>
              </a:rPr>
              <a:t>的特徵反射以及砷</a:t>
            </a:r>
            <a:r>
              <a:rPr lang="en-US" altLang="zh-TW" sz="1200" b="0" i="0" kern="1200" dirty="0">
                <a:solidFill>
                  <a:schemeClr val="tx1"/>
                </a:solidFill>
                <a:effectLst/>
                <a:latin typeface="+mn-lt"/>
                <a:ea typeface="+mn-ea"/>
                <a:cs typeface="+mn-cs"/>
              </a:rPr>
              <a:t>K</a:t>
            </a:r>
            <a:r>
              <a:rPr lang="el-GR" altLang="zh-TW" sz="1200" b="0" i="0" kern="1200" dirty="0">
                <a:solidFill>
                  <a:schemeClr val="tx1"/>
                </a:solidFill>
                <a:effectLst/>
                <a:latin typeface="+mn-lt"/>
                <a:ea typeface="+mn-ea"/>
                <a:cs typeface="+mn-cs"/>
              </a:rPr>
              <a:t>α</a:t>
            </a:r>
            <a:r>
              <a:rPr lang="zh-TW" altLang="en-US" sz="1200" b="0" i="0" kern="1200" dirty="0">
                <a:solidFill>
                  <a:schemeClr val="tx1"/>
                </a:solidFill>
                <a:effectLst/>
                <a:latin typeface="+mn-lt"/>
                <a:ea typeface="+mn-ea"/>
                <a:cs typeface="+mn-cs"/>
              </a:rPr>
              <a:t>的衍射峰用於確定電池座標（</a:t>
            </a:r>
            <a:r>
              <a:rPr lang="zh-TW" altLang="en-US" sz="1200" b="0" i="0" u="none" strike="noStrike" kern="1200" dirty="0">
                <a:solidFill>
                  <a:schemeClr val="tx1"/>
                </a:solidFill>
                <a:effectLst/>
                <a:latin typeface="+mn-lt"/>
                <a:ea typeface="+mn-ea"/>
                <a:cs typeface="+mn-cs"/>
                <a:hlinkClick r:id="rId3"/>
              </a:rPr>
              <a:t>圖</a:t>
            </a:r>
            <a:r>
              <a:rPr lang="en-US" altLang="zh-TW" sz="1200" b="0" i="0" u="none" strike="noStrike" kern="1200" dirty="0">
                <a:solidFill>
                  <a:schemeClr val="tx1"/>
                </a:solidFill>
                <a:effectLst/>
                <a:latin typeface="+mn-lt"/>
                <a:ea typeface="+mn-ea"/>
                <a:cs typeface="+mn-cs"/>
                <a:hlinkClick r:id="rId3"/>
              </a:rPr>
              <a:t>S1</a:t>
            </a:r>
            <a:r>
              <a:rPr lang="zh-TW" altLang="en-US" sz="1200" b="0" i="0" kern="1200" dirty="0">
                <a:solidFill>
                  <a:schemeClr val="tx1"/>
                </a:solidFill>
                <a:effectLst/>
                <a:latin typeface="+mn-lt"/>
                <a:ea typeface="+mn-ea"/>
                <a:cs typeface="+mn-cs"/>
              </a:rPr>
              <a:t>）。寬場</a:t>
            </a:r>
            <a:r>
              <a:rPr lang="en-US" altLang="zh-TW" sz="1200" b="0" i="0" kern="1200" dirty="0">
                <a:solidFill>
                  <a:schemeClr val="tx1"/>
                </a:solidFill>
                <a:effectLst/>
                <a:latin typeface="+mn-lt"/>
                <a:ea typeface="+mn-ea"/>
                <a:cs typeface="+mn-cs"/>
              </a:rPr>
              <a:t>X</a:t>
            </a:r>
            <a:r>
              <a:rPr lang="zh-TW" altLang="en-US" sz="1200" b="0" i="0" kern="1200" dirty="0">
                <a:solidFill>
                  <a:schemeClr val="tx1"/>
                </a:solidFill>
                <a:effectLst/>
                <a:latin typeface="+mn-lt"/>
                <a:ea typeface="+mn-ea"/>
                <a:cs typeface="+mn-cs"/>
              </a:rPr>
              <a:t>射線</a:t>
            </a:r>
            <a:r>
              <a:rPr lang="zh-TW" altLang="en-US" sz="1200" b="0" i="0" kern="1200" dirty="0">
                <a:solidFill>
                  <a:schemeClr val="tx1"/>
                </a:solidFill>
                <a:effectLst/>
                <a:latin typeface="+mn-lt"/>
                <a:ea typeface="+mn-ea"/>
                <a:cs typeface="+mn-cs"/>
                <a:hlinkClick r:id="rId4"/>
              </a:rPr>
              <a:t>成像</a:t>
            </a:r>
            <a:r>
              <a:rPr lang="zh-TW" altLang="en-US" sz="1200" b="0" i="0" kern="1200" dirty="0">
                <a:solidFill>
                  <a:schemeClr val="tx1"/>
                </a:solidFill>
                <a:effectLst/>
                <a:latin typeface="+mn-lt"/>
                <a:ea typeface="+mn-ea"/>
                <a:cs typeface="+mn-cs"/>
              </a:rPr>
              <a:t>證實了組件的對準，且電極和電池壁之間不存在任何可能導致液態電解質聚集的間隙（</a:t>
            </a:r>
            <a:r>
              <a:rPr lang="zh-TW" altLang="en-US" sz="1200" b="0" i="0" u="none" strike="noStrike" kern="1200" dirty="0">
                <a:solidFill>
                  <a:schemeClr val="tx1"/>
                </a:solidFill>
                <a:effectLst/>
                <a:latin typeface="+mn-lt"/>
                <a:ea typeface="+mn-ea"/>
                <a:cs typeface="+mn-cs"/>
                <a:hlinkClick r:id="rId3"/>
              </a:rPr>
              <a:t>圖</a:t>
            </a:r>
            <a:r>
              <a:rPr lang="en-US" altLang="zh-TW" sz="1200" b="0" i="0" u="none" strike="noStrike" kern="1200" dirty="0">
                <a:solidFill>
                  <a:schemeClr val="tx1"/>
                </a:solidFill>
                <a:effectLst/>
                <a:latin typeface="+mn-lt"/>
                <a:ea typeface="+mn-ea"/>
                <a:cs typeface="+mn-cs"/>
                <a:hlinkClick r:id="rId3"/>
              </a:rPr>
              <a:t>S2</a:t>
            </a:r>
            <a:r>
              <a:rPr lang="zh-TW" altLang="en-US" sz="1200" b="0" i="0" kern="1200" dirty="0">
                <a:solidFill>
                  <a:schemeClr val="tx1"/>
                </a:solidFill>
                <a:effectLst/>
                <a:latin typeface="+mn-lt"/>
                <a:ea typeface="+mn-ea"/>
                <a:cs typeface="+mn-cs"/>
              </a:rPr>
              <a:t>）。</a:t>
            </a:r>
            <a:endParaRPr kumimoji="1" lang="zh-TW" altLang="en-US" dirty="0"/>
          </a:p>
        </p:txBody>
      </p:sp>
      <p:sp>
        <p:nvSpPr>
          <p:cNvPr id="4" name="投影片編號版面配置區 3"/>
          <p:cNvSpPr>
            <a:spLocks noGrp="1"/>
          </p:cNvSpPr>
          <p:nvPr>
            <p:ph type="sldNum" sz="quarter" idx="5"/>
          </p:nvPr>
        </p:nvSpPr>
        <p:spPr/>
        <p:txBody>
          <a:bodyPr/>
          <a:lstStyle/>
          <a:p>
            <a:fld id="{0D723CDE-57FB-410B-815C-208ECE146BCB}" type="slidenum">
              <a:rPr lang="zh-TW" altLang="en-US" smtClean="0"/>
              <a:t>13</a:t>
            </a:fld>
            <a:endParaRPr lang="zh-TW" altLang="en-US"/>
          </a:p>
        </p:txBody>
      </p:sp>
    </p:spTree>
    <p:extLst>
      <p:ext uri="{BB962C8B-B14F-4D97-AF65-F5344CB8AC3E}">
        <p14:creationId xmlns:p14="http://schemas.microsoft.com/office/powerpoint/2010/main" val="3340404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12263-3769-6CE4-9F30-EB1BF33738F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B2E56EE-81D6-D8B8-6E65-8255F17C07F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A17CD3A-3B99-E115-4CC4-897BBE4F3A4C}"/>
              </a:ext>
            </a:extLst>
          </p:cNvPr>
          <p:cNvSpPr>
            <a:spLocks noGrp="1"/>
          </p:cNvSpPr>
          <p:nvPr>
            <p:ph type="body" idx="1"/>
          </p:nvPr>
        </p:nvSpPr>
        <p:spPr/>
        <p:txBody>
          <a:bodyPr/>
          <a:lstStyle/>
          <a:p>
            <a:r>
              <a:rPr lang="zh-TW" altLang="en-US" sz="1200" b="0" i="0" kern="1200" dirty="0">
                <a:solidFill>
                  <a:schemeClr val="tx1"/>
                </a:solidFill>
                <a:effectLst/>
                <a:latin typeface="+mn-lt"/>
                <a:ea typeface="+mn-ea"/>
                <a:cs typeface="+mn-cs"/>
              </a:rPr>
              <a:t>Ｌ</a:t>
            </a:r>
            <a:r>
              <a:rPr lang="en-US" altLang="zh-TW" sz="1200" b="0" i="0" kern="1200" dirty="0">
                <a:solidFill>
                  <a:schemeClr val="tx1"/>
                </a:solidFill>
                <a:effectLst/>
                <a:latin typeface="+mn-lt"/>
                <a:ea typeface="+mn-ea"/>
                <a:cs typeface="+mn-cs"/>
              </a:rPr>
              <a:t>FP</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LTO</a:t>
            </a:r>
            <a:r>
              <a:rPr lang="zh-TW" altLang="en-US" sz="1200" b="0" i="0" kern="1200" dirty="0">
                <a:solidFill>
                  <a:schemeClr val="tx1"/>
                </a:solidFill>
                <a:effectLst/>
                <a:latin typeface="+mn-lt"/>
                <a:ea typeface="+mn-ea"/>
                <a:cs typeface="+mn-cs"/>
              </a:rPr>
              <a:t>的特徵反射以及砷</a:t>
            </a:r>
            <a:r>
              <a:rPr lang="en-US" altLang="zh-TW" sz="1200" b="0" i="0" kern="1200" dirty="0">
                <a:solidFill>
                  <a:schemeClr val="tx1"/>
                </a:solidFill>
                <a:effectLst/>
                <a:latin typeface="+mn-lt"/>
                <a:ea typeface="+mn-ea"/>
                <a:cs typeface="+mn-cs"/>
              </a:rPr>
              <a:t>K</a:t>
            </a:r>
            <a:r>
              <a:rPr lang="el-GR" altLang="zh-TW" sz="1200" b="0" i="0" kern="1200" dirty="0">
                <a:solidFill>
                  <a:schemeClr val="tx1"/>
                </a:solidFill>
                <a:effectLst/>
                <a:latin typeface="+mn-lt"/>
                <a:ea typeface="+mn-ea"/>
                <a:cs typeface="+mn-cs"/>
              </a:rPr>
              <a:t>α</a:t>
            </a:r>
            <a:r>
              <a:rPr lang="zh-TW" altLang="en-US" sz="1200" b="0" i="0" kern="1200" dirty="0">
                <a:solidFill>
                  <a:schemeClr val="tx1"/>
                </a:solidFill>
                <a:effectLst/>
                <a:latin typeface="+mn-lt"/>
                <a:ea typeface="+mn-ea"/>
                <a:cs typeface="+mn-cs"/>
              </a:rPr>
              <a:t>的衍射峰用於確定電池座標（</a:t>
            </a:r>
            <a:r>
              <a:rPr lang="zh-TW" altLang="en-US" sz="1200" b="0" i="0" u="none" strike="noStrike" kern="1200" dirty="0">
                <a:solidFill>
                  <a:schemeClr val="tx1"/>
                </a:solidFill>
                <a:effectLst/>
                <a:latin typeface="+mn-lt"/>
                <a:ea typeface="+mn-ea"/>
                <a:cs typeface="+mn-cs"/>
                <a:hlinkClick r:id="rId3"/>
              </a:rPr>
              <a:t>圖</a:t>
            </a:r>
            <a:r>
              <a:rPr lang="en-US" altLang="zh-TW" sz="1200" b="0" i="0" u="none" strike="noStrike" kern="1200" dirty="0">
                <a:solidFill>
                  <a:schemeClr val="tx1"/>
                </a:solidFill>
                <a:effectLst/>
                <a:latin typeface="+mn-lt"/>
                <a:ea typeface="+mn-ea"/>
                <a:cs typeface="+mn-cs"/>
                <a:hlinkClick r:id="rId3"/>
              </a:rPr>
              <a:t>S1</a:t>
            </a:r>
            <a:r>
              <a:rPr lang="zh-TW" altLang="en-US" sz="1200" b="0" i="0" kern="1200" dirty="0">
                <a:solidFill>
                  <a:schemeClr val="tx1"/>
                </a:solidFill>
                <a:effectLst/>
                <a:latin typeface="+mn-lt"/>
                <a:ea typeface="+mn-ea"/>
                <a:cs typeface="+mn-cs"/>
              </a:rPr>
              <a:t>）。寬場</a:t>
            </a:r>
            <a:r>
              <a:rPr lang="en-US" altLang="zh-TW" sz="1200" b="0" i="0" kern="1200" dirty="0">
                <a:solidFill>
                  <a:schemeClr val="tx1"/>
                </a:solidFill>
                <a:effectLst/>
                <a:latin typeface="+mn-lt"/>
                <a:ea typeface="+mn-ea"/>
                <a:cs typeface="+mn-cs"/>
              </a:rPr>
              <a:t>X</a:t>
            </a:r>
            <a:r>
              <a:rPr lang="zh-TW" altLang="en-US" sz="1200" b="0" i="0" kern="1200" dirty="0">
                <a:solidFill>
                  <a:schemeClr val="tx1"/>
                </a:solidFill>
                <a:effectLst/>
                <a:latin typeface="+mn-lt"/>
                <a:ea typeface="+mn-ea"/>
                <a:cs typeface="+mn-cs"/>
              </a:rPr>
              <a:t>射線</a:t>
            </a:r>
            <a:r>
              <a:rPr lang="zh-TW" altLang="en-US" sz="1200" b="0" i="0" kern="1200" dirty="0">
                <a:solidFill>
                  <a:schemeClr val="tx1"/>
                </a:solidFill>
                <a:effectLst/>
                <a:latin typeface="+mn-lt"/>
                <a:ea typeface="+mn-ea"/>
                <a:cs typeface="+mn-cs"/>
                <a:hlinkClick r:id="rId4"/>
              </a:rPr>
              <a:t>成像</a:t>
            </a:r>
            <a:r>
              <a:rPr lang="zh-TW" altLang="en-US" sz="1200" b="0" i="0" kern="1200" dirty="0">
                <a:solidFill>
                  <a:schemeClr val="tx1"/>
                </a:solidFill>
                <a:effectLst/>
                <a:latin typeface="+mn-lt"/>
                <a:ea typeface="+mn-ea"/>
                <a:cs typeface="+mn-cs"/>
              </a:rPr>
              <a:t>證實了組件的對準，且電極和電池壁之間不存在任何可能導致液態電解質聚集的間隙（</a:t>
            </a:r>
            <a:r>
              <a:rPr lang="zh-TW" altLang="en-US" sz="1200" b="0" i="0" u="none" strike="noStrike" kern="1200" dirty="0">
                <a:solidFill>
                  <a:schemeClr val="tx1"/>
                </a:solidFill>
                <a:effectLst/>
                <a:latin typeface="+mn-lt"/>
                <a:ea typeface="+mn-ea"/>
                <a:cs typeface="+mn-cs"/>
                <a:hlinkClick r:id="rId3"/>
              </a:rPr>
              <a:t>圖</a:t>
            </a:r>
            <a:r>
              <a:rPr lang="en-US" altLang="zh-TW" sz="1200" b="0" i="0" u="none" strike="noStrike" kern="1200" dirty="0">
                <a:solidFill>
                  <a:schemeClr val="tx1"/>
                </a:solidFill>
                <a:effectLst/>
                <a:latin typeface="+mn-lt"/>
                <a:ea typeface="+mn-ea"/>
                <a:cs typeface="+mn-cs"/>
                <a:hlinkClick r:id="rId3"/>
              </a:rPr>
              <a:t>S2</a:t>
            </a:r>
            <a:r>
              <a:rPr lang="zh-TW" altLang="en-US" sz="1200" b="0" i="0" kern="1200" dirty="0">
                <a:solidFill>
                  <a:schemeClr val="tx1"/>
                </a:solidFill>
                <a:effectLst/>
                <a:latin typeface="+mn-lt"/>
                <a:ea typeface="+mn-ea"/>
                <a:cs typeface="+mn-cs"/>
              </a:rPr>
              <a:t>）。</a:t>
            </a:r>
            <a:endParaRPr kumimoji="1" lang="zh-TW" altLang="en-US" dirty="0"/>
          </a:p>
        </p:txBody>
      </p:sp>
      <p:sp>
        <p:nvSpPr>
          <p:cNvPr id="4" name="投影片編號版面配置區 3">
            <a:extLst>
              <a:ext uri="{FF2B5EF4-FFF2-40B4-BE49-F238E27FC236}">
                <a16:creationId xmlns:a16="http://schemas.microsoft.com/office/drawing/2014/main" id="{37DB2B4F-E0AC-1D99-8A5A-A55B32DC6116}"/>
              </a:ext>
            </a:extLst>
          </p:cNvPr>
          <p:cNvSpPr>
            <a:spLocks noGrp="1"/>
          </p:cNvSpPr>
          <p:nvPr>
            <p:ph type="sldNum" sz="quarter" idx="5"/>
          </p:nvPr>
        </p:nvSpPr>
        <p:spPr/>
        <p:txBody>
          <a:bodyPr/>
          <a:lstStyle/>
          <a:p>
            <a:fld id="{0D723CDE-57FB-410B-815C-208ECE146BCB}" type="slidenum">
              <a:rPr lang="zh-TW" altLang="en-US" smtClean="0"/>
              <a:t>14</a:t>
            </a:fld>
            <a:endParaRPr lang="zh-TW" altLang="en-US"/>
          </a:p>
        </p:txBody>
      </p:sp>
    </p:spTree>
    <p:extLst>
      <p:ext uri="{BB962C8B-B14F-4D97-AF65-F5344CB8AC3E}">
        <p14:creationId xmlns:p14="http://schemas.microsoft.com/office/powerpoint/2010/main" val="329586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D723CDE-57FB-410B-815C-208ECE146BCB}" type="slidenum">
              <a:rPr lang="zh-TW" altLang="en-US" smtClean="0"/>
              <a:t>20</a:t>
            </a:fld>
            <a:endParaRPr lang="zh-TW" altLang="en-US"/>
          </a:p>
        </p:txBody>
      </p:sp>
    </p:spTree>
    <p:extLst>
      <p:ext uri="{BB962C8B-B14F-4D97-AF65-F5344CB8AC3E}">
        <p14:creationId xmlns:p14="http://schemas.microsoft.com/office/powerpoint/2010/main" val="410494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dirty="0"/>
              <a:t>按一下以編輯母片標題樣式</a:t>
            </a:r>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按一下以編輯母片子標題樣式</a:t>
            </a:r>
          </a:p>
        </p:txBody>
      </p:sp>
      <p:sp>
        <p:nvSpPr>
          <p:cNvPr id="4"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1887678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3793636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3213461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1320800" y="1143000"/>
            <a:ext cx="52324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756400" y="1143000"/>
            <a:ext cx="52324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230068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3771141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607887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2761907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423303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2695515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3802365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321800" y="304800"/>
            <a:ext cx="2667000" cy="57912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320800" y="304800"/>
            <a:ext cx="7797800" cy="57912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3517834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標題，兩項物件在文字之上">
    <p:spTree>
      <p:nvGrpSpPr>
        <p:cNvPr id="1" name=""/>
        <p:cNvGrpSpPr/>
        <p:nvPr/>
      </p:nvGrpSpPr>
      <p:grpSpPr>
        <a:xfrm>
          <a:off x="0" y="0"/>
          <a:ext cx="0" cy="0"/>
          <a:chOff x="0" y="0"/>
          <a:chExt cx="0" cy="0"/>
        </a:xfrm>
      </p:grpSpPr>
      <p:sp>
        <p:nvSpPr>
          <p:cNvPr id="2" name="標題 1"/>
          <p:cNvSpPr>
            <a:spLocks noGrp="1"/>
          </p:cNvSpPr>
          <p:nvPr>
            <p:ph type="title"/>
          </p:nvPr>
        </p:nvSpPr>
        <p:spPr>
          <a:xfrm>
            <a:off x="1422400" y="304800"/>
            <a:ext cx="10464800" cy="685800"/>
          </a:xfrm>
        </p:spPr>
        <p:txBody>
          <a:bodyPr/>
          <a:lstStyle/>
          <a:p>
            <a:r>
              <a:rPr lang="zh-TW" altLang="en-US"/>
              <a:t>按一下以編輯母片標題樣式</a:t>
            </a:r>
          </a:p>
        </p:txBody>
      </p:sp>
      <p:sp>
        <p:nvSpPr>
          <p:cNvPr id="3" name="內容版面配置區 2"/>
          <p:cNvSpPr>
            <a:spLocks noGrp="1"/>
          </p:cNvSpPr>
          <p:nvPr>
            <p:ph sz="quarter" idx="1"/>
          </p:nvPr>
        </p:nvSpPr>
        <p:spPr>
          <a:xfrm>
            <a:off x="1320800" y="1143000"/>
            <a:ext cx="5232400" cy="24003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6756400" y="1143000"/>
            <a:ext cx="5232400" cy="24003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half" idx="3"/>
          </p:nvPr>
        </p:nvSpPr>
        <p:spPr>
          <a:xfrm>
            <a:off x="1320800" y="3695700"/>
            <a:ext cx="10668000" cy="24003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3968628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1422400" y="304800"/>
            <a:ext cx="10464800" cy="685800"/>
          </a:xfrm>
        </p:spPr>
        <p:txBody>
          <a:bodyPr/>
          <a:lstStyle/>
          <a:p>
            <a:r>
              <a:rPr lang="zh-TW" altLang="en-US"/>
              <a:t>按一下以編輯母片標題樣式</a:t>
            </a:r>
          </a:p>
        </p:txBody>
      </p:sp>
      <p:sp>
        <p:nvSpPr>
          <p:cNvPr id="3" name="表格版面配置區 2"/>
          <p:cNvSpPr>
            <a:spLocks noGrp="1"/>
          </p:cNvSpPr>
          <p:nvPr>
            <p:ph type="tbl" idx="1"/>
          </p:nvPr>
        </p:nvSpPr>
        <p:spPr>
          <a:xfrm>
            <a:off x="1320800" y="1143000"/>
            <a:ext cx="10668000" cy="4953000"/>
          </a:xfrm>
        </p:spPr>
        <p:txBody>
          <a:bodyPr/>
          <a:lstStyle/>
          <a:p>
            <a:pPr lvl="0"/>
            <a:r>
              <a:rPr lang="zh-TW" altLang="en-US" noProof="0"/>
              <a:t>按一下圖示以新增表格</a:t>
            </a:r>
          </a:p>
        </p:txBody>
      </p:sp>
      <p:sp>
        <p:nvSpPr>
          <p:cNvPr id="4" name="Rectangle 5"/>
          <p:cNvSpPr>
            <a:spLocks noGrp="1" noChangeArrowheads="1"/>
          </p:cNvSpPr>
          <p:nvPr>
            <p:ph type="sldNum" sz="quarter" idx="10"/>
          </p:nvPr>
        </p:nvSpPr>
        <p:spPr>
          <a:ln/>
        </p:spPr>
        <p:txBody>
          <a:bodyPr/>
          <a:lstStyle>
            <a:lvl1pPr>
              <a:defRPr/>
            </a:lvl1pPr>
          </a:lstStyle>
          <a:p>
            <a:fld id="{9864EBAF-6239-418B-94D1-0B6FC9288485}" type="slidenum">
              <a:rPr lang="zh-TW" altLang="en-US" smtClean="0"/>
              <a:t>‹#›</a:t>
            </a:fld>
            <a:endParaRPr lang="zh-TW" altLang="en-US"/>
          </a:p>
        </p:txBody>
      </p:sp>
    </p:spTree>
    <p:extLst>
      <p:ext uri="{BB962C8B-B14F-4D97-AF65-F5344CB8AC3E}">
        <p14:creationId xmlns:p14="http://schemas.microsoft.com/office/powerpoint/2010/main" val="3962571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8D5"/>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1422400" y="304800"/>
            <a:ext cx="10464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a:t>按一下以編輯母片標題樣式</a:t>
            </a:r>
          </a:p>
        </p:txBody>
      </p:sp>
      <p:sp>
        <p:nvSpPr>
          <p:cNvPr id="3077" name="Rectangle 5"/>
          <p:cNvSpPr>
            <a:spLocks noGrp="1" noChangeArrowheads="1"/>
          </p:cNvSpPr>
          <p:nvPr>
            <p:ph type="sldNum" sz="quarter" idx="4"/>
          </p:nvPr>
        </p:nvSpPr>
        <p:spPr bwMode="auto">
          <a:xfrm>
            <a:off x="10539506" y="4733365"/>
            <a:ext cx="1016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1" hangingPunct="1">
              <a:spcBef>
                <a:spcPct val="50000"/>
              </a:spcBef>
              <a:defRPr sz="1400">
                <a:latin typeface="Times New Roman" panose="02020603050405020304" pitchFamily="18" charset="0"/>
              </a:defRPr>
            </a:lvl1pPr>
          </a:lstStyle>
          <a:p>
            <a:fld id="{9864EBAF-6239-418B-94D1-0B6FC9288485}" type="slidenum">
              <a:rPr lang="zh-TW" altLang="en-US" smtClean="0"/>
              <a:t>‹#›</a:t>
            </a:fld>
            <a:endParaRPr lang="zh-TW" altLang="en-US"/>
          </a:p>
        </p:txBody>
      </p:sp>
      <p:sp>
        <p:nvSpPr>
          <p:cNvPr id="1029" name="Rectangle 7"/>
          <p:cNvSpPr>
            <a:spLocks noGrp="1" noChangeArrowheads="1"/>
          </p:cNvSpPr>
          <p:nvPr>
            <p:ph type="body" idx="1"/>
          </p:nvPr>
        </p:nvSpPr>
        <p:spPr bwMode="auto">
          <a:xfrm>
            <a:off x="1320800" y="1143000"/>
            <a:ext cx="106680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1030" name="Picture 10" descr="D:\Chen\PhotoImpact編輯檔\投影片bar.jp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 y="0"/>
            <a:ext cx="1155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圖片 8">
            <a:extLst>
              <a:ext uri="{FF2B5EF4-FFF2-40B4-BE49-F238E27FC236}">
                <a16:creationId xmlns:a16="http://schemas.microsoft.com/office/drawing/2014/main" id="{4876C77A-5799-44A5-97E9-0AAD3C24FAAA}"/>
              </a:ext>
            </a:extLst>
          </p:cNvPr>
          <p:cNvPicPr>
            <a:picLocks noChangeAspect="1"/>
          </p:cNvPicPr>
          <p:nvPr userDrawn="1"/>
        </p:nvPicPr>
        <p:blipFill>
          <a:blip r:embed="rId16"/>
          <a:stretch>
            <a:fillRect/>
          </a:stretch>
        </p:blipFill>
        <p:spPr>
          <a:xfrm>
            <a:off x="8181975" y="6210767"/>
            <a:ext cx="4010025" cy="647233"/>
          </a:xfrm>
          <a:prstGeom prst="rect">
            <a:avLst/>
          </a:prstGeom>
        </p:spPr>
      </p:pic>
    </p:spTree>
    <p:extLst>
      <p:ext uri="{BB962C8B-B14F-4D97-AF65-F5344CB8AC3E}">
        <p14:creationId xmlns:p14="http://schemas.microsoft.com/office/powerpoint/2010/main" val="404169236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xStyles>
    <p:titleStyle>
      <a:lvl1pPr algn="ctr" rtl="0" eaLnBrk="1" fontAlgn="base" hangingPunct="1">
        <a:spcBef>
          <a:spcPct val="0"/>
        </a:spcBef>
        <a:spcAft>
          <a:spcPct val="0"/>
        </a:spcAft>
        <a:defRPr kumimoji="1" sz="3600">
          <a:solidFill>
            <a:schemeClr val="tx2"/>
          </a:solidFill>
          <a:latin typeface="+mj-lt"/>
          <a:ea typeface="+mj-ea"/>
          <a:cs typeface="+mj-cs"/>
        </a:defRPr>
      </a:lvl1pPr>
      <a:lvl2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2pPr>
      <a:lvl3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3pPr>
      <a:lvl4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4pPr>
      <a:lvl5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5pPr>
      <a:lvl6pPr marL="4572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6pPr>
      <a:lvl7pPr marL="9144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7pPr>
      <a:lvl8pPr marL="13716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8pPr>
      <a:lvl9pPr marL="18288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9pPr>
    </p:titleStyle>
    <p:bodyStyle>
      <a:lvl1pPr marL="342900" indent="-342900" algn="l" rtl="0" eaLnBrk="1" fontAlgn="base" hangingPunct="1">
        <a:spcBef>
          <a:spcPct val="20000"/>
        </a:spcBef>
        <a:spcAft>
          <a:spcPct val="0"/>
        </a:spcAft>
        <a:buClr>
          <a:schemeClr val="tx2"/>
        </a:buClr>
        <a:buFont typeface="Wingdings" panose="05000000000000000000" pitchFamily="2" charset="2"/>
        <a:buChar char="w"/>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SzPct val="95000"/>
        <a:buChar char="–"/>
        <a:defRPr kumimoji="1" sz="2400">
          <a:solidFill>
            <a:schemeClr val="tx1"/>
          </a:solidFill>
          <a:latin typeface="+mn-lt"/>
          <a:ea typeface="+mn-ea"/>
        </a:defRPr>
      </a:lvl2pPr>
      <a:lvl3pPr marL="1143000" indent="-228600" algn="l" rtl="0" eaLnBrk="1" fontAlgn="base" hangingPunct="1">
        <a:spcBef>
          <a:spcPct val="20000"/>
        </a:spcBef>
        <a:spcAft>
          <a:spcPct val="0"/>
        </a:spcAft>
        <a:buChar char="•"/>
        <a:defRPr kumimoji="1" sz="20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1600">
          <a:solidFill>
            <a:schemeClr val="tx1"/>
          </a:solidFill>
          <a:latin typeface="+mn-lt"/>
          <a:ea typeface="+mn-ea"/>
        </a:defRPr>
      </a:lvl5pPr>
      <a:lvl6pPr marL="2514600" indent="-228600" algn="l" rtl="0" eaLnBrk="1" fontAlgn="base" hangingPunct="1">
        <a:spcBef>
          <a:spcPct val="20000"/>
        </a:spcBef>
        <a:spcAft>
          <a:spcPct val="0"/>
        </a:spcAft>
        <a:buChar char="•"/>
        <a:defRPr kumimoji="1" sz="1600">
          <a:solidFill>
            <a:schemeClr val="tx1"/>
          </a:solidFill>
          <a:latin typeface="+mn-lt"/>
          <a:ea typeface="+mn-ea"/>
        </a:defRPr>
      </a:lvl6pPr>
      <a:lvl7pPr marL="2971800" indent="-228600" algn="l" rtl="0" eaLnBrk="1" fontAlgn="base" hangingPunct="1">
        <a:spcBef>
          <a:spcPct val="20000"/>
        </a:spcBef>
        <a:spcAft>
          <a:spcPct val="0"/>
        </a:spcAft>
        <a:buChar char="•"/>
        <a:defRPr kumimoji="1" sz="1600">
          <a:solidFill>
            <a:schemeClr val="tx1"/>
          </a:solidFill>
          <a:latin typeface="+mn-lt"/>
          <a:ea typeface="+mn-ea"/>
        </a:defRPr>
      </a:lvl7pPr>
      <a:lvl8pPr marL="3429000" indent="-228600" algn="l" rtl="0" eaLnBrk="1" fontAlgn="base" hangingPunct="1">
        <a:spcBef>
          <a:spcPct val="20000"/>
        </a:spcBef>
        <a:spcAft>
          <a:spcPct val="0"/>
        </a:spcAft>
        <a:buChar char="•"/>
        <a:defRPr kumimoji="1" sz="1600">
          <a:solidFill>
            <a:schemeClr val="tx1"/>
          </a:solidFill>
          <a:latin typeface="+mn-lt"/>
          <a:ea typeface="+mn-ea"/>
        </a:defRPr>
      </a:lvl8pPr>
      <a:lvl9pPr marL="3886200" indent="-228600" algn="l" rtl="0" eaLnBrk="1" fontAlgn="base" hangingPunct="1">
        <a:spcBef>
          <a:spcPct val="20000"/>
        </a:spcBef>
        <a:spcAft>
          <a:spcPct val="0"/>
        </a:spcAft>
        <a:buChar char="•"/>
        <a:defRPr kumimoji="1"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www.sciencedirect.com/topics/engineering/concentration-gradien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ciencedirect.com/topics/earth-and-planetary-sciences/numerical-modeli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sciencedirect.com/topics/engineering/negative-electrod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www.sciencedirect.com/topics/engineering/degradation-pathway"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578323A-FE87-4284-9D80-D4220DDF6429}"/>
              </a:ext>
            </a:extLst>
          </p:cNvPr>
          <p:cNvSpPr txBox="1">
            <a:spLocks/>
          </p:cNvSpPr>
          <p:nvPr/>
        </p:nvSpPr>
        <p:spPr bwMode="auto">
          <a:xfrm>
            <a:off x="1732491" y="1842559"/>
            <a:ext cx="9508067"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normAutofit fontScale="97500"/>
          </a:bodyPr>
          <a:lstStyle>
            <a:lvl1pPr algn="ctr" rtl="0" eaLnBrk="1" fontAlgn="base" hangingPunct="1">
              <a:spcBef>
                <a:spcPct val="0"/>
              </a:spcBef>
              <a:spcAft>
                <a:spcPct val="0"/>
              </a:spcAft>
              <a:defRPr kumimoji="1" sz="3600">
                <a:solidFill>
                  <a:schemeClr val="tx2"/>
                </a:solidFill>
                <a:latin typeface="+mj-lt"/>
                <a:ea typeface="+mj-ea"/>
                <a:cs typeface="+mj-cs"/>
              </a:defRPr>
            </a:lvl1pPr>
            <a:lvl2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2pPr>
            <a:lvl3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3pPr>
            <a:lvl4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4pPr>
            <a:lvl5pPr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5pPr>
            <a:lvl6pPr marL="4572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6pPr>
            <a:lvl7pPr marL="9144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7pPr>
            <a:lvl8pPr marL="13716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8pPr>
            <a:lvl9pPr marL="1828800" algn="ctr" rtl="0" eaLnBrk="1" fontAlgn="base" hangingPunct="1">
              <a:spcBef>
                <a:spcPct val="0"/>
              </a:spcBef>
              <a:spcAft>
                <a:spcPct val="0"/>
              </a:spcAft>
              <a:defRPr kumimoji="1" sz="3600">
                <a:solidFill>
                  <a:schemeClr val="tx2"/>
                </a:solidFill>
                <a:latin typeface="Times New Roman" pitchFamily="18" charset="0"/>
                <a:ea typeface="標楷體" pitchFamily="65" charset="-120"/>
              </a:defRPr>
            </a:lvl9pPr>
          </a:lstStyle>
          <a:p>
            <a:r>
              <a:rPr lang="en-US" altLang="zh-TW" dirty="0"/>
              <a:t>Mapping the total lithium inventory of Li-ion batteries </a:t>
            </a:r>
            <a:endParaRPr lang="en-US" altLang="zh-TW" sz="5400" dirty="0"/>
          </a:p>
        </p:txBody>
      </p:sp>
      <p:sp>
        <p:nvSpPr>
          <p:cNvPr id="2" name="文字方塊 1">
            <a:extLst>
              <a:ext uri="{FF2B5EF4-FFF2-40B4-BE49-F238E27FC236}">
                <a16:creationId xmlns:a16="http://schemas.microsoft.com/office/drawing/2014/main" id="{6A10610C-9C45-508A-A374-5969B4EA8297}"/>
              </a:ext>
            </a:extLst>
          </p:cNvPr>
          <p:cNvSpPr txBox="1"/>
          <p:nvPr/>
        </p:nvSpPr>
        <p:spPr>
          <a:xfrm>
            <a:off x="5624186" y="4634630"/>
            <a:ext cx="2486578" cy="369332"/>
          </a:xfrm>
          <a:prstGeom prst="rect">
            <a:avLst/>
          </a:prstGeom>
          <a:noFill/>
        </p:spPr>
        <p:txBody>
          <a:bodyPr wrap="none" rtlCol="0">
            <a:spAutoFit/>
          </a:bodyPr>
          <a:lstStyle/>
          <a:p>
            <a:r>
              <a:rPr kumimoji="1" lang="en-US" altLang="zh-TW" dirty="0"/>
              <a:t>Joule</a:t>
            </a:r>
            <a:r>
              <a:rPr kumimoji="1" lang="zh-TW" altLang="en-US" dirty="0"/>
              <a:t> </a:t>
            </a:r>
            <a:r>
              <a:rPr kumimoji="1" lang="en-US" altLang="zh-TW" dirty="0"/>
              <a:t>Impact</a:t>
            </a:r>
            <a:r>
              <a:rPr kumimoji="1" lang="zh-TW" altLang="en-US" dirty="0"/>
              <a:t> </a:t>
            </a:r>
            <a:r>
              <a:rPr kumimoji="1" lang="en-US" altLang="zh-TW" dirty="0"/>
              <a:t>factor</a:t>
            </a:r>
            <a:r>
              <a:rPr kumimoji="1" lang="zh-TW" altLang="en-US" dirty="0"/>
              <a:t> </a:t>
            </a:r>
            <a:r>
              <a:rPr kumimoji="1" lang="en-US" altLang="zh-TW" dirty="0"/>
              <a:t>37.1</a:t>
            </a:r>
            <a:r>
              <a:rPr kumimoji="1" lang="zh-TW" altLang="en-US" dirty="0"/>
              <a:t> </a:t>
            </a:r>
          </a:p>
        </p:txBody>
      </p:sp>
    </p:spTree>
    <p:extLst>
      <p:ext uri="{BB962C8B-B14F-4D97-AF65-F5344CB8AC3E}">
        <p14:creationId xmlns:p14="http://schemas.microsoft.com/office/powerpoint/2010/main" val="3886877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EB5D5B09-B6D5-C80A-72FB-847B015AADB7}"/>
              </a:ext>
            </a:extLst>
          </p:cNvPr>
          <p:cNvSpPr>
            <a:spLocks noGrp="1"/>
          </p:cNvSpPr>
          <p:nvPr>
            <p:ph type="body" idx="1"/>
          </p:nvPr>
        </p:nvSpPr>
        <p:spPr>
          <a:xfrm>
            <a:off x="914400" y="2678906"/>
            <a:ext cx="10363200" cy="1500187"/>
          </a:xfrm>
        </p:spPr>
        <p:txBody>
          <a:bodyPr/>
          <a:lstStyle/>
          <a:p>
            <a:pPr algn="ctr"/>
            <a:r>
              <a:rPr kumimoji="1" lang="zh-TW" altLang="en-US" sz="6000" b="1" dirty="0"/>
              <a:t>介紹</a:t>
            </a:r>
            <a:endParaRPr kumimoji="1" lang="zh-TW" altLang="en-US" b="1" dirty="0"/>
          </a:p>
        </p:txBody>
      </p:sp>
    </p:spTree>
    <p:extLst>
      <p:ext uri="{BB962C8B-B14F-4D97-AF65-F5344CB8AC3E}">
        <p14:creationId xmlns:p14="http://schemas.microsoft.com/office/powerpoint/2010/main" val="1009093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02453-5E58-49C5-8DAA-6CBB431F278E}"/>
              </a:ext>
            </a:extLst>
          </p:cNvPr>
          <p:cNvSpPr>
            <a:spLocks noGrp="1"/>
          </p:cNvSpPr>
          <p:nvPr>
            <p:ph type="title"/>
          </p:nvPr>
        </p:nvSpPr>
        <p:spPr/>
        <p:txBody>
          <a:bodyPr/>
          <a:lstStyle/>
          <a:p>
            <a:pPr algn="l"/>
            <a:r>
              <a:rPr lang="zh-TW" altLang="en-US" dirty="0"/>
              <a:t>問題</a:t>
            </a:r>
          </a:p>
        </p:txBody>
      </p:sp>
      <p:sp>
        <p:nvSpPr>
          <p:cNvPr id="3" name="內容版面配置區 2">
            <a:extLst>
              <a:ext uri="{FF2B5EF4-FFF2-40B4-BE49-F238E27FC236}">
                <a16:creationId xmlns:a16="http://schemas.microsoft.com/office/drawing/2014/main" id="{FB2331C8-19E5-4BAB-84F6-6E3CC71E648B}"/>
              </a:ext>
            </a:extLst>
          </p:cNvPr>
          <p:cNvSpPr>
            <a:spLocks noGrp="1"/>
          </p:cNvSpPr>
          <p:nvPr>
            <p:ph idx="1"/>
          </p:nvPr>
        </p:nvSpPr>
        <p:spPr>
          <a:xfrm>
            <a:off x="1320800" y="1143000"/>
            <a:ext cx="10464800" cy="4953000"/>
          </a:xfrm>
        </p:spPr>
        <p:txBody>
          <a:bodyPr/>
          <a:lstStyle/>
          <a:p>
            <a:pPr>
              <a:lnSpc>
                <a:spcPct val="150000"/>
              </a:lnSpc>
            </a:pPr>
            <a:r>
              <a:rPr lang="zh-TW" altLang="en-US" dirty="0"/>
              <a:t>鋰離子電池的充電速度受限於電解液和活性材料中</a:t>
            </a:r>
            <a:r>
              <a:rPr lang="en-US" altLang="zh-TW" dirty="0"/>
              <a:t>Li </a:t>
            </a:r>
            <a:r>
              <a:rPr lang="en-US" altLang="zh-TW" baseline="30000" dirty="0"/>
              <a:t>+</a:t>
            </a:r>
            <a:r>
              <a:rPr lang="zh-TW" altLang="en-US" dirty="0"/>
              <a:t>的質量傳輸，導致</a:t>
            </a:r>
            <a:r>
              <a:rPr lang="zh-TW" altLang="en-US" dirty="0">
                <a:hlinkClick r:id="rId2"/>
              </a:rPr>
              <a:t>濃度梯度</a:t>
            </a:r>
            <a:r>
              <a:rPr lang="zh-TW" altLang="en-US" dirty="0"/>
              <a:t>，進而嚴重影響倍率性能。</a:t>
            </a:r>
            <a:endParaRPr lang="en-US" altLang="zh-TW" dirty="0"/>
          </a:p>
          <a:p>
            <a:pPr>
              <a:lnSpc>
                <a:spcPct val="150000"/>
              </a:lnSpc>
            </a:pPr>
            <a:r>
              <a:rPr lang="zh-TW" altLang="en-US" dirty="0"/>
              <a:t>如何讓這個傳輸過程更有效率，是提升電池性能的關鍵。</a:t>
            </a:r>
            <a:endParaRPr lang="en-US" altLang="zh-TW" dirty="0"/>
          </a:p>
          <a:p>
            <a:pPr>
              <a:lnSpc>
                <a:spcPct val="150000"/>
              </a:lnSpc>
            </a:pPr>
            <a:r>
              <a:rPr lang="zh-TW" altLang="en-US" dirty="0"/>
              <a:t>鋰離子輸送之優化受限於難以對鋰進行「型態區分（</a:t>
            </a:r>
            <a:r>
              <a:rPr lang="en-US" altLang="zh-TW" dirty="0"/>
              <a:t>speciating</a:t>
            </a:r>
            <a:r>
              <a:rPr lang="zh-TW" altLang="en-US" dirty="0"/>
              <a:t>）」與「空間定位繪圖（</a:t>
            </a:r>
            <a:r>
              <a:rPr lang="en-US" altLang="zh-TW" dirty="0"/>
              <a:t>mapping</a:t>
            </a:r>
            <a:r>
              <a:rPr lang="zh-TW" altLang="en-US" dirty="0"/>
              <a:t>）」。</a:t>
            </a:r>
            <a:endParaRPr lang="en-US" altLang="zh-TW" dirty="0"/>
          </a:p>
          <a:p>
            <a:pPr>
              <a:lnSpc>
                <a:spcPct val="150000"/>
              </a:lnSpc>
            </a:pPr>
            <a:endParaRPr lang="zh-TW" altLang="en-US" dirty="0"/>
          </a:p>
        </p:txBody>
      </p:sp>
    </p:spTree>
    <p:extLst>
      <p:ext uri="{BB962C8B-B14F-4D97-AF65-F5344CB8AC3E}">
        <p14:creationId xmlns:p14="http://schemas.microsoft.com/office/powerpoint/2010/main" val="3210645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02453-5E58-49C5-8DAA-6CBB431F278E}"/>
              </a:ext>
            </a:extLst>
          </p:cNvPr>
          <p:cNvSpPr>
            <a:spLocks noGrp="1"/>
          </p:cNvSpPr>
          <p:nvPr>
            <p:ph type="title"/>
          </p:nvPr>
        </p:nvSpPr>
        <p:spPr/>
        <p:txBody>
          <a:bodyPr/>
          <a:lstStyle/>
          <a:p>
            <a:pPr algn="l"/>
            <a:r>
              <a:rPr lang="zh-TW" altLang="en-US" dirty="0"/>
              <a:t>問題</a:t>
            </a:r>
          </a:p>
        </p:txBody>
      </p:sp>
      <p:sp>
        <p:nvSpPr>
          <p:cNvPr id="3" name="內容版面配置區 2">
            <a:extLst>
              <a:ext uri="{FF2B5EF4-FFF2-40B4-BE49-F238E27FC236}">
                <a16:creationId xmlns:a16="http://schemas.microsoft.com/office/drawing/2014/main" id="{FB2331C8-19E5-4BAB-84F6-6E3CC71E648B}"/>
              </a:ext>
            </a:extLst>
          </p:cNvPr>
          <p:cNvSpPr>
            <a:spLocks noGrp="1"/>
          </p:cNvSpPr>
          <p:nvPr>
            <p:ph idx="1"/>
          </p:nvPr>
        </p:nvSpPr>
        <p:spPr/>
        <p:txBody>
          <a:bodyPr/>
          <a:lstStyle/>
          <a:p>
            <a:pPr marL="0" indent="0">
              <a:lnSpc>
                <a:spcPct val="150000"/>
              </a:lnSpc>
              <a:buNone/>
            </a:pPr>
            <a:r>
              <a:rPr lang="zh-TW" altLang="en-US" dirty="0"/>
              <a:t>電池電極內部環境非常惡劣，對觀測儀器來說有三大難關：</a:t>
            </a:r>
          </a:p>
          <a:p>
            <a:pPr>
              <a:lnSpc>
                <a:spcPct val="150000"/>
              </a:lnSpc>
            </a:pPr>
            <a:r>
              <a:rPr lang="en-US" altLang="zh-TW" b="1" dirty="0"/>
              <a:t>Dense</a:t>
            </a:r>
            <a:r>
              <a:rPr lang="zh-TW" altLang="en-US" b="1" dirty="0"/>
              <a:t>（高密度）</a:t>
            </a:r>
            <a:r>
              <a:rPr lang="zh-TW" altLang="en-US" dirty="0"/>
              <a:t>：材料堆疊緊密，傳統檢測光線或粒子難以穿透。</a:t>
            </a:r>
          </a:p>
          <a:p>
            <a:pPr>
              <a:lnSpc>
                <a:spcPct val="150000"/>
              </a:lnSpc>
            </a:pPr>
            <a:r>
              <a:rPr lang="en-US" altLang="zh-TW" b="1" dirty="0"/>
              <a:t>Opaque</a:t>
            </a:r>
            <a:r>
              <a:rPr lang="zh-TW" altLang="en-US" b="1" dirty="0"/>
              <a:t>（不透明）</a:t>
            </a:r>
            <a:r>
              <a:rPr lang="zh-TW" altLang="en-US" dirty="0"/>
              <a:t>：光學顯微鏡或一般檢測設備無法直接看進去。</a:t>
            </a:r>
          </a:p>
          <a:p>
            <a:pPr>
              <a:lnSpc>
                <a:spcPct val="150000"/>
              </a:lnSpc>
            </a:pPr>
            <a:r>
              <a:rPr lang="en-US" altLang="zh-TW" b="1" dirty="0"/>
              <a:t>Paramagnetic matrix</a:t>
            </a:r>
            <a:r>
              <a:rPr lang="zh-TW" altLang="en-US" b="1" dirty="0"/>
              <a:t>（順磁性基質）</a:t>
            </a:r>
            <a:r>
              <a:rPr lang="zh-TW" altLang="en-US" dirty="0"/>
              <a:t>：許多電極材料（如鐵、鈷、鎳等過渡金屬）具有磁性，這會嚴重干擾像核磁共振（</a:t>
            </a:r>
            <a:r>
              <a:rPr lang="en-US" altLang="zh-TW" dirty="0"/>
              <a:t>NMR / MRI</a:t>
            </a:r>
            <a:r>
              <a:rPr lang="zh-TW" altLang="en-US" dirty="0"/>
              <a:t>）這類常用於觀測液體分佈的檢測技術。</a:t>
            </a:r>
            <a:endParaRPr lang="en-US" altLang="zh-TW" dirty="0"/>
          </a:p>
          <a:p>
            <a:pPr>
              <a:lnSpc>
                <a:spcPct val="150000"/>
              </a:lnSpc>
            </a:pPr>
            <a:endParaRPr lang="zh-TW" altLang="en-US" dirty="0"/>
          </a:p>
          <a:p>
            <a:pPr>
              <a:lnSpc>
                <a:spcPct val="150000"/>
              </a:lnSpc>
            </a:pPr>
            <a:endParaRPr lang="zh-TW" altLang="en-US" dirty="0"/>
          </a:p>
        </p:txBody>
      </p:sp>
    </p:spTree>
    <p:extLst>
      <p:ext uri="{BB962C8B-B14F-4D97-AF65-F5344CB8AC3E}">
        <p14:creationId xmlns:p14="http://schemas.microsoft.com/office/powerpoint/2010/main" val="424330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02453-5E58-49C5-8DAA-6CBB431F278E}"/>
              </a:ext>
            </a:extLst>
          </p:cNvPr>
          <p:cNvSpPr>
            <a:spLocks noGrp="1"/>
          </p:cNvSpPr>
          <p:nvPr>
            <p:ph type="title"/>
          </p:nvPr>
        </p:nvSpPr>
        <p:spPr/>
        <p:txBody>
          <a:bodyPr/>
          <a:lstStyle/>
          <a:p>
            <a:pPr algn="l"/>
            <a:r>
              <a:rPr lang="zh-TW" altLang="en-US" dirty="0"/>
              <a:t>過電位</a:t>
            </a:r>
          </a:p>
        </p:txBody>
      </p:sp>
      <p:pic>
        <p:nvPicPr>
          <p:cNvPr id="5" name="內容版面配置區 4" descr="一張含有 文字, 螢幕擷取畫面, 行, 字型 的圖片&#10;&#10;AI 產生的內容可能不正確。">
            <a:extLst>
              <a:ext uri="{FF2B5EF4-FFF2-40B4-BE49-F238E27FC236}">
                <a16:creationId xmlns:a16="http://schemas.microsoft.com/office/drawing/2014/main" id="{A59F0DEC-4DCE-74A7-8128-B0CBBD8E27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5919" y="1235380"/>
            <a:ext cx="5551281" cy="3189962"/>
          </a:xfrm>
        </p:spPr>
      </p:pic>
      <p:pic>
        <p:nvPicPr>
          <p:cNvPr id="7" name="圖片 6" descr="一張含有 文字, 圖表, 螢幕擷取畫面, 行 的圖片&#10;&#10;AI 產生的內容可能不正確。">
            <a:extLst>
              <a:ext uri="{FF2B5EF4-FFF2-40B4-BE49-F238E27FC236}">
                <a16:creationId xmlns:a16="http://schemas.microsoft.com/office/drawing/2014/main" id="{B32A5BDB-1BBC-A945-F519-F58E867CD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35380"/>
            <a:ext cx="6186415" cy="3189962"/>
          </a:xfrm>
          <a:prstGeom prst="rect">
            <a:avLst/>
          </a:prstGeom>
        </p:spPr>
      </p:pic>
      <p:sp>
        <p:nvSpPr>
          <p:cNvPr id="8" name="文字方塊 7">
            <a:extLst>
              <a:ext uri="{FF2B5EF4-FFF2-40B4-BE49-F238E27FC236}">
                <a16:creationId xmlns:a16="http://schemas.microsoft.com/office/drawing/2014/main" id="{3BDBE4D4-5D4B-DBB0-4F7D-12293780D834}"/>
              </a:ext>
            </a:extLst>
          </p:cNvPr>
          <p:cNvSpPr txBox="1"/>
          <p:nvPr/>
        </p:nvSpPr>
        <p:spPr>
          <a:xfrm>
            <a:off x="1422400" y="4637735"/>
            <a:ext cx="10055958" cy="830997"/>
          </a:xfrm>
          <a:prstGeom prst="rect">
            <a:avLst/>
          </a:prstGeom>
          <a:noFill/>
        </p:spPr>
        <p:txBody>
          <a:bodyPr wrap="none" rtlCol="0">
            <a:spAutoFit/>
          </a:bodyPr>
          <a:lstStyle/>
          <a:p>
            <a:pPr marL="285750" indent="-285750">
              <a:buFont typeface="Arial" panose="020B0604020202020204" pitchFamily="34" charset="0"/>
              <a:buChar char="•"/>
            </a:pPr>
            <a:r>
              <a:rPr kumimoji="1" lang="zh-TW" altLang="en-US" sz="2400" b="1" dirty="0"/>
              <a:t>額外消耗能量</a:t>
            </a:r>
            <a:endParaRPr kumimoji="1" lang="en-US" altLang="zh-TW" sz="2400" b="1" dirty="0"/>
          </a:p>
          <a:p>
            <a:pPr marL="285750" indent="-285750">
              <a:buFont typeface="Arial" panose="020B0604020202020204" pitchFamily="34" charset="0"/>
              <a:buChar char="•"/>
            </a:pPr>
            <a:r>
              <a:rPr kumimoji="1" lang="zh-TW" altLang="en-US" sz="2400" b="1" dirty="0"/>
              <a:t>提前到達截止電</a:t>
            </a:r>
            <a:r>
              <a:rPr kumimoji="1" lang="en-US" altLang="zh-TW" sz="2400" b="1" dirty="0"/>
              <a:t>=&gt;</a:t>
            </a:r>
            <a:r>
              <a:rPr lang="zh-TW" altLang="en-US" sz="2400" dirty="0"/>
              <a:t>深層或局部區域的電極活性材料因為拿不到鋰離子，</a:t>
            </a:r>
            <a:endParaRPr kumimoji="1" lang="zh-TW" altLang="en-US" sz="2400" b="1" dirty="0"/>
          </a:p>
        </p:txBody>
      </p:sp>
      <p:sp>
        <p:nvSpPr>
          <p:cNvPr id="9" name="文字方塊 8">
            <a:extLst>
              <a:ext uri="{FF2B5EF4-FFF2-40B4-BE49-F238E27FC236}">
                <a16:creationId xmlns:a16="http://schemas.microsoft.com/office/drawing/2014/main" id="{AD3A6825-5311-7218-74D0-1847E35BAF8F}"/>
              </a:ext>
            </a:extLst>
          </p:cNvPr>
          <p:cNvSpPr txBox="1"/>
          <p:nvPr/>
        </p:nvSpPr>
        <p:spPr>
          <a:xfrm>
            <a:off x="1422400" y="5496459"/>
            <a:ext cx="10956846" cy="400110"/>
          </a:xfrm>
          <a:prstGeom prst="rect">
            <a:avLst/>
          </a:prstGeom>
          <a:noFill/>
        </p:spPr>
        <p:txBody>
          <a:bodyPr wrap="none" rtlCol="0">
            <a:spAutoFit/>
          </a:bodyPr>
          <a:lstStyle/>
          <a:p>
            <a:r>
              <a:rPr lang="zh-TW" altLang="en-US" sz="2000" dirty="0">
                <a:solidFill>
                  <a:srgbClr val="FF0000"/>
                </a:solidFill>
              </a:rPr>
              <a:t>快充的最大元兇，往往</a:t>
            </a:r>
            <a:r>
              <a:rPr lang="zh-TW" altLang="en-US" sz="2000" b="1" dirty="0">
                <a:solidFill>
                  <a:srgbClr val="FF0000"/>
                </a:solidFill>
              </a:rPr>
              <a:t>不是固態電極材料本身，而是「液態電解質」裡的離子傳輸速度跟不上</a:t>
            </a:r>
            <a:r>
              <a:rPr lang="zh-TW" altLang="en-US" sz="2000" dirty="0">
                <a:solidFill>
                  <a:srgbClr val="FF0000"/>
                </a:solidFill>
              </a:rPr>
              <a:t>。</a:t>
            </a:r>
            <a:endParaRPr kumimoji="1" lang="zh-TW" altLang="en-US" sz="2000" dirty="0">
              <a:solidFill>
                <a:srgbClr val="FF0000"/>
              </a:solidFill>
            </a:endParaRPr>
          </a:p>
        </p:txBody>
      </p:sp>
    </p:spTree>
    <p:extLst>
      <p:ext uri="{BB962C8B-B14F-4D97-AF65-F5344CB8AC3E}">
        <p14:creationId xmlns:p14="http://schemas.microsoft.com/office/powerpoint/2010/main" val="194981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02453-5E58-49C5-8DAA-6CBB431F278E}"/>
              </a:ext>
            </a:extLst>
          </p:cNvPr>
          <p:cNvSpPr>
            <a:spLocks noGrp="1"/>
          </p:cNvSpPr>
          <p:nvPr>
            <p:ph type="title"/>
          </p:nvPr>
        </p:nvSpPr>
        <p:spPr/>
        <p:txBody>
          <a:bodyPr/>
          <a:lstStyle/>
          <a:p>
            <a:pPr algn="l"/>
            <a:r>
              <a:rPr lang="zh-TW" altLang="en-US" dirty="0"/>
              <a:t>目前</a:t>
            </a:r>
          </a:p>
        </p:txBody>
      </p:sp>
      <p:sp>
        <p:nvSpPr>
          <p:cNvPr id="3" name="內容版面配置區 2">
            <a:extLst>
              <a:ext uri="{FF2B5EF4-FFF2-40B4-BE49-F238E27FC236}">
                <a16:creationId xmlns:a16="http://schemas.microsoft.com/office/drawing/2014/main" id="{FB2331C8-19E5-4BAB-84F6-6E3CC71E648B}"/>
              </a:ext>
            </a:extLst>
          </p:cNvPr>
          <p:cNvSpPr>
            <a:spLocks noGrp="1"/>
          </p:cNvSpPr>
          <p:nvPr>
            <p:ph idx="1"/>
          </p:nvPr>
        </p:nvSpPr>
        <p:spPr/>
        <p:txBody>
          <a:bodyPr/>
          <a:lstStyle/>
          <a:p>
            <a:r>
              <a:rPr lang="zh-TW" altLang="en-US" dirty="0"/>
              <a:t>目前尚無實驗方法能夠同時量化溶液相中的濃度和電極內部的空間分辨荷電狀態（</a:t>
            </a:r>
            <a:r>
              <a:rPr lang="en-US" altLang="zh-TW" dirty="0"/>
              <a:t>SoC</a:t>
            </a:r>
            <a:r>
              <a:rPr lang="zh-TW" altLang="en-US" dirty="0"/>
              <a:t>）</a:t>
            </a:r>
          </a:p>
          <a:p>
            <a:endParaRPr lang="zh-TW" altLang="en-US" dirty="0"/>
          </a:p>
          <a:p>
            <a:r>
              <a:rPr lang="zh-TW" altLang="en-US" dirty="0"/>
              <a:t>數值模型被用來估算多孔、曲折電極網路中的固相動力學和有效質量傳輸。</a:t>
            </a:r>
          </a:p>
          <a:p>
            <a:endParaRPr lang="zh-TW" altLang="en-US" dirty="0"/>
          </a:p>
          <a:p>
            <a:r>
              <a:rPr lang="zh-TW" altLang="en-US" dirty="0"/>
              <a:t>這些模型將乾電極特性（孔隙率</a:t>
            </a:r>
            <a:r>
              <a:rPr lang="el-GR" altLang="zh-TW" dirty="0"/>
              <a:t>ε</a:t>
            </a:r>
            <a:r>
              <a:rPr lang="zh-TW" altLang="en-US" dirty="0"/>
              <a:t>和曲折度</a:t>
            </a:r>
            <a:r>
              <a:rPr lang="el-GR" altLang="zh-TW" dirty="0"/>
              <a:t>τ</a:t>
            </a:r>
            <a:r>
              <a:rPr lang="zh-TW" altLang="el-GR" dirty="0"/>
              <a:t>）</a:t>
            </a:r>
            <a:r>
              <a:rPr lang="zh-TW" altLang="en-US" dirty="0"/>
              <a:t>與電解質傳輸參數（電導率</a:t>
            </a:r>
            <a:r>
              <a:rPr lang="el-GR" altLang="zh-TW" dirty="0"/>
              <a:t>κ</a:t>
            </a:r>
            <a:r>
              <a:rPr lang="zh-TW" altLang="el-GR" dirty="0"/>
              <a:t>、</a:t>
            </a:r>
            <a:r>
              <a:rPr lang="zh-TW" altLang="en-US" dirty="0"/>
              <a:t>遷移數</a:t>
            </a:r>
            <a:r>
              <a:rPr lang="en-US" altLang="zh-TW" dirty="0"/>
              <a:t>t</a:t>
            </a:r>
            <a:r>
              <a:rPr lang="en-US" altLang="zh-TW" baseline="-25000" dirty="0"/>
              <a:t>+</a:t>
            </a:r>
            <a:r>
              <a:rPr lang="zh-TW" altLang="en-US" dirty="0"/>
              <a:t>和擴散係數</a:t>
            </a:r>
            <a:r>
              <a:rPr lang="en-US" altLang="zh-TW" dirty="0" err="1"/>
              <a:t>D</a:t>
            </a:r>
            <a:r>
              <a:rPr lang="en-US" altLang="zh-TW" baseline="-25000" dirty="0" err="1"/>
              <a:t>Li</a:t>
            </a:r>
            <a:r>
              <a:rPr lang="zh-TW" altLang="en-US" dirty="0"/>
              <a:t>）結合，以估算多孔電極中的質量傳輸。前者難以精確測量，後者通常在暢通無阻的電解液中測量，而這種測量方法無法反映多孔電極內部的有效質傳。</a:t>
            </a:r>
          </a:p>
          <a:p>
            <a:endParaRPr lang="zh-TW" altLang="en-US" dirty="0"/>
          </a:p>
        </p:txBody>
      </p:sp>
    </p:spTree>
    <p:extLst>
      <p:ext uri="{BB962C8B-B14F-4D97-AF65-F5344CB8AC3E}">
        <p14:creationId xmlns:p14="http://schemas.microsoft.com/office/powerpoint/2010/main" val="2725995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EEE782-8C42-C7C2-B04B-5B96EC0E14C3}"/>
              </a:ext>
            </a:extLst>
          </p:cNvPr>
          <p:cNvSpPr>
            <a:spLocks noGrp="1"/>
          </p:cNvSpPr>
          <p:nvPr>
            <p:ph type="title"/>
          </p:nvPr>
        </p:nvSpPr>
        <p:spPr/>
        <p:txBody>
          <a:bodyPr/>
          <a:lstStyle/>
          <a:p>
            <a:pPr algn="l"/>
            <a:r>
              <a:rPr lang="zh-TW" altLang="en-US" dirty="0"/>
              <a:t>既有技術限制</a:t>
            </a:r>
            <a:endParaRPr kumimoji="1" lang="zh-TW" altLang="en-US" dirty="0"/>
          </a:p>
        </p:txBody>
      </p:sp>
      <p:sp>
        <p:nvSpPr>
          <p:cNvPr id="4" name="Rectangle 1">
            <a:extLst>
              <a:ext uri="{FF2B5EF4-FFF2-40B4-BE49-F238E27FC236}">
                <a16:creationId xmlns:a16="http://schemas.microsoft.com/office/drawing/2014/main" id="{1B25136E-8E6C-31EC-E5EF-A3E9C3637ECB}"/>
              </a:ext>
            </a:extLst>
          </p:cNvPr>
          <p:cNvSpPr>
            <a:spLocks noGrp="1" noChangeArrowheads="1"/>
          </p:cNvSpPr>
          <p:nvPr>
            <p:ph idx="1"/>
          </p:nvPr>
        </p:nvSpPr>
        <p:spPr bwMode="auto">
          <a:xfrm>
            <a:off x="1422400" y="1295038"/>
            <a:ext cx="10464800" cy="487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zh-TW" altLang="zh-TW" sz="2000" b="1" i="0" u="none" strike="noStrike" cap="none" normalizeH="0" baseline="0" dirty="0">
                <a:ln>
                  <a:noFill/>
                </a:ln>
                <a:solidFill>
                  <a:schemeClr val="tx1"/>
                </a:solidFill>
                <a:effectLst/>
                <a:latin typeface="Arial" panose="020B0604020202020204" pitchFamily="34" charset="0"/>
                <a:ea typeface="Google Sans Text"/>
              </a:rPr>
              <a:t>XRD / 光學 / 電子顯微鏡</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：主要探測固態活性物質的充電狀態（SoC），無法提供電解質中 Li</a:t>
            </a:r>
            <a:r>
              <a:rPr kumimoji="0" lang="zh-TW" altLang="zh-TW" sz="2000" b="0" i="0" u="none" strike="noStrike" cap="none" normalizeH="0" baseline="30000" dirty="0">
                <a:ln>
                  <a:noFill/>
                </a:ln>
                <a:solidFill>
                  <a:schemeClr val="tx1"/>
                </a:solidFill>
                <a:effectLst/>
                <a:latin typeface="Arial" panose="020B0604020202020204" pitchFamily="34" charset="0"/>
                <a:ea typeface="Google Sans Text"/>
              </a:rPr>
              <a:t>+</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 濃度的資訊。 </a:t>
            </a:r>
          </a:p>
          <a:p>
            <a:pPr marL="0" lvl="0" indent="0" eaLnBrk="0" hangingPunct="0">
              <a:lnSpc>
                <a:spcPct val="200000"/>
              </a:lnSpc>
              <a:spcBef>
                <a:spcPct val="0"/>
              </a:spcBef>
              <a:buClrTx/>
              <a:buFontTx/>
              <a:buChar char="•"/>
            </a:pPr>
            <a:r>
              <a:rPr kumimoji="0" lang="zh-TW" altLang="zh-TW" sz="2000" b="1" i="0" u="none" strike="noStrike" cap="none" normalizeH="0" baseline="0" dirty="0">
                <a:ln>
                  <a:noFill/>
                </a:ln>
                <a:solidFill>
                  <a:schemeClr val="tx1"/>
                </a:solidFill>
                <a:effectLst/>
                <a:latin typeface="Arial" panose="020B0604020202020204" pitchFamily="34" charset="0"/>
                <a:ea typeface="Google Sans Text"/>
              </a:rPr>
              <a:t>NMR / MRI / 拉曼光譜</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：可量測自由電解質中的 </a:t>
            </a:r>
            <a:r>
              <a:rPr kumimoji="0" lang="zh-TW" altLang="zh-TW" sz="2000" dirty="0">
                <a:latin typeface="Arial" panose="020B0604020202020204" pitchFamily="34" charset="0"/>
                <a:ea typeface="Google Sans Text"/>
              </a:rPr>
              <a:t>Li</a:t>
            </a:r>
            <a:r>
              <a:rPr kumimoji="0" lang="zh-TW" altLang="zh-TW" sz="2000" baseline="30000" dirty="0">
                <a:latin typeface="Arial" panose="020B0604020202020204" pitchFamily="34" charset="0"/>
                <a:ea typeface="Google Sans Text"/>
              </a:rPr>
              <a:t>+</a:t>
            </a:r>
            <a:r>
              <a:rPr kumimoji="0" lang="zh-TW" altLang="en-US" sz="2000" baseline="30000" dirty="0">
                <a:latin typeface="Arial" panose="020B0604020202020204" pitchFamily="34" charset="0"/>
                <a:ea typeface="Google Sans Text"/>
              </a:rPr>
              <a:t> </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濃度，但難以直接穿透多孔、不透明且具順磁性的複合電極基質，無法提供固態與液態電解質的同步局部資訊。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zh-TW" altLang="zh-TW" sz="2000" b="1" i="0" u="none" strike="noStrike" cap="none" normalizeH="0" baseline="0" dirty="0">
                <a:ln>
                  <a:noFill/>
                </a:ln>
                <a:solidFill>
                  <a:schemeClr val="tx1"/>
                </a:solidFill>
                <a:effectLst/>
                <a:latin typeface="Arial" panose="020B0604020202020204" pitchFamily="34" charset="0"/>
                <a:ea typeface="Google Sans Text"/>
              </a:rPr>
              <a:t>中子成像</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：空間與時間解析度有限，且無法明確區分固態與液態相中的鋰。 </a:t>
            </a:r>
          </a:p>
          <a:p>
            <a:pPr marL="0" indent="0" eaLnBrk="0" hangingPunct="0">
              <a:lnSpc>
                <a:spcPct val="200000"/>
              </a:lnSpc>
              <a:spcBef>
                <a:spcPct val="0"/>
              </a:spcBef>
              <a:buClrTx/>
              <a:buNone/>
            </a:pPr>
            <a:r>
              <a:rPr kumimoji="0" lang="zh-TW" altLang="zh-TW" sz="2000" b="1" i="0" u="none" strike="noStrike" cap="none" normalizeH="0" baseline="0" dirty="0">
                <a:ln>
                  <a:noFill/>
                </a:ln>
                <a:solidFill>
                  <a:schemeClr val="tx1"/>
                </a:solidFill>
                <a:effectLst/>
                <a:latin typeface="Arial" panose="020B0604020202020204" pitchFamily="34" charset="0"/>
                <a:ea typeface="Google Sans Text"/>
              </a:rPr>
              <a:t>缺少有效參數</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：缺乏能在電池運轉（</a:t>
            </a:r>
            <a:r>
              <a:rPr kumimoji="0" lang="zh-TW" altLang="zh-TW" sz="2000" b="0" i="1" u="none" strike="noStrike" cap="none" normalizeH="0" baseline="0" dirty="0">
                <a:ln>
                  <a:noFill/>
                </a:ln>
                <a:solidFill>
                  <a:schemeClr val="tx1"/>
                </a:solidFill>
                <a:effectLst/>
                <a:latin typeface="Arial" panose="020B0604020202020204" pitchFamily="34" charset="0"/>
                <a:ea typeface="Google Sans Text"/>
              </a:rPr>
              <a:t>Operando</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）時同時量測固/液兩相鋰濃度的工具，導致模型模擬所使用的有效傳輸參數（如 D</a:t>
            </a:r>
            <a:r>
              <a:rPr kumimoji="0" lang="zh-TW" altLang="zh-TW" sz="2000" b="0" i="0" u="none" strike="noStrike" cap="none" normalizeH="0" baseline="-25000" dirty="0">
                <a:ln>
                  <a:noFill/>
                </a:ln>
                <a:solidFill>
                  <a:schemeClr val="tx1"/>
                </a:solidFill>
                <a:effectLst/>
                <a:latin typeface="Arial" panose="020B0604020202020204" pitchFamily="34" charset="0"/>
                <a:ea typeface="Google Sans Text"/>
              </a:rPr>
              <a:t>eff</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a:t>
            </a:r>
            <a:r>
              <a:rPr lang="el-GR" altLang="zh-TW" sz="2000" dirty="0"/>
              <a:t> κ </a:t>
            </a:r>
            <a:r>
              <a:rPr lang="en-US" altLang="zh-TW" sz="2000" baseline="-25000" dirty="0"/>
              <a:t>eff</a:t>
            </a:r>
            <a:r>
              <a:rPr kumimoji="0" lang="zh-TW" altLang="zh-TW" sz="2000" b="0" i="0" u="none" strike="noStrike" cap="none" normalizeH="0" baseline="0" dirty="0">
                <a:ln>
                  <a:noFill/>
                </a:ln>
                <a:solidFill>
                  <a:schemeClr val="tx1"/>
                </a:solidFill>
                <a:effectLst/>
                <a:latin typeface="Arial" panose="020B0604020202020204" pitchFamily="34" charset="0"/>
                <a:ea typeface="Google Sans Text"/>
              </a:rPr>
              <a:t>）大多只能依賴理論近似（如 Bruggeman 關係式），無法精確反映真實狀況。 </a:t>
            </a:r>
            <a:endParaRPr kumimoji="0" lang="zh-TW" altLang="zh-TW"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1872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02453-5E58-49C5-8DAA-6CBB431F278E}"/>
              </a:ext>
            </a:extLst>
          </p:cNvPr>
          <p:cNvSpPr>
            <a:spLocks noGrp="1"/>
          </p:cNvSpPr>
          <p:nvPr>
            <p:ph type="title"/>
          </p:nvPr>
        </p:nvSpPr>
        <p:spPr/>
        <p:txBody>
          <a:bodyPr/>
          <a:lstStyle/>
          <a:p>
            <a:pPr algn="l"/>
            <a:r>
              <a:rPr lang="en-US" altLang="zh-TW" dirty="0"/>
              <a:t>LIME</a:t>
            </a:r>
            <a:endParaRPr lang="zh-TW" altLang="en-US" dirty="0"/>
          </a:p>
        </p:txBody>
      </p:sp>
      <p:sp>
        <p:nvSpPr>
          <p:cNvPr id="3" name="內容版面配置區 2">
            <a:extLst>
              <a:ext uri="{FF2B5EF4-FFF2-40B4-BE49-F238E27FC236}">
                <a16:creationId xmlns:a16="http://schemas.microsoft.com/office/drawing/2014/main" id="{FB2331C8-19E5-4BAB-84F6-6E3CC71E648B}"/>
              </a:ext>
            </a:extLst>
          </p:cNvPr>
          <p:cNvSpPr>
            <a:spLocks noGrp="1"/>
          </p:cNvSpPr>
          <p:nvPr>
            <p:ph idx="1"/>
          </p:nvPr>
        </p:nvSpPr>
        <p:spPr/>
        <p:txBody>
          <a:bodyPr/>
          <a:lstStyle/>
          <a:p>
            <a:pPr marL="0" indent="0">
              <a:lnSpc>
                <a:spcPct val="150000"/>
              </a:lnSpc>
              <a:buNone/>
            </a:pPr>
            <a:r>
              <a:rPr lang="zh-TW" altLang="en-US" dirty="0"/>
              <a:t>利用</a:t>
            </a:r>
            <a:r>
              <a:rPr lang="en-US" altLang="zh-TW" dirty="0"/>
              <a:t>LIME</a:t>
            </a:r>
            <a:r>
              <a:rPr lang="zh-TW" altLang="en-US" dirty="0"/>
              <a:t>技術研究多孔電極中有效的質傳過程：</a:t>
            </a:r>
          </a:p>
          <a:p>
            <a:pPr>
              <a:lnSpc>
                <a:spcPct val="150000"/>
              </a:lnSpc>
            </a:pPr>
            <a:r>
              <a:rPr lang="zh-TW" altLang="en-US" dirty="0"/>
              <a:t>準確測量質量傳輸參數，特別是多孔複合電極內的</a:t>
            </a:r>
            <a:r>
              <a:rPr lang="zh-TW" altLang="en-US" i="1" dirty="0"/>
              <a:t>有效</a:t>
            </a:r>
            <a:r>
              <a:rPr lang="zh-TW" altLang="en-US" dirty="0"/>
              <a:t>參數，這可以改善</a:t>
            </a:r>
            <a:r>
              <a:rPr lang="zh-TW" altLang="en-US" dirty="0">
                <a:hlinkClick r:id="rId2"/>
              </a:rPr>
              <a:t>數值模擬</a:t>
            </a:r>
            <a:r>
              <a:rPr lang="zh-TW" altLang="en-US" dirty="0"/>
              <a:t>工作。</a:t>
            </a:r>
          </a:p>
          <a:p>
            <a:pPr>
              <a:lnSpc>
                <a:spcPct val="150000"/>
              </a:lnSpc>
            </a:pPr>
            <a:r>
              <a:rPr lang="zh-TW" altLang="en-US" dirty="0"/>
              <a:t>可靠地辨識商用電池在運作條件下的速率限制來源。</a:t>
            </a:r>
          </a:p>
          <a:p>
            <a:pPr>
              <a:lnSpc>
                <a:spcPct val="150000"/>
              </a:lnSpc>
            </a:pPr>
            <a:r>
              <a:rPr lang="zh-TW" altLang="en-US" dirty="0"/>
              <a:t>合理設計新的電池組件，如電極結構，以克服速率限製瓶頸。</a:t>
            </a:r>
          </a:p>
          <a:p>
            <a:pPr>
              <a:lnSpc>
                <a:spcPct val="150000"/>
              </a:lnSpc>
            </a:pPr>
            <a:r>
              <a:rPr lang="zh-TW" altLang="en-US" dirty="0"/>
              <a:t>量化涉及鋰庫存（不可）可逆損失的電池退化，如鋰沉積、枝晶演化和死鋰形成。</a:t>
            </a:r>
          </a:p>
          <a:p>
            <a:endParaRPr lang="zh-TW" altLang="en-US" dirty="0"/>
          </a:p>
        </p:txBody>
      </p:sp>
    </p:spTree>
    <p:extLst>
      <p:ext uri="{BB962C8B-B14F-4D97-AF65-F5344CB8AC3E}">
        <p14:creationId xmlns:p14="http://schemas.microsoft.com/office/powerpoint/2010/main" val="2642103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0760-1DAD-B424-23B1-914D315AE1B5}"/>
            </a:ext>
          </a:extLst>
        </p:cNvPr>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782CA26E-1DFF-1072-2C8F-4E306F1FBB99}"/>
              </a:ext>
            </a:extLst>
          </p:cNvPr>
          <p:cNvSpPr>
            <a:spLocks noGrp="1"/>
          </p:cNvSpPr>
          <p:nvPr>
            <p:ph type="body" idx="1"/>
          </p:nvPr>
        </p:nvSpPr>
        <p:spPr>
          <a:xfrm>
            <a:off x="914400" y="2678906"/>
            <a:ext cx="10363200" cy="1500187"/>
          </a:xfrm>
        </p:spPr>
        <p:txBody>
          <a:bodyPr/>
          <a:lstStyle/>
          <a:p>
            <a:pPr algn="ctr"/>
            <a:r>
              <a:rPr kumimoji="1" lang="zh-TW" altLang="en-US" sz="6000" b="1" dirty="0"/>
              <a:t>實驗方式</a:t>
            </a:r>
          </a:p>
        </p:txBody>
      </p:sp>
    </p:spTree>
    <p:extLst>
      <p:ext uri="{BB962C8B-B14F-4D97-AF65-F5344CB8AC3E}">
        <p14:creationId xmlns:p14="http://schemas.microsoft.com/office/powerpoint/2010/main" val="1415854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02453-5E58-49C5-8DAA-6CBB431F278E}"/>
              </a:ext>
            </a:extLst>
          </p:cNvPr>
          <p:cNvSpPr>
            <a:spLocks noGrp="1"/>
          </p:cNvSpPr>
          <p:nvPr>
            <p:ph type="title"/>
          </p:nvPr>
        </p:nvSpPr>
        <p:spPr/>
        <p:txBody>
          <a:bodyPr/>
          <a:lstStyle/>
          <a:p>
            <a:pPr algn="l"/>
            <a:endParaRPr lang="zh-TW" altLang="en-US" dirty="0"/>
          </a:p>
        </p:txBody>
      </p:sp>
      <p:pic>
        <p:nvPicPr>
          <p:cNvPr id="4" name="內容版面配置區 3">
            <a:extLst>
              <a:ext uri="{FF2B5EF4-FFF2-40B4-BE49-F238E27FC236}">
                <a16:creationId xmlns:a16="http://schemas.microsoft.com/office/drawing/2014/main" id="{C94AB04E-9777-AD50-06C8-4ED671E67885}"/>
              </a:ext>
            </a:extLst>
          </p:cNvPr>
          <p:cNvPicPr>
            <a:picLocks noGrp="1" noChangeAspect="1"/>
          </p:cNvPicPr>
          <p:nvPr>
            <p:ph idx="1"/>
          </p:nvPr>
        </p:nvPicPr>
        <p:blipFill>
          <a:blip r:embed="rId3"/>
          <a:stretch>
            <a:fillRect/>
          </a:stretch>
        </p:blipFill>
        <p:spPr>
          <a:xfrm>
            <a:off x="0" y="-98121"/>
            <a:ext cx="12184173" cy="6651321"/>
          </a:xfrm>
          <a:prstGeom prst="rect">
            <a:avLst/>
          </a:prstGeom>
        </p:spPr>
      </p:pic>
    </p:spTree>
    <p:extLst>
      <p:ext uri="{BB962C8B-B14F-4D97-AF65-F5344CB8AC3E}">
        <p14:creationId xmlns:p14="http://schemas.microsoft.com/office/powerpoint/2010/main" val="930871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02453-5E58-49C5-8DAA-6CBB431F278E}"/>
              </a:ext>
            </a:extLst>
          </p:cNvPr>
          <p:cNvSpPr>
            <a:spLocks noGrp="1"/>
          </p:cNvSpPr>
          <p:nvPr>
            <p:ph type="title"/>
          </p:nvPr>
        </p:nvSpPr>
        <p:spPr/>
        <p:txBody>
          <a:bodyPr/>
          <a:lstStyle/>
          <a:p>
            <a:pPr algn="l"/>
            <a:r>
              <a:rPr lang="en-US" altLang="zh-TW" dirty="0"/>
              <a:t>XRF</a:t>
            </a:r>
            <a:r>
              <a:rPr lang="zh-TW" altLang="en-US" dirty="0"/>
              <a:t> </a:t>
            </a:r>
            <a:r>
              <a:rPr lang="en-US" altLang="zh-TW" dirty="0"/>
              <a:t>and</a:t>
            </a:r>
            <a:r>
              <a:rPr lang="zh-TW" altLang="en-US" dirty="0"/>
              <a:t> </a:t>
            </a:r>
            <a:r>
              <a:rPr lang="en-US" altLang="zh-TW" dirty="0"/>
              <a:t>XRD</a:t>
            </a:r>
            <a:endParaRPr lang="zh-TW" altLang="en-US" dirty="0"/>
          </a:p>
        </p:txBody>
      </p:sp>
      <p:pic>
        <p:nvPicPr>
          <p:cNvPr id="2052" name="Picture 4">
            <a:extLst>
              <a:ext uri="{FF2B5EF4-FFF2-40B4-BE49-F238E27FC236}">
                <a16:creationId xmlns:a16="http://schemas.microsoft.com/office/drawing/2014/main" id="{F6523627-1B04-2A5D-2239-75CA3062B6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7306"/>
          <a:stretch>
            <a:fillRect/>
          </a:stretch>
        </p:blipFill>
        <p:spPr bwMode="auto">
          <a:xfrm>
            <a:off x="2159598" y="2093311"/>
            <a:ext cx="8990400" cy="4764689"/>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38483656-BF52-4AAA-980E-CB9707253451}"/>
              </a:ext>
            </a:extLst>
          </p:cNvPr>
          <p:cNvSpPr txBox="1"/>
          <p:nvPr/>
        </p:nvSpPr>
        <p:spPr>
          <a:xfrm>
            <a:off x="1422399" y="1221026"/>
            <a:ext cx="10464799" cy="646331"/>
          </a:xfrm>
          <a:prstGeom prst="rect">
            <a:avLst/>
          </a:prstGeom>
          <a:noFill/>
        </p:spPr>
        <p:txBody>
          <a:bodyPr wrap="square" rtlCol="0">
            <a:spAutoFit/>
          </a:bodyPr>
          <a:lstStyle/>
          <a:p>
            <a:r>
              <a:rPr kumimoji="1" lang="zh-TW" altLang="en-US" dirty="0"/>
              <a:t>磷酸鐵鋰電極厚度為</a:t>
            </a:r>
            <a:r>
              <a:rPr kumimoji="1" lang="en-US" altLang="zh-TW" dirty="0"/>
              <a:t>140 </a:t>
            </a:r>
            <a:r>
              <a:rPr kumimoji="1" lang="el-GR" altLang="zh-TW" dirty="0"/>
              <a:t>μ</a:t>
            </a:r>
            <a:r>
              <a:rPr kumimoji="1" lang="en-US" altLang="zh-TW" dirty="0"/>
              <a:t>m</a:t>
            </a:r>
            <a:r>
              <a:rPr kumimoji="1" lang="zh-TW" altLang="en-US" dirty="0"/>
              <a:t>，孔隙率為</a:t>
            </a:r>
            <a:r>
              <a:rPr kumimoji="1" lang="en-US" altLang="zh-TW" dirty="0"/>
              <a:t>50%</a:t>
            </a:r>
            <a:r>
              <a:rPr kumimoji="1" lang="zh-TW" altLang="en-US" dirty="0"/>
              <a:t>，活性材料負載量為</a:t>
            </a:r>
            <a:r>
              <a:rPr kumimoji="1" lang="en-US" altLang="zh-TW" dirty="0"/>
              <a:t>14.1 mg/ cm²</a:t>
            </a:r>
            <a:r>
              <a:rPr kumimoji="1" lang="zh-TW" altLang="en-US" dirty="0"/>
              <a:t>。 </a:t>
            </a:r>
            <a:r>
              <a:rPr kumimoji="1" lang="en-US" altLang="zh-TW" dirty="0"/>
              <a:t>LTO</a:t>
            </a:r>
            <a:r>
              <a:rPr kumimoji="1" lang="zh-TW" altLang="en-US" dirty="0"/>
              <a:t>電極厚度為</a:t>
            </a:r>
            <a:r>
              <a:rPr kumimoji="1" lang="en-US" altLang="zh-TW" dirty="0"/>
              <a:t>215 </a:t>
            </a:r>
            <a:r>
              <a:rPr kumimoji="1" lang="el-GR" altLang="zh-TW" dirty="0"/>
              <a:t>μ</a:t>
            </a:r>
            <a:r>
              <a:rPr kumimoji="1" lang="en-US" altLang="zh-TW" dirty="0"/>
              <a:t>m</a:t>
            </a:r>
            <a:r>
              <a:rPr kumimoji="1" lang="zh-TW" altLang="en-US" dirty="0"/>
              <a:t>，孔隙率為</a:t>
            </a:r>
            <a:r>
              <a:rPr kumimoji="1" lang="en-US" altLang="zh-TW" dirty="0"/>
              <a:t>55%</a:t>
            </a:r>
            <a:r>
              <a:rPr kumimoji="1" lang="zh-TW" altLang="en-US" dirty="0"/>
              <a:t>，活性物質負載量為</a:t>
            </a:r>
            <a:r>
              <a:rPr kumimoji="1" lang="en-US" altLang="zh-TW" dirty="0"/>
              <a:t>18.5 mg/cm²</a:t>
            </a:r>
            <a:endParaRPr kumimoji="1" lang="zh-TW" altLang="en-US" dirty="0"/>
          </a:p>
        </p:txBody>
      </p:sp>
    </p:spTree>
    <p:extLst>
      <p:ext uri="{BB962C8B-B14F-4D97-AF65-F5344CB8AC3E}">
        <p14:creationId xmlns:p14="http://schemas.microsoft.com/office/powerpoint/2010/main" val="643210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F2A09C9C-68FA-3CCE-12BE-1B4B6DB4265A}"/>
              </a:ext>
            </a:extLst>
          </p:cNvPr>
          <p:cNvSpPr>
            <a:spLocks noGrp="1"/>
          </p:cNvSpPr>
          <p:nvPr>
            <p:ph type="body" idx="1"/>
          </p:nvPr>
        </p:nvSpPr>
        <p:spPr>
          <a:xfrm>
            <a:off x="914400" y="2678906"/>
            <a:ext cx="10363200" cy="1500187"/>
          </a:xfrm>
        </p:spPr>
        <p:txBody>
          <a:bodyPr/>
          <a:lstStyle/>
          <a:p>
            <a:pPr algn="ctr"/>
            <a:r>
              <a:rPr kumimoji="1" lang="zh-TW" altLang="en-US" sz="6000" b="1" dirty="0"/>
              <a:t>結果與討論</a:t>
            </a:r>
          </a:p>
        </p:txBody>
      </p:sp>
    </p:spTree>
    <p:extLst>
      <p:ext uri="{BB962C8B-B14F-4D97-AF65-F5344CB8AC3E}">
        <p14:creationId xmlns:p14="http://schemas.microsoft.com/office/powerpoint/2010/main" val="3285364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209919-6E61-E56A-F0B6-A327E2C26A33}"/>
              </a:ext>
            </a:extLst>
          </p:cNvPr>
          <p:cNvSpPr>
            <a:spLocks noGrp="1"/>
          </p:cNvSpPr>
          <p:nvPr>
            <p:ph type="title"/>
          </p:nvPr>
        </p:nvSpPr>
        <p:spPr/>
        <p:txBody>
          <a:bodyPr/>
          <a:lstStyle/>
          <a:p>
            <a:r>
              <a:rPr lang="zh-TW" altLang="en-US" dirty="0"/>
              <a:t>儀器和電池配置</a:t>
            </a:r>
            <a:endParaRPr kumimoji="1" lang="zh-TW" altLang="en-US" dirty="0"/>
          </a:p>
        </p:txBody>
      </p:sp>
      <p:sp>
        <p:nvSpPr>
          <p:cNvPr id="3" name="內容版面配置區 2">
            <a:extLst>
              <a:ext uri="{FF2B5EF4-FFF2-40B4-BE49-F238E27FC236}">
                <a16:creationId xmlns:a16="http://schemas.microsoft.com/office/drawing/2014/main" id="{E0368E33-654B-3C5D-A03F-642EFA9D82B5}"/>
              </a:ext>
            </a:extLst>
          </p:cNvPr>
          <p:cNvSpPr>
            <a:spLocks noGrp="1"/>
          </p:cNvSpPr>
          <p:nvPr>
            <p:ph idx="1"/>
          </p:nvPr>
        </p:nvSpPr>
        <p:spPr/>
        <p:txBody>
          <a:bodyPr/>
          <a:lstStyle/>
          <a:p>
            <a:pPr marL="0" indent="0">
              <a:buNone/>
            </a:pPr>
            <a:r>
              <a:rPr lang="zh-TW" altLang="en-US" dirty="0"/>
              <a:t>選擇</a:t>
            </a:r>
            <a:r>
              <a:rPr lang="en-US" altLang="zh-TW" dirty="0"/>
              <a:t>LFP</a:t>
            </a:r>
            <a:r>
              <a:rPr lang="zh-TW" altLang="en-US" dirty="0"/>
              <a:t>和</a:t>
            </a:r>
            <a:r>
              <a:rPr lang="en-US" altLang="zh-TW" dirty="0"/>
              <a:t>LTO</a:t>
            </a:r>
            <a:r>
              <a:rPr lang="zh-TW" altLang="en-US" dirty="0"/>
              <a:t>進行此概念驗證的原因在於：</a:t>
            </a:r>
            <a:endParaRPr lang="en-US" altLang="zh-TW" dirty="0"/>
          </a:p>
          <a:p>
            <a:r>
              <a:rPr lang="en-US" altLang="zh-TW" dirty="0"/>
              <a:t>(1) </a:t>
            </a:r>
            <a:r>
              <a:rPr lang="zh-TW" altLang="en-US" dirty="0"/>
              <a:t>這兩種材料均為奈米級且具有高倍率性能（</a:t>
            </a:r>
            <a:r>
              <a:rPr lang="en-US" altLang="zh-TW" dirty="0"/>
              <a:t>&gt;10C</a:t>
            </a:r>
            <a:r>
              <a:rPr lang="zh-TW" altLang="en-US" dirty="0"/>
              <a:t>），這確保了倍率限制存在於溶液相中，並且充放電性能對稱；</a:t>
            </a:r>
            <a:endParaRPr lang="en-US" altLang="zh-TW" dirty="0"/>
          </a:p>
          <a:p>
            <a:r>
              <a:rPr lang="en-US" altLang="zh-TW" dirty="0"/>
              <a:t>(2) </a:t>
            </a:r>
            <a:r>
              <a:rPr lang="zh-TW" altLang="en-US" dirty="0"/>
              <a:t>電池相對較低的工作電壓（</a:t>
            </a:r>
            <a:r>
              <a:rPr lang="en-US" altLang="zh-TW" dirty="0"/>
              <a:t>&lt;2 V </a:t>
            </a:r>
            <a:r>
              <a:rPr lang="zh-TW" altLang="en-US" dirty="0"/>
              <a:t>）確保了降解的</a:t>
            </a:r>
            <a:r>
              <a:rPr lang="zh-TW" altLang="en-US" dirty="0">
                <a:hlinkClick r:id="rId3"/>
              </a:rPr>
              <a:t>降解</a:t>
            </a:r>
            <a:r>
              <a:rPr lang="zh-TW" altLang="en-US" dirty="0">
                <a:hlinkClick r:id="rId4"/>
              </a:rPr>
              <a:t>途徑</a:t>
            </a:r>
            <a:endParaRPr kumimoji="1" lang="zh-TW" altLang="en-US" dirty="0"/>
          </a:p>
        </p:txBody>
      </p:sp>
      <p:pic>
        <p:nvPicPr>
          <p:cNvPr id="5" name="圖片 4" descr="一張含有 文字, 圖表, 螢幕擷取畫面, 行 的圖片&#10;&#10;AI 產生的內容可能不正確。">
            <a:extLst>
              <a:ext uri="{FF2B5EF4-FFF2-40B4-BE49-F238E27FC236}">
                <a16:creationId xmlns:a16="http://schemas.microsoft.com/office/drawing/2014/main" id="{C44EBB71-F8BF-DAC0-D96E-FEEC36F878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3943" y="3141796"/>
            <a:ext cx="3471384" cy="3411404"/>
          </a:xfrm>
          <a:prstGeom prst="rect">
            <a:avLst/>
          </a:prstGeom>
        </p:spPr>
      </p:pic>
      <p:pic>
        <p:nvPicPr>
          <p:cNvPr id="7" name="圖片 6" descr="一張含有 文字, 螢幕擷取畫面, 圖書, 設計 的圖片&#10;&#10;AI 產生的內容可能不正確。">
            <a:extLst>
              <a:ext uri="{FF2B5EF4-FFF2-40B4-BE49-F238E27FC236}">
                <a16:creationId xmlns:a16="http://schemas.microsoft.com/office/drawing/2014/main" id="{6DD406BF-23C4-CC49-F32D-439FFF19C4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22400" y="3057462"/>
            <a:ext cx="4340679" cy="3495738"/>
          </a:xfrm>
          <a:prstGeom prst="rect">
            <a:avLst/>
          </a:prstGeom>
        </p:spPr>
      </p:pic>
    </p:spTree>
    <p:extLst>
      <p:ext uri="{BB962C8B-B14F-4D97-AF65-F5344CB8AC3E}">
        <p14:creationId xmlns:p14="http://schemas.microsoft.com/office/powerpoint/2010/main" val="2788887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04A32-70F8-B918-DC9D-5A5AAED5605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02325C2-97A1-1D84-9591-A5C26C76F2CC}"/>
              </a:ext>
            </a:extLst>
          </p:cNvPr>
          <p:cNvSpPr>
            <a:spLocks noGrp="1"/>
          </p:cNvSpPr>
          <p:nvPr>
            <p:ph type="title"/>
          </p:nvPr>
        </p:nvSpPr>
        <p:spPr/>
        <p:txBody>
          <a:bodyPr/>
          <a:lstStyle/>
          <a:p>
            <a:r>
              <a:rPr lang="zh-TW" altLang="en-US" dirty="0"/>
              <a:t>儀器和電池配置</a:t>
            </a:r>
            <a:endParaRPr kumimoji="1" lang="zh-TW" altLang="en-US" dirty="0"/>
          </a:p>
        </p:txBody>
      </p:sp>
      <p:pic>
        <p:nvPicPr>
          <p:cNvPr id="6" name="內容版面配置區 5" descr="一張含有 文字, 繪圖, 行, 圖表 的圖片&#10;&#10;AI 產生的內容可能不正確。">
            <a:extLst>
              <a:ext uri="{FF2B5EF4-FFF2-40B4-BE49-F238E27FC236}">
                <a16:creationId xmlns:a16="http://schemas.microsoft.com/office/drawing/2014/main" id="{68289FB3-C998-F511-D688-2A3A8CC4ED4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6000" y="1133022"/>
            <a:ext cx="8140700" cy="4070350"/>
          </a:xfrm>
          <a:prstGeom prst="rect">
            <a:avLst/>
          </a:prstGeom>
        </p:spPr>
      </p:pic>
      <p:sp>
        <p:nvSpPr>
          <p:cNvPr id="8" name="文字方塊 7">
            <a:extLst>
              <a:ext uri="{FF2B5EF4-FFF2-40B4-BE49-F238E27FC236}">
                <a16:creationId xmlns:a16="http://schemas.microsoft.com/office/drawing/2014/main" id="{35B9AD31-2808-572F-3132-337EC62BF8FC}"/>
              </a:ext>
            </a:extLst>
          </p:cNvPr>
          <p:cNvSpPr txBox="1"/>
          <p:nvPr/>
        </p:nvSpPr>
        <p:spPr>
          <a:xfrm>
            <a:off x="1422400" y="5345794"/>
            <a:ext cx="9974943" cy="923330"/>
          </a:xfrm>
          <a:prstGeom prst="rect">
            <a:avLst/>
          </a:prstGeom>
          <a:noFill/>
        </p:spPr>
        <p:txBody>
          <a:bodyPr wrap="square" rtlCol="0">
            <a:spAutoFit/>
          </a:bodyPr>
          <a:lstStyle/>
          <a:p>
            <a:r>
              <a:rPr lang="zh-TW" altLang="en-US" dirty="0"/>
              <a:t>（</a:t>
            </a:r>
            <a:r>
              <a:rPr lang="en-US" altLang="zh-TW" dirty="0"/>
              <a:t>B</a:t>
            </a:r>
            <a:r>
              <a:rPr lang="zh-TW" altLang="en-US" dirty="0"/>
              <a:t>）</a:t>
            </a:r>
            <a:r>
              <a:rPr lang="en-US" altLang="zh-TW" dirty="0"/>
              <a:t>LFP</a:t>
            </a:r>
            <a:r>
              <a:rPr lang="zh-TW" altLang="en-US" dirty="0"/>
              <a:t>電極內的</a:t>
            </a:r>
            <a:r>
              <a:rPr lang="en-US" altLang="zh-TW" dirty="0"/>
              <a:t>XRF</a:t>
            </a:r>
            <a:r>
              <a:rPr lang="zh-TW" altLang="en-US" dirty="0"/>
              <a:t>光譜。</a:t>
            </a:r>
          </a:p>
          <a:p>
            <a:r>
              <a:rPr lang="zh-TW" altLang="en-US" dirty="0"/>
              <a:t>（</a:t>
            </a:r>
            <a:r>
              <a:rPr lang="en-US" altLang="zh-TW" dirty="0"/>
              <a:t>C</a:t>
            </a:r>
            <a:r>
              <a:rPr lang="zh-TW" altLang="en-US" dirty="0"/>
              <a:t>）放大 </a:t>
            </a:r>
            <a:r>
              <a:rPr lang="en-US" altLang="zh-TW" dirty="0"/>
              <a:t>As K</a:t>
            </a:r>
            <a:r>
              <a:rPr lang="el-GR" altLang="zh-TW" dirty="0"/>
              <a:t>α </a:t>
            </a:r>
            <a:r>
              <a:rPr lang="zh-TW" altLang="en-US" dirty="0"/>
              <a:t>峰（</a:t>
            </a:r>
            <a:r>
              <a:rPr lang="en-US" altLang="zh-TW" dirty="0"/>
              <a:t>10.54 keV</a:t>
            </a:r>
            <a:r>
              <a:rPr lang="zh-TW" altLang="en-US" dirty="0"/>
              <a:t>），顯示充電結束（黃色）、放電開始（橘色）和放電結束（紅色）的原始資料（點）和高斯擬合（線）。</a:t>
            </a:r>
          </a:p>
        </p:txBody>
      </p:sp>
    </p:spTree>
    <p:extLst>
      <p:ext uri="{BB962C8B-B14F-4D97-AF65-F5344CB8AC3E}">
        <p14:creationId xmlns:p14="http://schemas.microsoft.com/office/powerpoint/2010/main" val="2313948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302803-2680-1203-026F-99E9E550A4AF}"/>
              </a:ext>
            </a:extLst>
          </p:cNvPr>
          <p:cNvSpPr>
            <a:spLocks noGrp="1"/>
          </p:cNvSpPr>
          <p:nvPr>
            <p:ph type="title"/>
          </p:nvPr>
        </p:nvSpPr>
        <p:spPr/>
        <p:txBody>
          <a:bodyPr/>
          <a:lstStyle/>
          <a:p>
            <a:r>
              <a:rPr lang="zh-TW" altLang="en-US" dirty="0"/>
              <a:t>溶液相梯度</a:t>
            </a:r>
            <a:r>
              <a:rPr lang="en-US" altLang="zh-TW" dirty="0"/>
              <a:t>—XRF</a:t>
            </a:r>
            <a:endParaRPr kumimoji="1" lang="zh-TW" altLang="en-US" dirty="0"/>
          </a:p>
        </p:txBody>
      </p:sp>
      <p:sp>
        <p:nvSpPr>
          <p:cNvPr id="5" name="內容版面配置區 4">
            <a:extLst>
              <a:ext uri="{FF2B5EF4-FFF2-40B4-BE49-F238E27FC236}">
                <a16:creationId xmlns:a16="http://schemas.microsoft.com/office/drawing/2014/main" id="{8D2C5CA8-D0FD-B77C-F24F-A3A99B5DF745}"/>
              </a:ext>
            </a:extLst>
          </p:cNvPr>
          <p:cNvSpPr>
            <a:spLocks noGrp="1"/>
          </p:cNvSpPr>
          <p:nvPr>
            <p:ph idx="1"/>
          </p:nvPr>
        </p:nvSpPr>
        <p:spPr/>
        <p:txBody>
          <a:bodyPr/>
          <a:lstStyle/>
          <a:p>
            <a:pPr>
              <a:lnSpc>
                <a:spcPct val="150000"/>
              </a:lnSpc>
            </a:pPr>
            <a:r>
              <a:rPr lang="zh-TW" altLang="en-US" dirty="0"/>
              <a:t>由於鋰原子（</a:t>
            </a:r>
            <a:r>
              <a:rPr lang="en-US" altLang="zh-TW" dirty="0"/>
              <a:t>Li</a:t>
            </a:r>
            <a:r>
              <a:rPr lang="zh-TW" altLang="en-US" dirty="0"/>
              <a:t>）非常輕，其受 </a:t>
            </a:r>
            <a:r>
              <a:rPr lang="en-US" altLang="zh-TW" dirty="0"/>
              <a:t>X </a:t>
            </a:r>
            <a:r>
              <a:rPr lang="zh-TW" altLang="en-US" dirty="0"/>
              <a:t>射線激發產生的 </a:t>
            </a:r>
            <a:r>
              <a:rPr lang="en-US" altLang="zh-TW" dirty="0"/>
              <a:t>X </a:t>
            </a:r>
            <a:r>
              <a:rPr lang="zh-TW" altLang="en-US" dirty="0"/>
              <a:t>射線螢光（</a:t>
            </a:r>
            <a:r>
              <a:rPr lang="en-US" altLang="zh-TW" dirty="0"/>
              <a:t>XRF</a:t>
            </a:r>
            <a:r>
              <a:rPr lang="zh-TW" altLang="en-US" dirty="0"/>
              <a:t>）能量極低，</a:t>
            </a:r>
            <a:r>
              <a:rPr lang="zh-TW" altLang="en-US" b="1" dirty="0"/>
              <a:t>無法利用 </a:t>
            </a:r>
            <a:r>
              <a:rPr lang="en-US" altLang="zh-TW" b="1" dirty="0"/>
              <a:t>XRF </a:t>
            </a:r>
            <a:r>
              <a:rPr lang="zh-TW" altLang="en-US" b="1" dirty="0"/>
              <a:t>直接探測 </a:t>
            </a:r>
            <a:r>
              <a:rPr lang="en-US" altLang="zh-TW" b="1" dirty="0"/>
              <a:t>Li</a:t>
            </a:r>
            <a:r>
              <a:rPr lang="en-US" altLang="zh-TW" b="1" baseline="30000" dirty="0"/>
              <a:t>+</a:t>
            </a:r>
            <a:r>
              <a:rPr lang="zh-TW" altLang="en-US" b="1" dirty="0"/>
              <a:t>濃度</a:t>
            </a:r>
            <a:r>
              <a:rPr lang="zh-TW" altLang="en-US" dirty="0"/>
              <a:t>。</a:t>
            </a:r>
            <a:endParaRPr lang="en-US" altLang="zh-TW" dirty="0"/>
          </a:p>
          <a:p>
            <a:pPr>
              <a:lnSpc>
                <a:spcPct val="150000"/>
              </a:lnSpc>
            </a:pPr>
            <a:r>
              <a:rPr lang="zh-TW" altLang="en-US" dirty="0"/>
              <a:t>利用了</a:t>
            </a:r>
            <a:r>
              <a:rPr lang="zh-TW" altLang="en-US" b="1" dirty="0"/>
              <a:t>溶液電中性（</a:t>
            </a:r>
            <a:r>
              <a:rPr lang="en-US" altLang="zh-TW" b="1" dirty="0"/>
              <a:t>Solution Electroneutrality</a:t>
            </a:r>
            <a:r>
              <a:rPr lang="zh-TW" altLang="en-US" b="1" dirty="0"/>
              <a:t>）原則</a:t>
            </a:r>
            <a:r>
              <a:rPr lang="zh-TW" altLang="en-US" dirty="0"/>
              <a:t>。精確測量出陰離子的濃度，就能間接推算出</a:t>
            </a:r>
            <a:r>
              <a:rPr lang="zh-TW" altLang="en-US" b="1" dirty="0"/>
              <a:t> </a:t>
            </a:r>
            <a:r>
              <a:rPr lang="en-US" altLang="zh-TW" b="1" dirty="0"/>
              <a:t>Li</a:t>
            </a:r>
            <a:r>
              <a:rPr lang="en-US" altLang="zh-TW" b="1" baseline="30000" dirty="0"/>
              <a:t>+</a:t>
            </a:r>
            <a:r>
              <a:rPr lang="zh-TW" altLang="en-US" b="1" dirty="0"/>
              <a:t>濃度</a:t>
            </a:r>
            <a:endParaRPr lang="en-US" altLang="zh-TW" b="1" dirty="0"/>
          </a:p>
          <a:p>
            <a:pPr>
              <a:lnSpc>
                <a:spcPct val="150000"/>
              </a:lnSpc>
            </a:pPr>
            <a:r>
              <a:rPr lang="zh-TW" altLang="en-US" dirty="0"/>
              <a:t>在基礎電解液（</a:t>
            </a:r>
            <a:r>
              <a:rPr lang="en-US" altLang="zh-TW" dirty="0"/>
              <a:t>1 M LiPF</a:t>
            </a:r>
            <a:r>
              <a:rPr lang="en-US" altLang="zh-TW" baseline="-25000" dirty="0"/>
              <a:t>6</a:t>
            </a:r>
            <a:r>
              <a:rPr lang="en-US" altLang="zh-TW" dirty="0"/>
              <a:t> in EC:DMC</a:t>
            </a:r>
            <a:r>
              <a:rPr lang="zh-TW" altLang="en-US" dirty="0"/>
              <a:t>）中，額外添加了 </a:t>
            </a:r>
            <a:r>
              <a:rPr lang="en-US" altLang="zh-TW" b="1" dirty="0"/>
              <a:t>0.1 M LiAsF</a:t>
            </a:r>
            <a:r>
              <a:rPr lang="en-US" altLang="zh-TW" b="1" baseline="-25000" dirty="0"/>
              <a:t>6</a:t>
            </a:r>
            <a:r>
              <a:rPr lang="zh-TW" altLang="en-US" b="1" dirty="0"/>
              <a:t>（六氟砷酸鋰）</a:t>
            </a:r>
            <a:endParaRPr lang="en-US" altLang="zh-TW" b="1" dirty="0"/>
          </a:p>
          <a:p>
            <a:pPr>
              <a:lnSpc>
                <a:spcPct val="150000"/>
              </a:lnSpc>
            </a:pPr>
            <a:r>
              <a:rPr lang="en-US" altLang="zh-TW" dirty="0"/>
              <a:t>As</a:t>
            </a:r>
            <a:r>
              <a:rPr lang="zh-TW" altLang="en-US" dirty="0"/>
              <a:t>（砷）元素螢光能量足夠高，被探測器捕獲</a:t>
            </a:r>
            <a:endParaRPr kumimoji="1" lang="zh-TW" altLang="en-US" dirty="0"/>
          </a:p>
        </p:txBody>
      </p:sp>
    </p:spTree>
    <p:extLst>
      <p:ext uri="{BB962C8B-B14F-4D97-AF65-F5344CB8AC3E}">
        <p14:creationId xmlns:p14="http://schemas.microsoft.com/office/powerpoint/2010/main" val="2294162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2C56B-F493-7A9F-34F0-5626E064675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36B2F00-9E73-B0A0-5D19-DDFA4E4A9123}"/>
              </a:ext>
            </a:extLst>
          </p:cNvPr>
          <p:cNvSpPr>
            <a:spLocks noGrp="1"/>
          </p:cNvSpPr>
          <p:nvPr>
            <p:ph type="title"/>
          </p:nvPr>
        </p:nvSpPr>
        <p:spPr/>
        <p:txBody>
          <a:bodyPr/>
          <a:lstStyle/>
          <a:p>
            <a:r>
              <a:rPr lang="zh-TW" altLang="en-US" dirty="0"/>
              <a:t>溶液相梯度</a:t>
            </a:r>
            <a:r>
              <a:rPr lang="en-US" altLang="zh-TW" dirty="0"/>
              <a:t>—XRF</a:t>
            </a:r>
            <a:endParaRPr kumimoji="1" lang="zh-TW" altLang="en-US" dirty="0"/>
          </a:p>
        </p:txBody>
      </p:sp>
      <p:sp>
        <p:nvSpPr>
          <p:cNvPr id="5" name="內容版面配置區 4">
            <a:extLst>
              <a:ext uri="{FF2B5EF4-FFF2-40B4-BE49-F238E27FC236}">
                <a16:creationId xmlns:a16="http://schemas.microsoft.com/office/drawing/2014/main" id="{29BF1EF6-4C53-A364-CC8B-EAD6A91AA3B2}"/>
              </a:ext>
            </a:extLst>
          </p:cNvPr>
          <p:cNvSpPr>
            <a:spLocks noGrp="1"/>
          </p:cNvSpPr>
          <p:nvPr>
            <p:ph idx="1"/>
          </p:nvPr>
        </p:nvSpPr>
        <p:spPr/>
        <p:txBody>
          <a:bodyPr/>
          <a:lstStyle/>
          <a:p>
            <a:pPr>
              <a:lnSpc>
                <a:spcPct val="150000"/>
              </a:lnSpc>
            </a:pPr>
            <a:r>
              <a:rPr lang="zh-TW" altLang="en-US" dirty="0"/>
              <a:t>具體判定步驟</a:t>
            </a:r>
            <a:r>
              <a:rPr lang="en-US" altLang="zh-TW" dirty="0"/>
              <a:t>:</a:t>
            </a:r>
          </a:p>
          <a:p>
            <a:pPr lvl="1">
              <a:lnSpc>
                <a:spcPct val="150000"/>
              </a:lnSpc>
            </a:pPr>
            <a:r>
              <a:rPr lang="zh-TW" altLang="en-US" dirty="0"/>
              <a:t>原位（</a:t>
            </a:r>
            <a:r>
              <a:rPr lang="en-US" altLang="zh-TW" dirty="0"/>
              <a:t>Operando</a:t>
            </a:r>
            <a:r>
              <a:rPr lang="zh-TW" altLang="en-US" dirty="0"/>
              <a:t>）</a:t>
            </a:r>
            <a:r>
              <a:rPr lang="en-US" altLang="zh-TW" dirty="0"/>
              <a:t>XRF </a:t>
            </a:r>
            <a:r>
              <a:rPr lang="zh-TW" altLang="en-US" dirty="0"/>
              <a:t>量測</a:t>
            </a:r>
            <a:endParaRPr lang="en-US" altLang="zh-TW" dirty="0"/>
          </a:p>
          <a:p>
            <a:pPr lvl="1">
              <a:lnSpc>
                <a:spcPct val="150000"/>
              </a:lnSpc>
            </a:pPr>
            <a:r>
              <a:rPr lang="zh-TW" altLang="en-US" dirty="0"/>
              <a:t>訊號處理與定性分析</a:t>
            </a:r>
            <a:r>
              <a:rPr lang="en-US" altLang="zh-TW" dirty="0"/>
              <a:t>:</a:t>
            </a:r>
          </a:p>
          <a:p>
            <a:pPr lvl="2">
              <a:lnSpc>
                <a:spcPct val="150000"/>
              </a:lnSpc>
            </a:pPr>
            <a:r>
              <a:rPr lang="zh-TW" altLang="en-US" dirty="0"/>
              <a:t>集到的 </a:t>
            </a:r>
            <a:r>
              <a:rPr lang="en-US" altLang="zh-TW" dirty="0"/>
              <a:t>XRF </a:t>
            </a:r>
            <a:r>
              <a:rPr lang="zh-TW" altLang="en-US" dirty="0"/>
              <a:t>光譜中對該 </a:t>
            </a:r>
            <a:r>
              <a:rPr lang="en-US" altLang="zh-TW" dirty="0"/>
              <a:t>As </a:t>
            </a:r>
            <a:r>
              <a:rPr lang="zh-TW" altLang="en-US" dirty="0"/>
              <a:t>螢光峰進行高斯擬合（</a:t>
            </a:r>
            <a:r>
              <a:rPr lang="en-US" altLang="zh-TW" dirty="0"/>
              <a:t>Gaussian Fit</a:t>
            </a:r>
            <a:r>
              <a:rPr lang="zh-TW" altLang="en-US" dirty="0"/>
              <a:t>，見 圖 </a:t>
            </a:r>
            <a:r>
              <a:rPr lang="en-US" altLang="zh-TW" dirty="0"/>
              <a:t>1C</a:t>
            </a:r>
            <a:r>
              <a:rPr lang="zh-TW" altLang="en-US" dirty="0"/>
              <a:t>），並計算峰面積以獲得其積分強度。此強度與探測體積內 </a:t>
            </a:r>
            <a:r>
              <a:rPr lang="en-US" altLang="zh-TW" dirty="0"/>
              <a:t>AsF</a:t>
            </a:r>
            <a:r>
              <a:rPr lang="en-US" altLang="zh-TW" baseline="-25000" dirty="0"/>
              <a:t>6</a:t>
            </a:r>
            <a:r>
              <a:rPr lang="en-US" altLang="zh-TW" baseline="30000" dirty="0"/>
              <a:t>-</a:t>
            </a:r>
            <a:r>
              <a:rPr lang="en-US" altLang="zh-TW" dirty="0"/>
              <a:t> </a:t>
            </a:r>
            <a:r>
              <a:rPr lang="zh-TW" altLang="en-US" dirty="0"/>
              <a:t>的濃度成正比</a:t>
            </a:r>
            <a:endParaRPr lang="en-US" altLang="zh-TW" dirty="0"/>
          </a:p>
          <a:p>
            <a:pPr lvl="1">
              <a:lnSpc>
                <a:spcPct val="150000"/>
              </a:lnSpc>
            </a:pPr>
            <a:r>
              <a:rPr lang="zh-TW" altLang="en-US" dirty="0"/>
              <a:t>定量校正與標準化</a:t>
            </a:r>
            <a:endParaRPr lang="en-US" altLang="zh-TW" dirty="0"/>
          </a:p>
          <a:p>
            <a:pPr lvl="2">
              <a:lnSpc>
                <a:spcPct val="150000"/>
              </a:lnSpc>
            </a:pPr>
            <a:r>
              <a:rPr lang="zh-TW" altLang="en-US" dirty="0"/>
              <a:t>將電池運轉過程中探測到的 </a:t>
            </a:r>
            <a:r>
              <a:rPr lang="en-US" altLang="zh-TW" dirty="0"/>
              <a:t>As </a:t>
            </a:r>
            <a:r>
              <a:rPr lang="zh-TW" altLang="en-US" dirty="0"/>
              <a:t>強度位置分佈圖，比較</a:t>
            </a:r>
            <a:r>
              <a:rPr lang="en-US" altLang="zh-TW" dirty="0"/>
              <a:t>OCV</a:t>
            </a:r>
            <a:r>
              <a:rPr lang="zh-TW" altLang="en-US" dirty="0"/>
              <a:t>時的強度得到相對濃度變化</a:t>
            </a:r>
            <a:endParaRPr lang="en-US" altLang="zh-TW" dirty="0"/>
          </a:p>
          <a:p>
            <a:pPr lvl="1">
              <a:lnSpc>
                <a:spcPct val="150000"/>
              </a:lnSpc>
            </a:pPr>
            <a:endParaRPr lang="en-US" altLang="zh-TW" dirty="0"/>
          </a:p>
          <a:p>
            <a:pPr lvl="1">
              <a:lnSpc>
                <a:spcPct val="150000"/>
              </a:lnSpc>
            </a:pPr>
            <a:endParaRPr lang="zh-TW" altLang="en-US" dirty="0"/>
          </a:p>
          <a:p>
            <a:pPr lvl="1">
              <a:lnSpc>
                <a:spcPct val="150000"/>
              </a:lnSpc>
            </a:pPr>
            <a:endParaRPr lang="en-US" altLang="zh-TW" dirty="0"/>
          </a:p>
          <a:p>
            <a:pPr lvl="1">
              <a:lnSpc>
                <a:spcPct val="150000"/>
              </a:lnSpc>
            </a:pPr>
            <a:endParaRPr kumimoji="1" lang="zh-TW" altLang="en-US" dirty="0"/>
          </a:p>
        </p:txBody>
      </p:sp>
    </p:spTree>
    <p:extLst>
      <p:ext uri="{BB962C8B-B14F-4D97-AF65-F5344CB8AC3E}">
        <p14:creationId xmlns:p14="http://schemas.microsoft.com/office/powerpoint/2010/main" val="1092824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B443C-8985-DB64-B5B2-C31F939F2FC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AB375AD-57A9-EA40-5B25-BF155377DFCD}"/>
              </a:ext>
            </a:extLst>
          </p:cNvPr>
          <p:cNvSpPr>
            <a:spLocks noGrp="1"/>
          </p:cNvSpPr>
          <p:nvPr>
            <p:ph type="title"/>
          </p:nvPr>
        </p:nvSpPr>
        <p:spPr/>
        <p:txBody>
          <a:bodyPr/>
          <a:lstStyle/>
          <a:p>
            <a:r>
              <a:rPr lang="zh-TW" altLang="en-US" dirty="0"/>
              <a:t>溶液相梯度</a:t>
            </a:r>
            <a:r>
              <a:rPr lang="en-US" altLang="zh-TW" dirty="0"/>
              <a:t>—XRF</a:t>
            </a:r>
            <a:endParaRPr kumimoji="1" lang="zh-TW" altLang="en-US" dirty="0"/>
          </a:p>
        </p:txBody>
      </p:sp>
      <p:pic>
        <p:nvPicPr>
          <p:cNvPr id="4" name="內容版面配置區 7" descr="一張含有 文字, 繪圖, 圖表, 行 的圖片&#10;&#10;AI 產生的內容可能不正確。">
            <a:extLst>
              <a:ext uri="{FF2B5EF4-FFF2-40B4-BE49-F238E27FC236}">
                <a16:creationId xmlns:a16="http://schemas.microsoft.com/office/drawing/2014/main" id="{0CB3F6F6-B0B9-2B7C-ED0F-9A7230DC8A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1942" y="1126028"/>
            <a:ext cx="8225609" cy="4284171"/>
          </a:xfrm>
        </p:spPr>
      </p:pic>
      <p:sp>
        <p:nvSpPr>
          <p:cNvPr id="3" name="文字方塊 2">
            <a:extLst>
              <a:ext uri="{FF2B5EF4-FFF2-40B4-BE49-F238E27FC236}">
                <a16:creationId xmlns:a16="http://schemas.microsoft.com/office/drawing/2014/main" id="{895717BA-D7D6-11EB-A699-56DFE9082DA2}"/>
              </a:ext>
            </a:extLst>
          </p:cNvPr>
          <p:cNvSpPr txBox="1"/>
          <p:nvPr/>
        </p:nvSpPr>
        <p:spPr>
          <a:xfrm>
            <a:off x="1422400" y="5545627"/>
            <a:ext cx="10464800" cy="1200329"/>
          </a:xfrm>
          <a:prstGeom prst="rect">
            <a:avLst/>
          </a:prstGeom>
          <a:noFill/>
        </p:spPr>
        <p:txBody>
          <a:bodyPr wrap="square" rtlCol="0">
            <a:spAutoFit/>
          </a:bodyPr>
          <a:lstStyle/>
          <a:p>
            <a:r>
              <a:rPr kumimoji="1" lang="zh-TW" altLang="en-US" dirty="0"/>
              <a:t>在放電過程中，兩個電極（</a:t>
            </a:r>
            <a:r>
              <a:rPr kumimoji="1" lang="en-US" altLang="zh-TW" dirty="0"/>
              <a:t>LFP </a:t>
            </a:r>
            <a:r>
              <a:rPr kumimoji="1" lang="zh-TW" altLang="en-US" dirty="0"/>
              <a:t>和 </a:t>
            </a:r>
            <a:r>
              <a:rPr kumimoji="1" lang="en-US" altLang="zh-TW" dirty="0"/>
              <a:t>LTO</a:t>
            </a:r>
            <a:r>
              <a:rPr kumimoji="1" lang="zh-TW" altLang="en-US" dirty="0"/>
              <a:t>）內每個位置的 </a:t>
            </a:r>
            <a:r>
              <a:rPr kumimoji="1" lang="en-US" altLang="zh-TW" dirty="0"/>
              <a:t>As K</a:t>
            </a:r>
            <a:r>
              <a:rPr kumimoji="1" lang="el-GR" altLang="zh-TW" dirty="0"/>
              <a:t>α </a:t>
            </a:r>
            <a:r>
              <a:rPr kumimoji="1" lang="zh-TW" altLang="en-US" dirty="0"/>
              <a:t>峰積分。</a:t>
            </a:r>
          </a:p>
          <a:p>
            <a:r>
              <a:rPr kumimoji="1" lang="en-US" altLang="zh-TW" dirty="0"/>
              <a:t>(E) </a:t>
            </a:r>
            <a:r>
              <a:rPr kumimoji="1" lang="zh-TW" altLang="en-US" dirty="0"/>
              <a:t>歸一化積分</a:t>
            </a:r>
            <a:r>
              <a:rPr kumimoji="1" lang="en-US" altLang="zh-TW" dirty="0"/>
              <a:t>As K</a:t>
            </a:r>
            <a:r>
              <a:rPr kumimoji="1" lang="el-GR" altLang="zh-TW" dirty="0"/>
              <a:t>α</a:t>
            </a:r>
            <a:r>
              <a:rPr kumimoji="1" lang="zh-TW" altLang="en-US" dirty="0"/>
              <a:t>至</a:t>
            </a:r>
            <a:r>
              <a:rPr kumimoji="1" lang="en-US" altLang="zh-TW" dirty="0"/>
              <a:t>OCV</a:t>
            </a:r>
            <a:r>
              <a:rPr kumimoji="1" lang="zh-TW" altLang="en-US" dirty="0"/>
              <a:t>響應顯示了</a:t>
            </a:r>
            <a:r>
              <a:rPr kumimoji="1" lang="en-US" altLang="zh-TW" dirty="0"/>
              <a:t>Li +</a:t>
            </a:r>
            <a:r>
              <a:rPr kumimoji="1" lang="zh-TW" altLang="en-US" dirty="0"/>
              <a:t>濃度的相對變化。底部插圖：放電過程中的電位（黑色）和電流（藍色）曲線。</a:t>
            </a:r>
          </a:p>
          <a:p>
            <a:endParaRPr kumimoji="1" lang="zh-TW" altLang="en-US" dirty="0"/>
          </a:p>
        </p:txBody>
      </p:sp>
    </p:spTree>
    <p:extLst>
      <p:ext uri="{BB962C8B-B14F-4D97-AF65-F5344CB8AC3E}">
        <p14:creationId xmlns:p14="http://schemas.microsoft.com/office/powerpoint/2010/main" val="925962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19E1D-ABE3-38B5-0963-FC5EAD661C9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5DAB14D-03E0-BF8F-E2F1-3C8D48FD5527}"/>
              </a:ext>
            </a:extLst>
          </p:cNvPr>
          <p:cNvSpPr>
            <a:spLocks noGrp="1"/>
          </p:cNvSpPr>
          <p:nvPr>
            <p:ph type="title"/>
          </p:nvPr>
        </p:nvSpPr>
        <p:spPr/>
        <p:txBody>
          <a:bodyPr/>
          <a:lstStyle/>
          <a:p>
            <a:r>
              <a:rPr lang="zh-TW" altLang="en-US" dirty="0"/>
              <a:t>固相梯度</a:t>
            </a:r>
            <a:r>
              <a:rPr lang="en-US" altLang="zh-TW" dirty="0"/>
              <a:t>—XRD</a:t>
            </a:r>
            <a:endParaRPr kumimoji="1" lang="zh-TW" altLang="en-US" dirty="0"/>
          </a:p>
        </p:txBody>
      </p:sp>
      <p:sp>
        <p:nvSpPr>
          <p:cNvPr id="11" name="內容版面配置區 10">
            <a:extLst>
              <a:ext uri="{FF2B5EF4-FFF2-40B4-BE49-F238E27FC236}">
                <a16:creationId xmlns:a16="http://schemas.microsoft.com/office/drawing/2014/main" id="{9AB25310-803F-104C-2B22-0305349C6C87}"/>
              </a:ext>
            </a:extLst>
          </p:cNvPr>
          <p:cNvSpPr>
            <a:spLocks noGrp="1"/>
          </p:cNvSpPr>
          <p:nvPr>
            <p:ph idx="1"/>
          </p:nvPr>
        </p:nvSpPr>
        <p:spPr/>
        <p:txBody>
          <a:bodyPr/>
          <a:lstStyle/>
          <a:p>
            <a:pPr>
              <a:lnSpc>
                <a:spcPct val="150000"/>
              </a:lnSpc>
            </a:pPr>
            <a:r>
              <a:rPr lang="zh-TW" altLang="en-US" b="1" dirty="0"/>
              <a:t>在電池運轉（</a:t>
            </a:r>
            <a:r>
              <a:rPr lang="en-US" altLang="zh-TW" b="1" i="1" dirty="0"/>
              <a:t>Operando</a:t>
            </a:r>
            <a:r>
              <a:rPr lang="zh-TW" altLang="en-US" b="1" dirty="0"/>
              <a:t>）時，以極高的空間解析度掃描電極截面，藉此定量分析固態活性物質顆粒內部的鋰含量（即</a:t>
            </a:r>
            <a:r>
              <a:rPr lang="zh-TW" altLang="en-US" dirty="0"/>
              <a:t>充電狀態，</a:t>
            </a:r>
            <a:r>
              <a:rPr lang="en-US" altLang="zh-TW" dirty="0"/>
              <a:t>SoC</a:t>
            </a:r>
          </a:p>
          <a:p>
            <a:pPr>
              <a:lnSpc>
                <a:spcPct val="150000"/>
              </a:lnSpc>
            </a:pPr>
            <a:r>
              <a:rPr lang="en-US" altLang="zh-TW" dirty="0"/>
              <a:t>LFP</a:t>
            </a:r>
            <a:r>
              <a:rPr lang="zh-TW" altLang="en-US" dirty="0"/>
              <a:t>依據</a:t>
            </a:r>
            <a:r>
              <a:rPr lang="en-US" altLang="zh-TW" dirty="0"/>
              <a:t>XRD</a:t>
            </a:r>
            <a:r>
              <a:rPr lang="zh-TW" altLang="en-US" dirty="0"/>
              <a:t>特定峰訊號進行</a:t>
            </a:r>
            <a:r>
              <a:rPr lang="en-US" altLang="zh-TW" dirty="0"/>
              <a:t>Rietveld </a:t>
            </a:r>
            <a:r>
              <a:rPr lang="zh-TW" altLang="en-US" dirty="0"/>
              <a:t>精修</a:t>
            </a:r>
            <a:endParaRPr lang="en-US" altLang="zh-TW" dirty="0"/>
          </a:p>
          <a:p>
            <a:pPr>
              <a:lnSpc>
                <a:spcPct val="150000"/>
              </a:lnSpc>
            </a:pPr>
            <a:r>
              <a:rPr lang="en-US" altLang="zh-TW" dirty="0"/>
              <a:t>LTO</a:t>
            </a:r>
            <a:r>
              <a:rPr lang="zh-TW" altLang="en-US" dirty="0"/>
              <a:t>在（脫）鋰化過程中的晶格參數變化極微小（約 </a:t>
            </a:r>
            <a:r>
              <a:rPr lang="en-US" altLang="zh-TW" dirty="0"/>
              <a:t>0.1%</a:t>
            </a:r>
            <a:r>
              <a:rPr lang="zh-TW" altLang="en-US" dirty="0"/>
              <a:t>），且呈現固溶體反應 </a:t>
            </a:r>
            <a:r>
              <a:rPr lang="en-US" altLang="zh-TW" dirty="0"/>
              <a:t>=&gt;</a:t>
            </a:r>
            <a:r>
              <a:rPr lang="zh-TW" altLang="en-US" dirty="0"/>
              <a:t> 選擇</a:t>
            </a:r>
            <a:r>
              <a:rPr lang="zh-TW" altLang="en-US" b="1" dirty="0"/>
              <a:t>高角度特徵峰，</a:t>
            </a:r>
            <a:r>
              <a:rPr lang="zh-TW" altLang="en-US" dirty="0"/>
              <a:t>偏移量轉化為相對 </a:t>
            </a:r>
            <a:r>
              <a:rPr lang="en-US" altLang="zh-TW" dirty="0"/>
              <a:t>SoC</a:t>
            </a:r>
            <a:endParaRPr lang="en-US" altLang="zh-TW" b="1" dirty="0"/>
          </a:p>
        </p:txBody>
      </p:sp>
    </p:spTree>
    <p:extLst>
      <p:ext uri="{BB962C8B-B14F-4D97-AF65-F5344CB8AC3E}">
        <p14:creationId xmlns:p14="http://schemas.microsoft.com/office/powerpoint/2010/main" val="1181748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367A-4F3F-5EF0-BD69-E5AB84BE52E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106607B-8455-886F-1020-A166260FEBD8}"/>
              </a:ext>
            </a:extLst>
          </p:cNvPr>
          <p:cNvSpPr>
            <a:spLocks noGrp="1"/>
          </p:cNvSpPr>
          <p:nvPr>
            <p:ph type="title"/>
          </p:nvPr>
        </p:nvSpPr>
        <p:spPr/>
        <p:txBody>
          <a:bodyPr/>
          <a:lstStyle/>
          <a:p>
            <a:r>
              <a:rPr lang="zh-TW" altLang="en-US" dirty="0"/>
              <a:t>固相梯度</a:t>
            </a:r>
            <a:r>
              <a:rPr lang="en-US" altLang="zh-TW" dirty="0"/>
              <a:t>—XRD</a:t>
            </a:r>
            <a:endParaRPr kumimoji="1" lang="zh-TW" altLang="en-US" dirty="0"/>
          </a:p>
        </p:txBody>
      </p:sp>
      <p:pic>
        <p:nvPicPr>
          <p:cNvPr id="4" name="圖片 3" descr="一張含有 文字, 圖表, 繪圖, 行 的圖片&#10;&#10;AI 產生的內容可能不正確。">
            <a:extLst>
              <a:ext uri="{FF2B5EF4-FFF2-40B4-BE49-F238E27FC236}">
                <a16:creationId xmlns:a16="http://schemas.microsoft.com/office/drawing/2014/main" id="{B4B23C71-7BC8-E2C1-8E6F-E32D74F9A20B}"/>
              </a:ext>
            </a:extLst>
          </p:cNvPr>
          <p:cNvPicPr>
            <a:picLocks noChangeAspect="1"/>
          </p:cNvPicPr>
          <p:nvPr/>
        </p:nvPicPr>
        <p:blipFill>
          <a:blip r:embed="rId2">
            <a:extLst>
              <a:ext uri="{28A0092B-C50C-407E-A947-70E740481C1C}">
                <a14:useLocalDpi xmlns:a14="http://schemas.microsoft.com/office/drawing/2010/main" val="0"/>
              </a:ext>
            </a:extLst>
          </a:blip>
          <a:srcRect b="45846"/>
          <a:stretch>
            <a:fillRect/>
          </a:stretch>
        </p:blipFill>
        <p:spPr>
          <a:xfrm>
            <a:off x="1258049" y="1167787"/>
            <a:ext cx="10793501" cy="3973286"/>
          </a:xfrm>
          <a:prstGeom prst="rect">
            <a:avLst/>
          </a:prstGeom>
        </p:spPr>
      </p:pic>
      <p:sp>
        <p:nvSpPr>
          <p:cNvPr id="6" name="文字方塊 5">
            <a:extLst>
              <a:ext uri="{FF2B5EF4-FFF2-40B4-BE49-F238E27FC236}">
                <a16:creationId xmlns:a16="http://schemas.microsoft.com/office/drawing/2014/main" id="{C10F2E55-43AC-75AD-8316-F0C0DEEB10F4}"/>
              </a:ext>
            </a:extLst>
          </p:cNvPr>
          <p:cNvSpPr txBox="1"/>
          <p:nvPr/>
        </p:nvSpPr>
        <p:spPr>
          <a:xfrm>
            <a:off x="1422400" y="5320881"/>
            <a:ext cx="3305136"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TW" dirty="0"/>
              <a:t>A.LFP </a:t>
            </a:r>
            <a:r>
              <a:rPr lang="zh-TW" altLang="en-US" dirty="0"/>
              <a:t>電極內部的 </a:t>
            </a:r>
            <a:r>
              <a:rPr lang="en-US" altLang="zh-TW" dirty="0"/>
              <a:t>XRD </a:t>
            </a:r>
            <a:r>
              <a:rPr lang="zh-TW" altLang="en-US" dirty="0"/>
              <a:t>衍射圖</a:t>
            </a:r>
            <a:endParaRPr kumimoji="1" lang="zh-TW" altLang="en-US" dirty="0"/>
          </a:p>
        </p:txBody>
      </p:sp>
      <p:sp>
        <p:nvSpPr>
          <p:cNvPr id="7" name="文字方塊 6">
            <a:extLst>
              <a:ext uri="{FF2B5EF4-FFF2-40B4-BE49-F238E27FC236}">
                <a16:creationId xmlns:a16="http://schemas.microsoft.com/office/drawing/2014/main" id="{62B39E3E-10F3-E9F3-F9C4-DAAB04F56126}"/>
              </a:ext>
            </a:extLst>
          </p:cNvPr>
          <p:cNvSpPr txBox="1"/>
          <p:nvPr/>
        </p:nvSpPr>
        <p:spPr>
          <a:xfrm>
            <a:off x="5437414" y="5228548"/>
            <a:ext cx="3531736" cy="1477328"/>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TW" dirty="0"/>
              <a:t>B.</a:t>
            </a:r>
            <a:r>
              <a:rPr lang="zh-TW" altLang="en-US" dirty="0"/>
              <a:t> </a:t>
            </a:r>
            <a:r>
              <a:rPr lang="en-US" altLang="zh-TW" dirty="0"/>
              <a:t>LFP</a:t>
            </a:r>
            <a:r>
              <a:rPr lang="zh-TW" altLang="en-US" dirty="0"/>
              <a:t>（</a:t>
            </a:r>
            <a:r>
              <a:rPr lang="en-US" altLang="zh-TW" dirty="0"/>
              <a:t>2</a:t>
            </a:r>
            <a:r>
              <a:rPr lang="el-GR" altLang="zh-TW" dirty="0"/>
              <a:t>θ = 3.37°</a:t>
            </a:r>
            <a:r>
              <a:rPr lang="zh-TW" altLang="el-GR" dirty="0"/>
              <a:t>，</a:t>
            </a:r>
            <a:r>
              <a:rPr lang="el-GR" altLang="zh-TW" dirty="0"/>
              <a:t>41 </a:t>
            </a:r>
            <a:r>
              <a:rPr lang="en-US" altLang="zh-TW" dirty="0"/>
              <a:t>keV</a:t>
            </a:r>
            <a:r>
              <a:rPr lang="zh-TW" altLang="en-US" dirty="0"/>
              <a:t>）和 </a:t>
            </a:r>
            <a:endParaRPr lang="en-US" altLang="zh-TW" dirty="0"/>
          </a:p>
          <a:p>
            <a:r>
              <a:rPr lang="en-US" altLang="zh-TW" dirty="0"/>
              <a:t>FP</a:t>
            </a:r>
            <a:r>
              <a:rPr lang="zh-TW" altLang="en-US" dirty="0"/>
              <a:t>（</a:t>
            </a:r>
            <a:r>
              <a:rPr lang="en-US" altLang="zh-TW" dirty="0"/>
              <a:t>2</a:t>
            </a:r>
            <a:r>
              <a:rPr lang="el-GR" altLang="zh-TW" dirty="0"/>
              <a:t>θ = 3.54°</a:t>
            </a:r>
            <a:r>
              <a:rPr lang="zh-TW" altLang="el-GR" dirty="0"/>
              <a:t>，</a:t>
            </a:r>
            <a:r>
              <a:rPr lang="el-GR" altLang="zh-TW" dirty="0"/>
              <a:t>41 </a:t>
            </a:r>
            <a:r>
              <a:rPr lang="en-US" altLang="zh-TW" dirty="0"/>
              <a:t>keV</a:t>
            </a:r>
            <a:r>
              <a:rPr lang="zh-TW" altLang="en-US" dirty="0"/>
              <a:t>）的</a:t>
            </a:r>
            <a:endParaRPr lang="en-US" altLang="zh-TW" dirty="0"/>
          </a:p>
          <a:p>
            <a:r>
              <a:rPr lang="zh-TW" altLang="en-US" dirty="0"/>
              <a:t>（</a:t>
            </a:r>
            <a:r>
              <a:rPr lang="en-US" altLang="zh-TW" dirty="0"/>
              <a:t>200</a:t>
            </a:r>
            <a:r>
              <a:rPr lang="zh-TW" altLang="en-US" dirty="0"/>
              <a:t>）反射。充電結束（黃色）</a:t>
            </a:r>
            <a:endParaRPr lang="en-US" altLang="zh-TW" dirty="0"/>
          </a:p>
          <a:p>
            <a:r>
              <a:rPr lang="zh-TW" altLang="en-US" dirty="0"/>
              <a:t>、放電開始（淺綠色）和放電結</a:t>
            </a:r>
            <a:endParaRPr lang="en-US" altLang="zh-TW" dirty="0"/>
          </a:p>
          <a:p>
            <a:r>
              <a:rPr lang="zh-TW" altLang="en-US" dirty="0"/>
              <a:t>束（綠色）。</a:t>
            </a:r>
            <a:endParaRPr kumimoji="1" lang="zh-TW" altLang="en-US" dirty="0"/>
          </a:p>
        </p:txBody>
      </p:sp>
      <p:sp>
        <p:nvSpPr>
          <p:cNvPr id="8" name="文字方塊 7">
            <a:extLst>
              <a:ext uri="{FF2B5EF4-FFF2-40B4-BE49-F238E27FC236}">
                <a16:creationId xmlns:a16="http://schemas.microsoft.com/office/drawing/2014/main" id="{F7BB4D9B-348C-2D12-E741-DCD6D97992E5}"/>
              </a:ext>
            </a:extLst>
          </p:cNvPr>
          <p:cNvSpPr txBox="1"/>
          <p:nvPr/>
        </p:nvSpPr>
        <p:spPr>
          <a:xfrm>
            <a:off x="9093950" y="5299698"/>
            <a:ext cx="279325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TW" dirty="0"/>
              <a:t>C.</a:t>
            </a:r>
            <a:r>
              <a:rPr lang="zh-TW" altLang="en-US" dirty="0"/>
              <a:t> </a:t>
            </a:r>
            <a:r>
              <a:rPr lang="en-US" altLang="zh-TW" dirty="0"/>
              <a:t>4C</a:t>
            </a:r>
            <a:r>
              <a:rPr lang="zh-TW" altLang="en-US" dirty="0"/>
              <a:t>充放電過程中選定衍射圖範圍的等高線圖。右側插圖顯示了電位曲線。</a:t>
            </a:r>
            <a:endParaRPr kumimoji="1" lang="zh-TW" altLang="en-US" dirty="0"/>
          </a:p>
        </p:txBody>
      </p:sp>
    </p:spTree>
    <p:extLst>
      <p:ext uri="{BB962C8B-B14F-4D97-AF65-F5344CB8AC3E}">
        <p14:creationId xmlns:p14="http://schemas.microsoft.com/office/powerpoint/2010/main" val="2261959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113D1-C1A9-93EE-4E2D-B3CBB7080CD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2C8EC38-2532-5BF8-B2EC-7026AD89E117}"/>
              </a:ext>
            </a:extLst>
          </p:cNvPr>
          <p:cNvSpPr>
            <a:spLocks noGrp="1"/>
          </p:cNvSpPr>
          <p:nvPr>
            <p:ph type="title"/>
          </p:nvPr>
        </p:nvSpPr>
        <p:spPr/>
        <p:txBody>
          <a:bodyPr/>
          <a:lstStyle/>
          <a:p>
            <a:r>
              <a:rPr lang="zh-TW" altLang="en-US" dirty="0"/>
              <a:t>固相梯度</a:t>
            </a:r>
            <a:r>
              <a:rPr lang="en-US" altLang="zh-TW" dirty="0"/>
              <a:t>—XRD</a:t>
            </a:r>
            <a:endParaRPr kumimoji="1" lang="zh-TW" altLang="en-US" dirty="0"/>
          </a:p>
        </p:txBody>
      </p:sp>
      <p:pic>
        <p:nvPicPr>
          <p:cNvPr id="4" name="圖片 3" descr="一張含有 文字, 圖表, 繪圖, 行 的圖片&#10;&#10;AI 產生的內容可能不正確。">
            <a:extLst>
              <a:ext uri="{FF2B5EF4-FFF2-40B4-BE49-F238E27FC236}">
                <a16:creationId xmlns:a16="http://schemas.microsoft.com/office/drawing/2014/main" id="{0E9ABD60-280F-4B34-9E0F-FB2FE0A2A7D5}"/>
              </a:ext>
            </a:extLst>
          </p:cNvPr>
          <p:cNvPicPr>
            <a:picLocks noChangeAspect="1"/>
          </p:cNvPicPr>
          <p:nvPr/>
        </p:nvPicPr>
        <p:blipFill>
          <a:blip r:embed="rId3">
            <a:extLst>
              <a:ext uri="{28A0092B-C50C-407E-A947-70E740481C1C}">
                <a14:useLocalDpi xmlns:a14="http://schemas.microsoft.com/office/drawing/2010/main" val="0"/>
              </a:ext>
            </a:extLst>
          </a:blip>
          <a:srcRect t="52522" b="-6676"/>
          <a:stretch>
            <a:fillRect/>
          </a:stretch>
        </p:blipFill>
        <p:spPr>
          <a:xfrm>
            <a:off x="1398499" y="1676401"/>
            <a:ext cx="10793501" cy="3973286"/>
          </a:xfrm>
          <a:prstGeom prst="rect">
            <a:avLst/>
          </a:prstGeom>
        </p:spPr>
      </p:pic>
      <p:sp>
        <p:nvSpPr>
          <p:cNvPr id="5" name="文字方塊 4">
            <a:extLst>
              <a:ext uri="{FF2B5EF4-FFF2-40B4-BE49-F238E27FC236}">
                <a16:creationId xmlns:a16="http://schemas.microsoft.com/office/drawing/2014/main" id="{FDF94114-BB4D-3E7A-082C-DCF5B7EFEA1C}"/>
              </a:ext>
            </a:extLst>
          </p:cNvPr>
          <p:cNvSpPr txBox="1"/>
          <p:nvPr/>
        </p:nvSpPr>
        <p:spPr>
          <a:xfrm>
            <a:off x="1422400" y="5280355"/>
            <a:ext cx="3890283"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TW" b="0" i="0" dirty="0">
                <a:solidFill>
                  <a:srgbClr val="1F1F1F"/>
                </a:solidFill>
                <a:effectLst/>
                <a:latin typeface="ElsevierGulliver"/>
              </a:rPr>
              <a:t>(A)</a:t>
            </a:r>
            <a:r>
              <a:rPr lang="zh-TW" altLang="en-US" b="0" i="0" dirty="0">
                <a:solidFill>
                  <a:srgbClr val="1F1F1F"/>
                </a:solidFill>
                <a:effectLst/>
                <a:latin typeface="ElsevierGulliver"/>
              </a:rPr>
              <a:t> 鋰化 </a:t>
            </a:r>
            <a:r>
              <a:rPr lang="en-US" altLang="zh-TW" b="0" i="0" dirty="0">
                <a:solidFill>
                  <a:srgbClr val="1F1F1F"/>
                </a:solidFill>
                <a:effectLst/>
                <a:latin typeface="ElsevierGulliver"/>
              </a:rPr>
              <a:t>LTO </a:t>
            </a:r>
            <a:r>
              <a:rPr lang="zh-TW" altLang="en-US" b="0" i="0" dirty="0">
                <a:solidFill>
                  <a:srgbClr val="1F1F1F"/>
                </a:solidFill>
                <a:effectLst/>
                <a:latin typeface="ElsevierGulliver"/>
              </a:rPr>
              <a:t>電極內部的 </a:t>
            </a:r>
            <a:r>
              <a:rPr lang="en-US" altLang="zh-TW" b="0" i="0" dirty="0">
                <a:solidFill>
                  <a:srgbClr val="1F1F1F"/>
                </a:solidFill>
                <a:effectLst/>
                <a:latin typeface="ElsevierGulliver"/>
              </a:rPr>
              <a:t>XRD </a:t>
            </a:r>
            <a:r>
              <a:rPr lang="zh-TW" altLang="en-US" b="0" i="0" dirty="0">
                <a:solidFill>
                  <a:srgbClr val="1F1F1F"/>
                </a:solidFill>
                <a:effectLst/>
                <a:latin typeface="ElsevierGulliver"/>
              </a:rPr>
              <a:t>衍射圖。</a:t>
            </a:r>
            <a:endParaRPr lang="zh-TW" altLang="en-US" dirty="0"/>
          </a:p>
        </p:txBody>
      </p:sp>
      <p:sp>
        <p:nvSpPr>
          <p:cNvPr id="7" name="文字方塊 6">
            <a:extLst>
              <a:ext uri="{FF2B5EF4-FFF2-40B4-BE49-F238E27FC236}">
                <a16:creationId xmlns:a16="http://schemas.microsoft.com/office/drawing/2014/main" id="{E5C9D0F7-3671-B331-F765-A992094DE2D9}"/>
              </a:ext>
            </a:extLst>
          </p:cNvPr>
          <p:cNvSpPr txBox="1"/>
          <p:nvPr/>
        </p:nvSpPr>
        <p:spPr>
          <a:xfrm>
            <a:off x="5312683" y="5280355"/>
            <a:ext cx="6164034"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TW" altLang="en-US" b="0" i="0" dirty="0">
                <a:solidFill>
                  <a:srgbClr val="1F1F1F"/>
                </a:solidFill>
                <a:effectLst/>
                <a:latin typeface="ElsevierGulliver"/>
              </a:rPr>
              <a:t>（</a:t>
            </a:r>
            <a:r>
              <a:rPr lang="en-US" altLang="zh-TW" b="0" i="0" dirty="0">
                <a:solidFill>
                  <a:srgbClr val="1F1F1F"/>
                </a:solidFill>
                <a:effectLst/>
                <a:latin typeface="ElsevierGulliver"/>
              </a:rPr>
              <a:t>E</a:t>
            </a:r>
            <a:r>
              <a:rPr lang="zh-TW" altLang="en-US" b="0" i="0" dirty="0">
                <a:solidFill>
                  <a:srgbClr val="1F1F1F"/>
                </a:solidFill>
                <a:effectLst/>
                <a:latin typeface="ElsevierGulliver"/>
              </a:rPr>
              <a:t>）</a:t>
            </a:r>
            <a:r>
              <a:rPr lang="en-US" altLang="zh-TW" b="0" i="0" dirty="0">
                <a:solidFill>
                  <a:srgbClr val="1F1F1F"/>
                </a:solidFill>
                <a:effectLst/>
                <a:latin typeface="ElsevierGulliver"/>
              </a:rPr>
              <a:t>LTO</a:t>
            </a:r>
            <a:r>
              <a:rPr lang="zh-TW" altLang="en-US" b="0" i="0" dirty="0">
                <a:solidFill>
                  <a:srgbClr val="1F1F1F"/>
                </a:solidFill>
                <a:effectLst/>
                <a:latin typeface="ElsevierGulliver"/>
              </a:rPr>
              <a:t>（</a:t>
            </a:r>
            <a:r>
              <a:rPr lang="en-US" altLang="zh-TW" b="0" i="0" dirty="0">
                <a:solidFill>
                  <a:srgbClr val="1F1F1F"/>
                </a:solidFill>
                <a:effectLst/>
                <a:latin typeface="ElsevierGulliver"/>
              </a:rPr>
              <a:t>2</a:t>
            </a:r>
            <a:r>
              <a:rPr lang="el-GR" altLang="zh-TW" b="0" i="0" dirty="0">
                <a:solidFill>
                  <a:srgbClr val="1F1F1F"/>
                </a:solidFill>
                <a:effectLst/>
                <a:latin typeface="ElsevierGulliver"/>
              </a:rPr>
              <a:t>θ = 20.45°</a:t>
            </a:r>
            <a:r>
              <a:rPr lang="zh-TW" altLang="el-GR" b="0" i="0" dirty="0">
                <a:solidFill>
                  <a:srgbClr val="1F1F1F"/>
                </a:solidFill>
                <a:effectLst/>
                <a:latin typeface="ElsevierGulliver"/>
              </a:rPr>
              <a:t>，</a:t>
            </a:r>
            <a:r>
              <a:rPr lang="el-GR" altLang="zh-TW" b="0" i="0" dirty="0">
                <a:solidFill>
                  <a:srgbClr val="1F1F1F"/>
                </a:solidFill>
                <a:effectLst/>
                <a:latin typeface="ElsevierGulliver"/>
              </a:rPr>
              <a:t>41 </a:t>
            </a:r>
            <a:r>
              <a:rPr lang="en-US" altLang="zh-TW" b="0" i="0" dirty="0">
                <a:solidFill>
                  <a:srgbClr val="1F1F1F"/>
                </a:solidFill>
                <a:effectLst/>
                <a:latin typeface="ElsevierGulliver"/>
              </a:rPr>
              <a:t>keV</a:t>
            </a:r>
            <a:r>
              <a:rPr lang="zh-TW" altLang="en-US" b="0" i="0" dirty="0">
                <a:solidFill>
                  <a:srgbClr val="1F1F1F"/>
                </a:solidFill>
                <a:effectLst/>
                <a:latin typeface="ElsevierGulliver"/>
              </a:rPr>
              <a:t>）</a:t>
            </a:r>
            <a:endParaRPr lang="en-US" altLang="zh-TW" b="0" i="0" dirty="0">
              <a:solidFill>
                <a:srgbClr val="1F1F1F"/>
              </a:solidFill>
              <a:effectLst/>
              <a:latin typeface="ElsevierGulliver"/>
            </a:endParaRPr>
          </a:p>
          <a:p>
            <a:r>
              <a:rPr lang="zh-TW" altLang="en-US" b="0" i="0" dirty="0">
                <a:solidFill>
                  <a:srgbClr val="1F1F1F"/>
                </a:solidFill>
                <a:effectLst/>
                <a:latin typeface="ElsevierGulliver"/>
              </a:rPr>
              <a:t>的（</a:t>
            </a:r>
            <a:r>
              <a:rPr lang="en-US" altLang="zh-TW" b="0" i="0" dirty="0">
                <a:solidFill>
                  <a:srgbClr val="1F1F1F"/>
                </a:solidFill>
                <a:effectLst/>
                <a:latin typeface="ElsevierGulliver"/>
              </a:rPr>
              <a:t>844</a:t>
            </a:r>
            <a:r>
              <a:rPr lang="zh-TW" altLang="en-US" b="0" i="0" dirty="0">
                <a:solidFill>
                  <a:srgbClr val="1F1F1F"/>
                </a:solidFill>
                <a:effectLst/>
                <a:latin typeface="ElsevierGulliver"/>
              </a:rPr>
              <a:t>）</a:t>
            </a:r>
            <a:endParaRPr lang="zh-TW" altLang="en-US" dirty="0"/>
          </a:p>
        </p:txBody>
      </p:sp>
      <p:sp>
        <p:nvSpPr>
          <p:cNvPr id="9" name="文字方塊 8">
            <a:extLst>
              <a:ext uri="{FF2B5EF4-FFF2-40B4-BE49-F238E27FC236}">
                <a16:creationId xmlns:a16="http://schemas.microsoft.com/office/drawing/2014/main" id="{A47C2C8D-FA3F-BBA1-F575-36AB2A05046D}"/>
              </a:ext>
            </a:extLst>
          </p:cNvPr>
          <p:cNvSpPr txBox="1"/>
          <p:nvPr/>
        </p:nvSpPr>
        <p:spPr>
          <a:xfrm>
            <a:off x="8784999" y="5188022"/>
            <a:ext cx="3281815"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TW" altLang="en-US" b="0" i="0" dirty="0">
                <a:solidFill>
                  <a:srgbClr val="1F1F1F"/>
                </a:solidFill>
                <a:effectLst/>
                <a:latin typeface="ElsevierGulliver"/>
              </a:rPr>
              <a:t>（</a:t>
            </a:r>
            <a:r>
              <a:rPr lang="en-US" altLang="zh-TW" b="0" i="0" dirty="0">
                <a:solidFill>
                  <a:srgbClr val="1F1F1F"/>
                </a:solidFill>
                <a:effectLst/>
                <a:latin typeface="ElsevierGulliver"/>
              </a:rPr>
              <a:t>F</a:t>
            </a:r>
            <a:r>
              <a:rPr lang="zh-TW" altLang="en-US" b="0" i="0" dirty="0">
                <a:solidFill>
                  <a:srgbClr val="1F1F1F"/>
                </a:solidFill>
                <a:effectLst/>
                <a:latin typeface="ElsevierGulliver"/>
              </a:rPr>
              <a:t>）</a:t>
            </a:r>
            <a:r>
              <a:rPr lang="en-US" altLang="zh-TW" b="0" i="0" dirty="0">
                <a:solidFill>
                  <a:srgbClr val="1F1F1F"/>
                </a:solidFill>
                <a:effectLst/>
                <a:latin typeface="ElsevierGulliver"/>
              </a:rPr>
              <a:t>4C</a:t>
            </a:r>
            <a:r>
              <a:rPr lang="zh-TW" altLang="en-US" b="0" i="0" dirty="0">
                <a:solidFill>
                  <a:srgbClr val="1F1F1F"/>
                </a:solidFill>
                <a:effectLst/>
                <a:latin typeface="ElsevierGulliver"/>
              </a:rPr>
              <a:t>充放電過程中（</a:t>
            </a:r>
            <a:r>
              <a:rPr lang="en-US" altLang="zh-TW" b="0" i="0" dirty="0">
                <a:solidFill>
                  <a:srgbClr val="1F1F1F"/>
                </a:solidFill>
                <a:effectLst/>
                <a:latin typeface="ElsevierGulliver"/>
              </a:rPr>
              <a:t>844</a:t>
            </a:r>
            <a:r>
              <a:rPr lang="zh-TW" altLang="en-US" b="0" i="0" dirty="0">
                <a:solidFill>
                  <a:srgbClr val="1F1F1F"/>
                </a:solidFill>
                <a:effectLst/>
                <a:latin typeface="ElsevierGulliver"/>
              </a:rPr>
              <a:t>）反射位移的瀑布圖。底部插圖顯示了電位曲線（黑色）和峰值位置的相對變化（菱形）。</a:t>
            </a:r>
            <a:endParaRPr lang="zh-TW" altLang="en-US" dirty="0"/>
          </a:p>
        </p:txBody>
      </p:sp>
    </p:spTree>
    <p:extLst>
      <p:ext uri="{BB962C8B-B14F-4D97-AF65-F5344CB8AC3E}">
        <p14:creationId xmlns:p14="http://schemas.microsoft.com/office/powerpoint/2010/main" val="2163483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6CDD3-1DC9-5364-483B-892BB34192C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3C3CAE7-8549-0DF8-C8D4-0AFC0DD5D310}"/>
              </a:ext>
            </a:extLst>
          </p:cNvPr>
          <p:cNvSpPr>
            <a:spLocks noGrp="1"/>
          </p:cNvSpPr>
          <p:nvPr>
            <p:ph type="title"/>
          </p:nvPr>
        </p:nvSpPr>
        <p:spPr/>
        <p:txBody>
          <a:bodyPr/>
          <a:lstStyle/>
          <a:p>
            <a:r>
              <a:rPr lang="en-US" altLang="zh-TW" dirty="0"/>
              <a:t>Total Li inventory </a:t>
            </a:r>
            <a:endParaRPr kumimoji="1" lang="zh-TW" altLang="en-US" dirty="0"/>
          </a:p>
        </p:txBody>
      </p:sp>
      <p:sp>
        <p:nvSpPr>
          <p:cNvPr id="4" name="Rectangle 1">
            <a:extLst>
              <a:ext uri="{FF2B5EF4-FFF2-40B4-BE49-F238E27FC236}">
                <a16:creationId xmlns:a16="http://schemas.microsoft.com/office/drawing/2014/main" id="{C6E830CF-E4E2-28C0-82C0-0E5B8BD64BD4}"/>
              </a:ext>
            </a:extLst>
          </p:cNvPr>
          <p:cNvSpPr>
            <a:spLocks noGrp="1" noChangeArrowheads="1"/>
          </p:cNvSpPr>
          <p:nvPr>
            <p:ph idx="1"/>
          </p:nvPr>
        </p:nvSpPr>
        <p:spPr bwMode="auto">
          <a:xfrm>
            <a:off x="1422400" y="1145789"/>
            <a:ext cx="10464800" cy="5309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Arial" panose="020B0604020202020204" pitchFamily="34" charset="0"/>
                <a:ea typeface="Google Sans Text"/>
              </a:rPr>
              <a:t>固相 SoC</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Arial" panose="020B0604020202020204" pitchFamily="34" charset="0"/>
                <a:ea typeface="Google Sans Text"/>
              </a:rPr>
              <a:t>1C 倍率</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：兩個電極的最終荷電狀態（SoC）均達到約 47%，且均無法完全放電，這顯示活性物質利用率不足</a:t>
            </a:r>
            <a:r>
              <a:rPr kumimoji="0" lang="zh-TW" altLang="en-US" sz="1800" b="0" i="0" u="none" strike="noStrike" cap="none" normalizeH="0" baseline="0" dirty="0">
                <a:ln>
                  <a:noFill/>
                </a:ln>
                <a:solidFill>
                  <a:schemeClr val="tx1"/>
                </a:solidFill>
                <a:effectLst/>
                <a:latin typeface="Arial" panose="020B0604020202020204" pitchFamily="34" charset="0"/>
                <a:ea typeface="Google Sans Text"/>
              </a:rPr>
              <a:t>。</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LFP 電極內部的 SoC 差異較小（Delta SoC = 6\%）。</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Arial" panose="020B0604020202020204" pitchFamily="34" charset="0"/>
                <a:ea typeface="Google Sans Text"/>
              </a:rPr>
              <a:t>4C 倍率</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：放電時固相梯度增加。較大的濃度過電位導致電池提前截止放電，使 LFP 電極放電程度較低（末端平均 SoC 為 68%）。LFP 電極內部的 SoC 差異較大（Delta SoC = 16%），靠近隔膜的 SoC 較低，顯示此系統受限於溶液傳質。</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Arial" panose="020B0604020202020204" pitchFamily="34" charset="0"/>
                <a:ea typeface="Google Sans Text"/>
              </a:rPr>
              <a:t>液相鋰離子濃度</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放電過程中，LFP 中溶液相的锂離子濃度梯度隨時間降低，而 LTO 中的梯度隨時間增加。</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Arial" panose="020B0604020202020204" pitchFamily="34" charset="0"/>
                <a:ea typeface="Google Sans Text"/>
              </a:rPr>
              <a:t>電極內部的限制因素</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Arial" panose="020B0604020202020204" pitchFamily="34" charset="0"/>
                <a:ea typeface="Google Sans Text"/>
              </a:rPr>
              <a:t>LFP 電極</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在 1C 倍率下，LFP 電極存在某些區域對施加電流的反應增強或減弱，這是由於電極異質性導致電接觸存在差異。這種效應是電子電導率（而不是傳質）造成的。</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在 4C 倍率下，LFP 電極靠近隔膜的活性顯示由傳質控制。與 LTO 相比，LFP 中鋰莫耳濃度的變化更大（平均下降 39%，最大下降 50%），顯示 LFP 是高倍率放電過程中的限制電極。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TW" altLang="zh-TW" sz="1800" b="1" i="0" u="none" strike="noStrike" cap="none" normalizeH="0" baseline="0" dirty="0">
                <a:ln>
                  <a:noFill/>
                </a:ln>
                <a:solidFill>
                  <a:schemeClr val="tx1"/>
                </a:solidFill>
                <a:effectLst/>
                <a:latin typeface="Arial" panose="020B0604020202020204" pitchFamily="34" charset="0"/>
                <a:ea typeface="Google Sans Text"/>
              </a:rPr>
              <a:t>LTO 電極</a:t>
            </a: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TW" altLang="zh-TW" sz="1800" b="0" i="0" u="none" strike="noStrike" cap="none" normalizeH="0" baseline="0" dirty="0">
                <a:ln>
                  <a:noFill/>
                </a:ln>
                <a:solidFill>
                  <a:schemeClr val="tx1"/>
                </a:solidFill>
                <a:effectLst/>
                <a:latin typeface="Arial" panose="020B0604020202020204" pitchFamily="34" charset="0"/>
                <a:ea typeface="Google Sans Text"/>
              </a:rPr>
              <a:t>在 4C 倍率下，LTO 電極活性由電子電導率和傳質控制[cite: 1.5]。中心區域幾乎完全不參與反應，活性最高出現在集流體和隔膜附近[cite: 1.5]。這與反應動力學受混合控制的電極觀察結果一致。</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2423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F498BD-E0BD-0159-5BFC-FA38809B4376}"/>
              </a:ext>
            </a:extLst>
          </p:cNvPr>
          <p:cNvSpPr>
            <a:spLocks noGrp="1"/>
          </p:cNvSpPr>
          <p:nvPr>
            <p:ph type="title"/>
          </p:nvPr>
        </p:nvSpPr>
        <p:spPr/>
        <p:txBody>
          <a:bodyPr/>
          <a:lstStyle/>
          <a:p>
            <a:r>
              <a:rPr lang="en-US" altLang="zh-TW" dirty="0"/>
              <a:t>Total Li inventory </a:t>
            </a:r>
            <a:endParaRPr kumimoji="1" lang="zh-TW" altLang="en-US" dirty="0"/>
          </a:p>
        </p:txBody>
      </p:sp>
      <p:pic>
        <p:nvPicPr>
          <p:cNvPr id="4" name="圖片 3" descr="一張含有 文字, 圖表, 螢幕擷取畫面, 方案 的圖片&#10;&#10;AI 產生的內容可能不正確。">
            <a:extLst>
              <a:ext uri="{FF2B5EF4-FFF2-40B4-BE49-F238E27FC236}">
                <a16:creationId xmlns:a16="http://schemas.microsoft.com/office/drawing/2014/main" id="{A45F7E75-43E2-E220-C95B-C59F89F472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9357" y="990600"/>
            <a:ext cx="5597248" cy="5611805"/>
          </a:xfrm>
          <a:prstGeom prst="rect">
            <a:avLst/>
          </a:prstGeom>
        </p:spPr>
      </p:pic>
      <p:sp>
        <p:nvSpPr>
          <p:cNvPr id="5" name="文字方塊 4">
            <a:extLst>
              <a:ext uri="{FF2B5EF4-FFF2-40B4-BE49-F238E27FC236}">
                <a16:creationId xmlns:a16="http://schemas.microsoft.com/office/drawing/2014/main" id="{E2A682E4-2FD0-4462-1B81-7DAF1CF03C38}"/>
              </a:ext>
            </a:extLst>
          </p:cNvPr>
          <p:cNvSpPr txBox="1"/>
          <p:nvPr/>
        </p:nvSpPr>
        <p:spPr>
          <a:xfrm>
            <a:off x="7527472" y="4735285"/>
            <a:ext cx="4237057" cy="1477328"/>
          </a:xfrm>
          <a:prstGeom prst="rect">
            <a:avLst/>
          </a:prstGeom>
          <a:noFill/>
        </p:spPr>
        <p:txBody>
          <a:bodyPr wrap="none" rtlCol="0">
            <a:spAutoFit/>
          </a:bodyPr>
          <a:lstStyle/>
          <a:p>
            <a:r>
              <a:rPr lang="zh-TW" altLang="en-US" dirty="0"/>
              <a:t>（</a:t>
            </a:r>
            <a:r>
              <a:rPr lang="en-US" altLang="zh-TW" dirty="0"/>
              <a:t>A</a:t>
            </a:r>
            <a:r>
              <a:rPr lang="zh-TW" altLang="en-US" dirty="0"/>
              <a:t>）</a:t>
            </a:r>
            <a:r>
              <a:rPr lang="en-US" altLang="zh-TW" dirty="0"/>
              <a:t>1C</a:t>
            </a:r>
            <a:r>
              <a:rPr lang="zh-TW" altLang="en-US" dirty="0"/>
              <a:t>放電期間的電池濃度分佈。</a:t>
            </a:r>
          </a:p>
          <a:p>
            <a:r>
              <a:rPr lang="zh-TW" altLang="en-US" dirty="0"/>
              <a:t>（</a:t>
            </a:r>
            <a:r>
              <a:rPr lang="en-US" altLang="zh-TW" dirty="0"/>
              <a:t>B</a:t>
            </a:r>
            <a:r>
              <a:rPr lang="zh-TW" altLang="en-US" dirty="0"/>
              <a:t>）</a:t>
            </a:r>
            <a:r>
              <a:rPr lang="en-US" altLang="zh-TW" dirty="0"/>
              <a:t>4C</a:t>
            </a:r>
            <a:r>
              <a:rPr lang="zh-TW" altLang="en-US" dirty="0"/>
              <a:t>放電期間的電池濃度分佈。</a:t>
            </a:r>
          </a:p>
          <a:p>
            <a:r>
              <a:rPr lang="zh-TW" altLang="en-US" dirty="0"/>
              <a:t>（</a:t>
            </a:r>
            <a:r>
              <a:rPr lang="en-US" altLang="zh-TW" dirty="0"/>
              <a:t>C</a:t>
            </a:r>
            <a:r>
              <a:rPr lang="zh-TW" altLang="en-US" dirty="0"/>
              <a:t>）</a:t>
            </a:r>
            <a:r>
              <a:rPr lang="en-US" altLang="zh-TW" dirty="0"/>
              <a:t>1C</a:t>
            </a:r>
            <a:r>
              <a:rPr lang="zh-TW" altLang="en-US" dirty="0"/>
              <a:t>放電期間的空間分辨</a:t>
            </a:r>
            <a:r>
              <a:rPr lang="en-US" altLang="zh-TW" dirty="0"/>
              <a:t>SoC</a:t>
            </a:r>
            <a:r>
              <a:rPr lang="zh-TW" altLang="en-US" dirty="0"/>
              <a:t>剖面。</a:t>
            </a:r>
          </a:p>
          <a:p>
            <a:r>
              <a:rPr lang="zh-TW" altLang="en-US" dirty="0"/>
              <a:t>（</a:t>
            </a:r>
            <a:r>
              <a:rPr lang="en-US" altLang="zh-TW" dirty="0"/>
              <a:t>D</a:t>
            </a:r>
            <a:r>
              <a:rPr lang="zh-TW" altLang="en-US" dirty="0"/>
              <a:t>）</a:t>
            </a:r>
            <a:r>
              <a:rPr lang="en-US" altLang="zh-TW" dirty="0"/>
              <a:t>4C</a:t>
            </a:r>
            <a:r>
              <a:rPr lang="zh-TW" altLang="en-US" dirty="0"/>
              <a:t>放電期間的空間分辨</a:t>
            </a:r>
            <a:r>
              <a:rPr lang="en-US" altLang="zh-TW" dirty="0"/>
              <a:t>SoC</a:t>
            </a:r>
            <a:r>
              <a:rPr lang="zh-TW" altLang="en-US" dirty="0"/>
              <a:t>剖面</a:t>
            </a:r>
          </a:p>
          <a:p>
            <a:endParaRPr kumimoji="1" lang="zh-TW" altLang="en-US" dirty="0"/>
          </a:p>
        </p:txBody>
      </p:sp>
    </p:spTree>
    <p:extLst>
      <p:ext uri="{BB962C8B-B14F-4D97-AF65-F5344CB8AC3E}">
        <p14:creationId xmlns:p14="http://schemas.microsoft.com/office/powerpoint/2010/main" val="1271153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DFDED5-FFAB-9451-CA06-052452AB4974}"/>
              </a:ext>
            </a:extLst>
          </p:cNvPr>
          <p:cNvSpPr>
            <a:spLocks noGrp="1"/>
          </p:cNvSpPr>
          <p:nvPr>
            <p:ph type="title"/>
          </p:nvPr>
        </p:nvSpPr>
        <p:spPr/>
        <p:txBody>
          <a:bodyPr/>
          <a:lstStyle/>
          <a:p>
            <a:r>
              <a:rPr lang="zh-TW" altLang="en-US" dirty="0"/>
              <a:t>溶液梯度熱圖</a:t>
            </a:r>
            <a:endParaRPr kumimoji="1" lang="zh-TW" altLang="en-US" dirty="0"/>
          </a:p>
        </p:txBody>
      </p:sp>
      <p:pic>
        <p:nvPicPr>
          <p:cNvPr id="5" name="內容版面配置區 4" descr="一張含有 文字, 螢幕擷取畫面, 繪圖, 圖表 的圖片&#10;&#10;AI 產生的內容可能不正確。">
            <a:extLst>
              <a:ext uri="{FF2B5EF4-FFF2-40B4-BE49-F238E27FC236}">
                <a16:creationId xmlns:a16="http://schemas.microsoft.com/office/drawing/2014/main" id="{04A0042A-17E4-8E9F-614F-F389CD3F9D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8194" y="1159329"/>
            <a:ext cx="7585470" cy="4953000"/>
          </a:xfrm>
        </p:spPr>
      </p:pic>
      <p:sp>
        <p:nvSpPr>
          <p:cNvPr id="7" name="文字方塊 6">
            <a:extLst>
              <a:ext uri="{FF2B5EF4-FFF2-40B4-BE49-F238E27FC236}">
                <a16:creationId xmlns:a16="http://schemas.microsoft.com/office/drawing/2014/main" id="{67A941C8-12DF-032E-215F-D9B41FD37082}"/>
              </a:ext>
            </a:extLst>
          </p:cNvPr>
          <p:cNvSpPr txBox="1"/>
          <p:nvPr/>
        </p:nvSpPr>
        <p:spPr>
          <a:xfrm>
            <a:off x="9286295" y="1373671"/>
            <a:ext cx="2269671" cy="4524315"/>
          </a:xfrm>
          <a:prstGeom prst="rect">
            <a:avLst/>
          </a:prstGeom>
          <a:noFill/>
        </p:spPr>
        <p:txBody>
          <a:bodyPr wrap="square" rtlCol="0">
            <a:spAutoFit/>
          </a:bodyPr>
          <a:lstStyle/>
          <a:p>
            <a:r>
              <a:rPr lang="zh-TW" altLang="en-US" dirty="0"/>
              <a:t>（</a:t>
            </a:r>
            <a:r>
              <a:rPr lang="en-US" altLang="zh-TW" dirty="0"/>
              <a:t>A</a:t>
            </a:r>
            <a:r>
              <a:rPr lang="zh-TW" altLang="en-US" dirty="0"/>
              <a:t>）在 </a:t>
            </a:r>
            <a:r>
              <a:rPr lang="en-US" altLang="zh-TW" dirty="0"/>
              <a:t>4C </a:t>
            </a:r>
            <a:r>
              <a:rPr lang="zh-TW" altLang="en-US" dirty="0"/>
              <a:t>放電</a:t>
            </a:r>
            <a:r>
              <a:rPr lang="en-US" altLang="zh-TW" dirty="0"/>
              <a:t>/</a:t>
            </a:r>
            <a:r>
              <a:rPr lang="zh-TW" altLang="en-US" dirty="0"/>
              <a:t>放電過程中，各位置（</a:t>
            </a:r>
            <a:r>
              <a:rPr lang="en-US" altLang="zh-TW" dirty="0"/>
              <a:t>y </a:t>
            </a:r>
            <a:r>
              <a:rPr lang="zh-TW" altLang="en-US" dirty="0"/>
              <a:t>軸） </a:t>
            </a:r>
            <a:r>
              <a:rPr lang="en-US" altLang="zh-TW" dirty="0"/>
              <a:t>Li </a:t>
            </a:r>
            <a:r>
              <a:rPr lang="en-US" altLang="zh-TW" baseline="30000" dirty="0"/>
              <a:t>+</a:t>
            </a:r>
            <a:r>
              <a:rPr lang="zh-TW" altLang="en-US" dirty="0"/>
              <a:t>濃度隨時間（</a:t>
            </a:r>
            <a:r>
              <a:rPr lang="en-US" altLang="zh-TW" dirty="0"/>
              <a:t>x </a:t>
            </a:r>
            <a:r>
              <a:rPr lang="zh-TW" altLang="en-US" dirty="0"/>
              <a:t>軸）變化的熱圖。右側的圖表顯示了電池組件的位置。</a:t>
            </a:r>
          </a:p>
          <a:p>
            <a:endParaRPr lang="en-US" altLang="zh-TW" dirty="0"/>
          </a:p>
          <a:p>
            <a:r>
              <a:rPr lang="zh-TW" altLang="en-US" dirty="0"/>
              <a:t>（</a:t>
            </a:r>
            <a:r>
              <a:rPr lang="en-US" altLang="zh-TW" dirty="0"/>
              <a:t>B</a:t>
            </a:r>
            <a:r>
              <a:rPr lang="zh-TW" altLang="en-US" dirty="0"/>
              <a:t>）與熱圖相同時間間隔內的潛在（黑色）和電流（藍色）軌跡。</a:t>
            </a:r>
          </a:p>
          <a:p>
            <a:endParaRPr lang="en-US" altLang="zh-TW" dirty="0"/>
          </a:p>
          <a:p>
            <a:r>
              <a:rPr lang="zh-TW" altLang="en-US" dirty="0"/>
              <a:t>（</a:t>
            </a:r>
            <a:r>
              <a:rPr lang="en-US" altLang="zh-TW" dirty="0"/>
              <a:t>C</a:t>
            </a:r>
            <a:r>
              <a:rPr lang="zh-TW" altLang="en-US" dirty="0"/>
              <a:t>）</a:t>
            </a:r>
            <a:r>
              <a:rPr lang="en-US" altLang="zh-TW" dirty="0"/>
              <a:t>LFP</a:t>
            </a:r>
            <a:r>
              <a:rPr lang="zh-TW" altLang="en-US" dirty="0"/>
              <a:t>（點）和</a:t>
            </a:r>
            <a:r>
              <a:rPr lang="en-US" altLang="zh-TW" dirty="0"/>
              <a:t>LTO</a:t>
            </a:r>
            <a:r>
              <a:rPr lang="zh-TW" altLang="en-US" dirty="0"/>
              <a:t>（十字）電極的平均</a:t>
            </a:r>
            <a:r>
              <a:rPr lang="en-US" altLang="zh-TW" dirty="0"/>
              <a:t>SoC</a:t>
            </a:r>
            <a:r>
              <a:rPr lang="zh-TW" altLang="en-US" dirty="0"/>
              <a:t>隨時間的變化。</a:t>
            </a:r>
          </a:p>
        </p:txBody>
      </p:sp>
    </p:spTree>
    <p:extLst>
      <p:ext uri="{BB962C8B-B14F-4D97-AF65-F5344CB8AC3E}">
        <p14:creationId xmlns:p14="http://schemas.microsoft.com/office/powerpoint/2010/main" val="1485623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2A171-F8E8-08FE-FBEB-D452D7D9B53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C51124E-4ED0-DF67-9120-81E3E7FB2498}"/>
              </a:ext>
            </a:extLst>
          </p:cNvPr>
          <p:cNvSpPr>
            <a:spLocks noGrp="1"/>
          </p:cNvSpPr>
          <p:nvPr>
            <p:ph type="title"/>
          </p:nvPr>
        </p:nvSpPr>
        <p:spPr>
          <a:xfrm>
            <a:off x="1422400" y="475281"/>
            <a:ext cx="10464800" cy="685800"/>
          </a:xfrm>
        </p:spPr>
        <p:txBody>
          <a:bodyPr/>
          <a:lstStyle/>
          <a:p>
            <a:r>
              <a:rPr lang="en-US" altLang="zh-TW" dirty="0"/>
              <a:t>High-resolution transients </a:t>
            </a:r>
          </a:p>
        </p:txBody>
      </p:sp>
      <p:pic>
        <p:nvPicPr>
          <p:cNvPr id="9" name="圖片 8" descr="一張含有 文字, 螢幕擷取畫面, 行, 繪圖 的圖片&#10;&#10;AI 產生的內容可能不正確。">
            <a:extLst>
              <a:ext uri="{FF2B5EF4-FFF2-40B4-BE49-F238E27FC236}">
                <a16:creationId xmlns:a16="http://schemas.microsoft.com/office/drawing/2014/main" id="{3FE2601E-9549-D3EF-1C3D-0A8CEBCCF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6659" y="1397787"/>
            <a:ext cx="4258141" cy="5119249"/>
          </a:xfrm>
          <a:prstGeom prst="rect">
            <a:avLst/>
          </a:prstGeom>
        </p:spPr>
      </p:pic>
      <p:sp>
        <p:nvSpPr>
          <p:cNvPr id="10" name="文字方塊 9">
            <a:extLst>
              <a:ext uri="{FF2B5EF4-FFF2-40B4-BE49-F238E27FC236}">
                <a16:creationId xmlns:a16="http://schemas.microsoft.com/office/drawing/2014/main" id="{8426FF10-6720-F45C-70CA-663EEA8E0DC7}"/>
              </a:ext>
            </a:extLst>
          </p:cNvPr>
          <p:cNvSpPr txBox="1"/>
          <p:nvPr/>
        </p:nvSpPr>
        <p:spPr>
          <a:xfrm>
            <a:off x="7563173" y="1631791"/>
            <a:ext cx="2495226" cy="4524315"/>
          </a:xfrm>
          <a:prstGeom prst="rect">
            <a:avLst/>
          </a:prstGeom>
          <a:noFill/>
        </p:spPr>
        <p:txBody>
          <a:bodyPr wrap="square" rtlCol="0">
            <a:spAutoFit/>
          </a:bodyPr>
          <a:lstStyle/>
          <a:p>
            <a:r>
              <a:rPr lang="zh-TW" altLang="en-US" dirty="0"/>
              <a:t>圖 </a:t>
            </a:r>
            <a:r>
              <a:rPr lang="en-US" altLang="zh-TW" dirty="0"/>
              <a:t>5.</a:t>
            </a:r>
            <a:r>
              <a:rPr lang="zh-TW" altLang="en-US" dirty="0"/>
              <a:t>快速探測（</a:t>
            </a:r>
            <a:r>
              <a:rPr lang="en-US" altLang="zh-TW" dirty="0"/>
              <a:t>10 Hz</a:t>
            </a:r>
            <a:r>
              <a:rPr lang="zh-TW" altLang="en-US" dirty="0"/>
              <a:t>）測量</a:t>
            </a:r>
          </a:p>
          <a:p>
            <a:r>
              <a:rPr lang="zh-TW" altLang="en-US" dirty="0"/>
              <a:t>圖中顯示了集流體（紫色）附近區域的</a:t>
            </a:r>
            <a:r>
              <a:rPr lang="en-US" altLang="zh-TW" dirty="0"/>
              <a:t>Li </a:t>
            </a:r>
            <a:r>
              <a:rPr lang="en-US" altLang="zh-TW" baseline="30000" dirty="0"/>
              <a:t>+</a:t>
            </a:r>
            <a:r>
              <a:rPr lang="zh-TW" altLang="en-US" dirty="0"/>
              <a:t>溶液濃度（紅色）和活性物質荷電狀態（綠色）。底部插圖：施加的電位（黑色）、測得的體相電化學電流（藍色）以及根據荷電狀態變化確定的局部電流（綠色）。黑色虛線表示溶液相濃度最大值，顯示此時反應已過渡到固相動力學控制區域。</a:t>
            </a:r>
          </a:p>
          <a:p>
            <a:endParaRPr kumimoji="1" lang="zh-TW" altLang="en-US" dirty="0"/>
          </a:p>
        </p:txBody>
      </p:sp>
    </p:spTree>
    <p:extLst>
      <p:ext uri="{BB962C8B-B14F-4D97-AF65-F5344CB8AC3E}">
        <p14:creationId xmlns:p14="http://schemas.microsoft.com/office/powerpoint/2010/main" val="3065902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E8290F-C8E5-E90E-F8E8-455CDE631094}"/>
              </a:ext>
            </a:extLst>
          </p:cNvPr>
          <p:cNvSpPr>
            <a:spLocks noGrp="1"/>
          </p:cNvSpPr>
          <p:nvPr>
            <p:ph type="title"/>
          </p:nvPr>
        </p:nvSpPr>
        <p:spPr/>
        <p:txBody>
          <a:bodyPr/>
          <a:lstStyle/>
          <a:p>
            <a:endParaRPr kumimoji="1" lang="zh-TW" altLang="en-US"/>
          </a:p>
        </p:txBody>
      </p:sp>
      <p:sp>
        <p:nvSpPr>
          <p:cNvPr id="3" name="文字版面配置區 2">
            <a:extLst>
              <a:ext uri="{FF2B5EF4-FFF2-40B4-BE49-F238E27FC236}">
                <a16:creationId xmlns:a16="http://schemas.microsoft.com/office/drawing/2014/main" id="{74E1F528-97EB-CBF7-9539-5BB161C237A3}"/>
              </a:ext>
            </a:extLst>
          </p:cNvPr>
          <p:cNvSpPr>
            <a:spLocks noGrp="1"/>
          </p:cNvSpPr>
          <p:nvPr>
            <p:ph type="body" idx="1"/>
          </p:nvPr>
        </p:nvSpPr>
        <p:spPr/>
        <p:txBody>
          <a:bodyPr/>
          <a:lstStyle/>
          <a:p>
            <a:pPr algn="ctr"/>
            <a:r>
              <a:rPr kumimoji="1" lang="zh-TW" altLang="en-US" sz="6000" b="1" dirty="0"/>
              <a:t>結論</a:t>
            </a:r>
          </a:p>
        </p:txBody>
      </p:sp>
    </p:spTree>
    <p:extLst>
      <p:ext uri="{BB962C8B-B14F-4D97-AF65-F5344CB8AC3E}">
        <p14:creationId xmlns:p14="http://schemas.microsoft.com/office/powerpoint/2010/main" val="1278041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6F18FB-18CA-1F17-4357-1543CECF4935}"/>
              </a:ext>
            </a:extLst>
          </p:cNvPr>
          <p:cNvSpPr>
            <a:spLocks noGrp="1"/>
          </p:cNvSpPr>
          <p:nvPr>
            <p:ph type="title"/>
          </p:nvPr>
        </p:nvSpPr>
        <p:spPr/>
        <p:txBody>
          <a:bodyPr/>
          <a:lstStyle/>
          <a:p>
            <a:r>
              <a:rPr lang="zh-TW" altLang="en-US" dirty="0"/>
              <a:t>實驗發現</a:t>
            </a:r>
            <a:endParaRPr kumimoji="1" lang="zh-TW" altLang="en-US" dirty="0"/>
          </a:p>
        </p:txBody>
      </p:sp>
      <p:sp>
        <p:nvSpPr>
          <p:cNvPr id="6" name="Rectangle 2">
            <a:extLst>
              <a:ext uri="{FF2B5EF4-FFF2-40B4-BE49-F238E27FC236}">
                <a16:creationId xmlns:a16="http://schemas.microsoft.com/office/drawing/2014/main" id="{B9405780-BFAC-61C1-BF44-1B54D5437F45}"/>
              </a:ext>
            </a:extLst>
          </p:cNvPr>
          <p:cNvSpPr>
            <a:spLocks noGrp="1" noChangeArrowheads="1"/>
          </p:cNvSpPr>
          <p:nvPr>
            <p:ph idx="1"/>
          </p:nvPr>
        </p:nvSpPr>
        <p:spPr bwMode="auto">
          <a:xfrm>
            <a:off x="1422400" y="1879929"/>
            <a:ext cx="10769600" cy="38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eaLnBrk="0" hangingPunct="0">
              <a:lnSpc>
                <a:spcPct val="150000"/>
              </a:lnSpc>
              <a:spcBef>
                <a:spcPct val="0"/>
              </a:spcBef>
              <a:buClrTx/>
            </a:pPr>
            <a:r>
              <a:rPr kumimoji="0" lang="zh-TW" altLang="zh-TW" sz="2400" b="1" i="0" u="none" strike="noStrike" cap="none" normalizeH="0" baseline="0" dirty="0">
                <a:ln>
                  <a:noFill/>
                </a:ln>
                <a:solidFill>
                  <a:schemeClr val="tx1"/>
                </a:solidFill>
                <a:effectLst/>
                <a:latin typeface="Arial" panose="020B0604020202020204" pitchFamily="34" charset="0"/>
                <a:ea typeface="Google Sans Text"/>
              </a:rPr>
              <a:t>解耦物質傳輸瓶頸：</a:t>
            </a:r>
            <a:r>
              <a:rPr kumimoji="0" lang="zh-TW" altLang="zh-TW" sz="2400" b="0" i="0" u="none" strike="noStrike" cap="none" normalizeH="0" baseline="0" dirty="0">
                <a:ln>
                  <a:noFill/>
                </a:ln>
                <a:solidFill>
                  <a:schemeClr val="tx1"/>
                </a:solidFill>
                <a:effectLst/>
                <a:latin typeface="Arial" panose="020B0604020202020204" pitchFamily="34" charset="0"/>
                <a:ea typeface="Google Sans Text"/>
              </a:rPr>
              <a:t> 技術上解耦了固態活性物質和液態電解質中的鋰動態</a:t>
            </a:r>
          </a:p>
          <a:p>
            <a:pPr eaLnBrk="0" hangingPunct="0">
              <a:lnSpc>
                <a:spcPct val="150000"/>
              </a:lnSpc>
              <a:spcBef>
                <a:spcPct val="0"/>
              </a:spcBef>
              <a:buClrTx/>
            </a:pPr>
            <a:r>
              <a:rPr kumimoji="0" lang="zh-TW" altLang="zh-TW" sz="2400" b="1" i="0" u="none" strike="noStrike" cap="none" normalizeH="0" baseline="0" dirty="0">
                <a:ln>
                  <a:noFill/>
                </a:ln>
                <a:solidFill>
                  <a:schemeClr val="tx1"/>
                </a:solidFill>
                <a:effectLst/>
                <a:latin typeface="Arial" panose="020B0604020202020204" pitchFamily="34" charset="0"/>
                <a:ea typeface="Google Sans Text"/>
              </a:rPr>
              <a:t>辨識倍率限制源：</a:t>
            </a:r>
            <a:r>
              <a:rPr kumimoji="0" lang="zh-TW" altLang="zh-TW" sz="2400" b="0" i="0" u="none" strike="noStrike" cap="none" normalizeH="0" baseline="0" dirty="0">
                <a:ln>
                  <a:noFill/>
                </a:ln>
                <a:solidFill>
                  <a:schemeClr val="tx1"/>
                </a:solidFill>
                <a:effectLst/>
                <a:latin typeface="Arial" panose="020B0604020202020204" pitchFamily="34" charset="0"/>
                <a:ea typeface="Google Sans Text"/>
              </a:rPr>
              <a:t> 實驗結果證實，在高倍率（如快充）下，電解質中的 $Li+ 物質傳輸限制是導致大過電位、電極反應異質性以及活性物質利用率低的</a:t>
            </a:r>
            <a:r>
              <a:rPr kumimoji="0" lang="zh-TW" altLang="zh-TW" sz="2400" b="1" i="0" u="none" strike="noStrike" cap="none" normalizeH="0" baseline="0" dirty="0">
                <a:ln>
                  <a:noFill/>
                </a:ln>
                <a:solidFill>
                  <a:schemeClr val="tx1"/>
                </a:solidFill>
                <a:effectLst/>
                <a:latin typeface="Arial" panose="020B0604020202020204" pitchFamily="34" charset="0"/>
                <a:ea typeface="Google Sans Text"/>
              </a:rPr>
              <a:t>主要物理原因</a:t>
            </a:r>
            <a:r>
              <a:rPr kumimoji="0" lang="zh-TW" altLang="zh-TW" sz="2400" b="0" i="0" u="none" strike="noStrike" cap="none" normalizeH="0" baseline="0" dirty="0">
                <a:ln>
                  <a:noFill/>
                </a:ln>
                <a:solidFill>
                  <a:schemeClr val="tx1"/>
                </a:solidFill>
                <a:effectLst/>
                <a:latin typeface="Arial" panose="020B0604020202020204" pitchFamily="34" charset="0"/>
                <a:ea typeface="Google Sans Text"/>
              </a:rPr>
              <a:t>。</a:t>
            </a:r>
          </a:p>
          <a:p>
            <a:pPr eaLnBrk="0" hangingPunct="0">
              <a:lnSpc>
                <a:spcPct val="150000"/>
              </a:lnSpc>
              <a:spcBef>
                <a:spcPct val="0"/>
              </a:spcBef>
              <a:buClrTx/>
            </a:pPr>
            <a:r>
              <a:rPr kumimoji="0" lang="zh-TW" altLang="zh-TW" sz="2400" b="1" i="0" u="none" strike="noStrike" cap="none" normalizeH="0" baseline="0" dirty="0">
                <a:ln>
                  <a:noFill/>
                </a:ln>
                <a:solidFill>
                  <a:schemeClr val="tx1"/>
                </a:solidFill>
                <a:effectLst/>
                <a:latin typeface="Arial" panose="020B0604020202020204" pitchFamily="34" charset="0"/>
                <a:ea typeface="Google Sans Text"/>
              </a:rPr>
              <a:t>發現電極內部異質性：</a:t>
            </a:r>
            <a:r>
              <a:rPr kumimoji="0" lang="zh-TW" altLang="zh-TW" sz="2400" b="0" i="0" u="none" strike="noStrike" cap="none" normalizeH="0" baseline="0" dirty="0">
                <a:ln>
                  <a:noFill/>
                </a:ln>
                <a:solidFill>
                  <a:schemeClr val="tx1"/>
                </a:solidFill>
                <a:effectLst/>
                <a:latin typeface="Arial" panose="020B0604020202020204" pitchFamily="34" charset="0"/>
                <a:ea typeface="Google Sans Text"/>
              </a:rPr>
              <a:t> 高倍率下，LFP電極內部不同位置（靠近集流體或隔離膜）的反應速率存在顯著差異（異質性），且 LFP 電極比 LTO 電極更容易產生這種傳輸瓶頸，是容量限制的主要來源。</a:t>
            </a:r>
            <a:endParaRPr kumimoji="0" lang="zh-TW" altLang="zh-TW"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53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E63EC-F62B-9E8D-16DD-EFF39B4CA11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ED315CB-FC5D-64AF-8AF6-219242B4F262}"/>
              </a:ext>
            </a:extLst>
          </p:cNvPr>
          <p:cNvSpPr>
            <a:spLocks noGrp="1"/>
          </p:cNvSpPr>
          <p:nvPr>
            <p:ph type="title"/>
          </p:nvPr>
        </p:nvSpPr>
        <p:spPr/>
        <p:txBody>
          <a:bodyPr/>
          <a:lstStyle/>
          <a:p>
            <a:r>
              <a:rPr lang="zh-TW" altLang="en-US" dirty="0"/>
              <a:t>應用</a:t>
            </a:r>
            <a:endParaRPr kumimoji="1" lang="zh-TW" altLang="en-US" dirty="0"/>
          </a:p>
        </p:txBody>
      </p:sp>
      <p:sp>
        <p:nvSpPr>
          <p:cNvPr id="5" name="Rectangle 2">
            <a:extLst>
              <a:ext uri="{FF2B5EF4-FFF2-40B4-BE49-F238E27FC236}">
                <a16:creationId xmlns:a16="http://schemas.microsoft.com/office/drawing/2014/main" id="{D455BD82-BF7B-569A-6F80-9D582193E6D1}"/>
              </a:ext>
            </a:extLst>
          </p:cNvPr>
          <p:cNvSpPr>
            <a:spLocks noGrp="1" noChangeArrowheads="1"/>
          </p:cNvSpPr>
          <p:nvPr>
            <p:ph idx="1"/>
          </p:nvPr>
        </p:nvSpPr>
        <p:spPr bwMode="auto">
          <a:xfrm>
            <a:off x="1680028" y="1208852"/>
            <a:ext cx="10011229" cy="5010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50000"/>
              </a:lnSpc>
              <a:spcBef>
                <a:spcPct val="0"/>
              </a:spcBef>
              <a:buClrTx/>
            </a:pPr>
            <a:r>
              <a:rPr kumimoji="0" lang="zh-TW" altLang="zh-TW" sz="2400" b="1" i="0" u="none" strike="noStrike" cap="none" normalizeH="0" baseline="0" dirty="0">
                <a:ln>
                  <a:noFill/>
                </a:ln>
                <a:solidFill>
                  <a:schemeClr val="tx1"/>
                </a:solidFill>
                <a:effectLst/>
                <a:latin typeface="Arial" panose="020B0604020202020204" pitchFamily="34" charset="0"/>
              </a:rPr>
              <a:t>優化電池設計：</a:t>
            </a:r>
            <a:r>
              <a:rPr kumimoji="0" lang="zh-TW" altLang="zh-TW" sz="2400" b="0" i="0" u="none" strike="noStrike" cap="none" normalizeH="0" baseline="0" dirty="0">
                <a:ln>
                  <a:noFill/>
                </a:ln>
                <a:solidFill>
                  <a:schemeClr val="tx1"/>
                </a:solidFill>
                <a:effectLst/>
                <a:latin typeface="Arial" panose="020B0604020202020204" pitchFamily="34" charset="0"/>
              </a:rPr>
              <a:t> 可以精確評估新興的電極架構設計（如多孔結構、厚電極）對傳輸性能的真實影響。</a:t>
            </a:r>
          </a:p>
          <a:p>
            <a:pPr eaLnBrk="0" hangingPunct="0">
              <a:lnSpc>
                <a:spcPct val="150000"/>
              </a:lnSpc>
              <a:spcBef>
                <a:spcPct val="0"/>
              </a:spcBef>
              <a:buClrTx/>
            </a:pPr>
            <a:r>
              <a:rPr kumimoji="0" lang="zh-TW" altLang="zh-TW" sz="2400" b="1" i="0" u="none" strike="noStrike" cap="none" normalizeH="0" baseline="0" dirty="0">
                <a:ln>
                  <a:noFill/>
                </a:ln>
                <a:solidFill>
                  <a:schemeClr val="tx1"/>
                </a:solidFill>
                <a:effectLst/>
                <a:latin typeface="Arial" panose="020B0604020202020204" pitchFamily="34" charset="0"/>
              </a:rPr>
              <a:t>改進充放電算法：</a:t>
            </a:r>
            <a:r>
              <a:rPr kumimoji="0" lang="zh-TW" altLang="zh-TW" sz="2400" b="0" i="0" u="none" strike="noStrike" cap="none" normalizeH="0" baseline="0" dirty="0">
                <a:ln>
                  <a:noFill/>
                </a:ln>
                <a:solidFill>
                  <a:schemeClr val="tx1"/>
                </a:solidFill>
                <a:effectLst/>
                <a:latin typeface="Arial" panose="020B0604020202020204" pitchFamily="34" charset="0"/>
              </a:rPr>
              <a:t> 可用於評估和設計複雜的充電協議（如脈衝充電），以減緩傳輸瓶頸和老化現象。</a:t>
            </a:r>
          </a:p>
          <a:p>
            <a:pPr eaLnBrk="0" hangingPunct="0">
              <a:lnSpc>
                <a:spcPct val="150000"/>
              </a:lnSpc>
              <a:spcBef>
                <a:spcPct val="0"/>
              </a:spcBef>
              <a:buClrTx/>
            </a:pPr>
            <a:r>
              <a:rPr kumimoji="0" lang="zh-TW" altLang="zh-TW" sz="2400" b="1" i="0" u="none" strike="noStrike" cap="none" normalizeH="0" baseline="0" dirty="0">
                <a:ln>
                  <a:noFill/>
                </a:ln>
                <a:solidFill>
                  <a:schemeClr val="tx1"/>
                </a:solidFill>
                <a:effectLst/>
                <a:latin typeface="Arial" panose="020B0604020202020204" pitchFamily="34" charset="0"/>
              </a:rPr>
              <a:t>驗證與校正模型：</a:t>
            </a:r>
            <a:r>
              <a:rPr kumimoji="0" lang="zh-TW" altLang="zh-TW" sz="2400" b="0" i="0" u="none" strike="noStrike" cap="none" normalizeH="0" baseline="0" dirty="0">
                <a:ln>
                  <a:noFill/>
                </a:ln>
                <a:solidFill>
                  <a:schemeClr val="tx1"/>
                </a:solidFill>
                <a:effectLst/>
                <a:latin typeface="Arial" panose="020B0604020202020204" pitchFamily="34" charset="0"/>
              </a:rPr>
              <a:t> 為鋰離子電池的電化學模型（如 Pseudo-2D 模型）提供首個真實、具空間解析度的「固+液」鋰濃度驗證數據，這對於準確模擬快充行為至關重要</a:t>
            </a:r>
          </a:p>
          <a:p>
            <a:pPr eaLnBrk="0" hangingPunct="0">
              <a:lnSpc>
                <a:spcPct val="150000"/>
              </a:lnSpc>
              <a:spcBef>
                <a:spcPct val="0"/>
              </a:spcBef>
              <a:buClrTx/>
            </a:pPr>
            <a:r>
              <a:rPr kumimoji="0" lang="zh-TW" altLang="zh-TW" sz="2400" b="1" i="0" u="none" strike="noStrike" cap="none" normalizeH="0" baseline="0" dirty="0">
                <a:ln>
                  <a:noFill/>
                </a:ln>
                <a:solidFill>
                  <a:schemeClr val="tx1"/>
                </a:solidFill>
                <a:effectLst/>
                <a:latin typeface="Arial" panose="020B0604020202020204" pitchFamily="34" charset="0"/>
              </a:rPr>
              <a:t>追蹤電極老化：</a:t>
            </a:r>
            <a:r>
              <a:rPr kumimoji="0" lang="zh-TW" altLang="zh-TW" sz="2400" b="0" i="0" u="none" strike="noStrike" cap="none" normalizeH="0" baseline="0" dirty="0">
                <a:ln>
                  <a:noFill/>
                </a:ln>
                <a:solidFill>
                  <a:schemeClr val="tx1"/>
                </a:solidFill>
                <a:effectLst/>
                <a:latin typeface="Arial" panose="020B0604020202020204" pitchFamily="34" charset="0"/>
              </a:rPr>
              <a:t> LIME 具有定量追蹤電極老化和不可逆鋰損失（如鋰沉積、死鋰形成）的潛力</a:t>
            </a:r>
          </a:p>
        </p:txBody>
      </p:sp>
    </p:spTree>
    <p:extLst>
      <p:ext uri="{BB962C8B-B14F-4D97-AF65-F5344CB8AC3E}">
        <p14:creationId xmlns:p14="http://schemas.microsoft.com/office/powerpoint/2010/main" val="338019219"/>
      </p:ext>
    </p:extLst>
  </p:cSld>
  <p:clrMapOvr>
    <a:masterClrMapping/>
  </p:clrMapOvr>
</p:sld>
</file>

<file path=ppt/theme/theme1.xml><?xml version="1.0" encoding="utf-8"?>
<a:theme xmlns:a="http://schemas.openxmlformats.org/drawingml/2006/main" name="111">
  <a:themeElements>
    <a:clrScheme name="預設簡報設計 2">
      <a:dk1>
        <a:srgbClr val="000000"/>
      </a:dk1>
      <a:lt1>
        <a:srgbClr val="E9E2B6"/>
      </a:lt1>
      <a:dk2>
        <a:srgbClr val="996600"/>
      </a:dk2>
      <a:lt2>
        <a:srgbClr val="786950"/>
      </a:lt2>
      <a:accent1>
        <a:srgbClr val="727DE0"/>
      </a:accent1>
      <a:accent2>
        <a:srgbClr val="D54F41"/>
      </a:accent2>
      <a:accent3>
        <a:srgbClr val="F2EED7"/>
      </a:accent3>
      <a:accent4>
        <a:srgbClr val="000000"/>
      </a:accent4>
      <a:accent5>
        <a:srgbClr val="BCBFED"/>
      </a:accent5>
      <a:accent6>
        <a:srgbClr val="C1473A"/>
      </a:accent6>
      <a:hlink>
        <a:srgbClr val="003300"/>
      </a:hlink>
      <a:folHlink>
        <a:srgbClr val="339933"/>
      </a:folHlink>
    </a:clrScheme>
    <a:fontScheme name="預設簡報設計">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預設簡報設計 1">
        <a:dk1>
          <a:srgbClr val="000000"/>
        </a:dk1>
        <a:lt1>
          <a:srgbClr val="EAEAEA"/>
        </a:lt1>
        <a:dk2>
          <a:srgbClr val="819E81"/>
        </a:dk2>
        <a:lt2>
          <a:srgbClr val="FFCC66"/>
        </a:lt2>
        <a:accent1>
          <a:srgbClr val="727DE0"/>
        </a:accent1>
        <a:accent2>
          <a:srgbClr val="D54F41"/>
        </a:accent2>
        <a:accent3>
          <a:srgbClr val="C1CCC1"/>
        </a:accent3>
        <a:accent4>
          <a:srgbClr val="C8C8C8"/>
        </a:accent4>
        <a:accent5>
          <a:srgbClr val="BCBFED"/>
        </a:accent5>
        <a:accent6>
          <a:srgbClr val="C1473A"/>
        </a:accent6>
        <a:hlink>
          <a:srgbClr val="003300"/>
        </a:hlink>
        <a:folHlink>
          <a:srgbClr val="663300"/>
        </a:folHlink>
      </a:clrScheme>
      <a:clrMap bg1="dk2" tx1="lt1" bg2="dk1" tx2="lt2" accent1="accent1" accent2="accent2" accent3="accent3" accent4="accent4" accent5="accent5" accent6="accent6" hlink="hlink" folHlink="folHlink"/>
    </a:extraClrScheme>
    <a:extraClrScheme>
      <a:clrScheme name="預設簡報設計 2">
        <a:dk1>
          <a:srgbClr val="000000"/>
        </a:dk1>
        <a:lt1>
          <a:srgbClr val="E9E2B6"/>
        </a:lt1>
        <a:dk2>
          <a:srgbClr val="996600"/>
        </a:dk2>
        <a:lt2>
          <a:srgbClr val="786950"/>
        </a:lt2>
        <a:accent1>
          <a:srgbClr val="727DE0"/>
        </a:accent1>
        <a:accent2>
          <a:srgbClr val="D54F41"/>
        </a:accent2>
        <a:accent3>
          <a:srgbClr val="F2EED7"/>
        </a:accent3>
        <a:accent4>
          <a:srgbClr val="000000"/>
        </a:accent4>
        <a:accent5>
          <a:srgbClr val="BCBFED"/>
        </a:accent5>
        <a:accent6>
          <a:srgbClr val="C1473A"/>
        </a:accent6>
        <a:hlink>
          <a:srgbClr val="003300"/>
        </a:hlink>
        <a:folHlink>
          <a:srgbClr val="339933"/>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5F5F5F"/>
        </a:lt2>
        <a:accent1>
          <a:srgbClr val="CBCBCB"/>
        </a:accent1>
        <a:accent2>
          <a:srgbClr val="808080"/>
        </a:accent2>
        <a:accent3>
          <a:srgbClr val="FFFFFF"/>
        </a:accent3>
        <a:accent4>
          <a:srgbClr val="000000"/>
        </a:accent4>
        <a:accent5>
          <a:srgbClr val="E2E2E2"/>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EAEAEA"/>
        </a:lt1>
        <a:dk2>
          <a:srgbClr val="BC6262"/>
        </a:dk2>
        <a:lt2>
          <a:srgbClr val="FFCC66"/>
        </a:lt2>
        <a:accent1>
          <a:srgbClr val="727DE0"/>
        </a:accent1>
        <a:accent2>
          <a:srgbClr val="D54F41"/>
        </a:accent2>
        <a:accent3>
          <a:srgbClr val="DAB7B7"/>
        </a:accent3>
        <a:accent4>
          <a:srgbClr val="C8C8C8"/>
        </a:accent4>
        <a:accent5>
          <a:srgbClr val="BCBFED"/>
        </a:accent5>
        <a:accent6>
          <a:srgbClr val="C1473A"/>
        </a:accent6>
        <a:hlink>
          <a:srgbClr val="000066"/>
        </a:hlink>
        <a:folHlink>
          <a:srgbClr val="FFFF99"/>
        </a:folHlink>
      </a:clrScheme>
      <a:clrMap bg1="dk2" tx1="lt1" bg2="dk1" tx2="lt2" accent1="accent1" accent2="accent2" accent3="accent3" accent4="accent4" accent5="accent5" accent6="accent6" hlink="hlink" folHlink="folHlink"/>
    </a:extraClrScheme>
    <a:extraClrScheme>
      <a:clrScheme name="預設簡報設計 5">
        <a:dk1>
          <a:srgbClr val="000000"/>
        </a:dk1>
        <a:lt1>
          <a:srgbClr val="EAEAEA"/>
        </a:lt1>
        <a:dk2>
          <a:srgbClr val="5C74A4"/>
        </a:dk2>
        <a:lt2>
          <a:srgbClr val="FFCC99"/>
        </a:lt2>
        <a:accent1>
          <a:srgbClr val="727DE0"/>
        </a:accent1>
        <a:accent2>
          <a:srgbClr val="D54F41"/>
        </a:accent2>
        <a:accent3>
          <a:srgbClr val="B5BCCF"/>
        </a:accent3>
        <a:accent4>
          <a:srgbClr val="C8C8C8"/>
        </a:accent4>
        <a:accent5>
          <a:srgbClr val="BCBFED"/>
        </a:accent5>
        <a:accent6>
          <a:srgbClr val="C1473A"/>
        </a:accent6>
        <a:hlink>
          <a:srgbClr val="FFFFCC"/>
        </a:hlink>
        <a:folHlink>
          <a:srgbClr val="CC9900"/>
        </a:folHlink>
      </a:clrScheme>
      <a:clrMap bg1="dk2" tx1="lt1" bg2="dk1" tx2="lt2" accent1="accent1" accent2="accent2" accent3="accent3" accent4="accent4" accent5="accent5" accent6="accent6" hlink="hlink" folHlink="folHlink"/>
    </a:extraClrScheme>
    <a:extraClrScheme>
      <a:clrScheme name="預設簡報設計 6">
        <a:dk1>
          <a:srgbClr val="000000"/>
        </a:dk1>
        <a:lt1>
          <a:srgbClr val="EAEAEA"/>
        </a:lt1>
        <a:dk2>
          <a:srgbClr val="996600"/>
        </a:dk2>
        <a:lt2>
          <a:srgbClr val="FFCC99"/>
        </a:lt2>
        <a:accent1>
          <a:srgbClr val="727DE0"/>
        </a:accent1>
        <a:accent2>
          <a:srgbClr val="D54F41"/>
        </a:accent2>
        <a:accent3>
          <a:srgbClr val="CAB8AA"/>
        </a:accent3>
        <a:accent4>
          <a:srgbClr val="C8C8C8"/>
        </a:accent4>
        <a:accent5>
          <a:srgbClr val="BCBFED"/>
        </a:accent5>
        <a:accent6>
          <a:srgbClr val="C1473A"/>
        </a:accent6>
        <a:hlink>
          <a:srgbClr val="99CCFF"/>
        </a:hlink>
        <a:folHlink>
          <a:srgbClr val="FFFF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111" id="{99500A11-57A1-4F53-81A1-3BA4861B43E2}" vid="{B13E6C7A-279A-4B35-998D-EA7369ED9978}"/>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